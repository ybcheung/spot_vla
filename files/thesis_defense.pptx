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My thesis asks a very practical question in robot learning: when fine-tuning a vision-language-action model, when do we stop? The honest answer today is 'after a fixed number of steps' — and I'll show why that's wrong, and what cheap offline signal we can use instead. [~40s] Target: finish by slide 17 in 20 minutes, leaving time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VLAs are the robot version of foundation models. In practice we don't train from scratch — we fine-tune with LoRA. The problem: everyone trains for a fixed number of steps, with no principled stopping criterion. The optimum isn't fixed — it depends on data size, LR, batch size. The tension on the right frames the whole thesis: online success is the truth but too expensive to measure every checkpoint; training loss is cheap but a bad proxy. We want something in between. [~1:15]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structural reasons loss fails. One: it's teacher-forced and per-step — never a rollout, so blind to compounding error. Two: empirically it correlates weakly with success in BC. Three: it's an average, so it can't tell a lagged-but-smooth motion from a jittery one. The consequence, bottom, is that stopping on loss forgoes real success — I quantify that as selection regret. [~1:10]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idea: chunking VLAs output a sequence, so we can compare trajectory segments, not steps. Four candidate metrics. DTW aligns in time — forgives pace. OT matches waypoint distributions, a true metric. Cosine is cheap directional agreement, magnitude-blind, so only ever a companion. NLL is the probabilistic one, but the surrogate is architecture-dependent — remember that, it comes back in the results. L1/L2 are the baseline the geometric metrics must beat. [~1:20]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method is three steps applied identically to every checkpoint. One: score each checkpoint with the metric on held-out data. Two: the early-stopping rule turns that curve into a single choice — the earliest checkpoint within 1% of the best value, so we don't chase one noisy minimum. Three: judge each metric against true success by two numbers — Spearman rho for ranking and regret for the success we gave up. High rho, low regret is a good metric. [~1:10]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organised the study as four research questions, each a precondition for the next. RQ1: do the metrics carry any task information at all — a sanity check before anything else. RQ2, the heart: do they predict success, across architectures and data sizes. RQ3: do they still work in the hard converged regime, and can they catch overtraining. RQ4: with tiny evaluation budgets, which differences are statistically real. I'll answer them in order. [~1:00]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Setup. Three architectures spanning both paradigms: OpenVLA is discrete-token — importantly its NLL is a real likelihood. SmolVLA and pi-0.5 are flow-matching. Five runs cross architecture with data size, plus a deliberate pi-0.5 overtraining stress run. Benchmark is LIBERO-Goal, chosen because varying only the instruction gives the most action diversity. Truth is 100-episode success, but sparse and noisy — that sparsity drives RQ4. The dagger note: the two pi-0.5 rows use different horizons, so compare rankings within a row, not absolute levels. [~1:20]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RQ1, the sanity check. Can a metric tell two demos of the same task from different tasks, on ground truth alone? On a single 50-step chunk, barely — AUROC 0.65-0.69, because all LIBERO tasks reach, grasp, transport. But aggregate a whole trajectory phase-aligned, and every metric jumps above 0.90. Crucially it's the phase alignment, not just averaging away noise — DTW's within-task distance collapses while across-task barely moves. All five pass. This is why I use the trajectory-level estimator everywhere after. [~1:10]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RQ2, the headline. Left: Spearman rho of every metric with success, per run. Right: the success curves. The trajectory metrics — DTW, OT, cosine — and the L1/L2 baselines are positive in every single run, across discrete-token and flow-matching, across 150 and full data. DTW specifically: 0.47 to 0.90, never negative, regret never above 0.17 — the most consistent default. The one family that behaves differently is likelihood — hold that thought for RQ4. [~1:05]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Zooming in per run. Two things to see. First, the trajectory and regression metrics are interchangeable — on OpenVLA-full, DTW and L2 literally select the same checkpoint, 21499, same rho, zero regret. So this is a family of comparable choices, not a strict winner. Second, look at the highlighted NLL/FM row: strong on the blue discrete-token table, but collapses to 0.46 and even negative on the flow-matching tables. That architecture split is the RQ4 story. [~1:15]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RQ3: is it actually usable for stopping? Split each run at the knee — where DTW has done 90% of its descent — and recompute rho before vs after. Full-range rho is 0.8-0.9 everywhere, so the coarse decision 'don't stop before the knee' is rock-solid. Inside the plateau it weakens but stays usable, 0.59+, for four of five. The exception, pi-0.5-150 in red, looked like overtraining — success fell 31 to 23% — but extending training recovered it to 38%. So it was restriction of range on a noisy low ceiling, not a real decline. [~1:15]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point of intellectual honesty. Three runs were built to force overtraining — tiny data, and for pi-0.5-150 an aggressive 6x learning rate held near peak for 40k steps. It still didn't overtrain: everything settled into a noisy plateau. So I can show the metrics track the rise and plateau, but I cannot show them catching a genuine late decline, because I never produced one. That's a real limitation and I'll return to it. [~1:00]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RQ4 keeps me honest about what the numbers support. Point estimates come from as few as 11 evaluations, so I bootstrap a 95% CI on every rho and on paired differences. What survives, left: the architecture split of NLL is real, and the well-powered pi-0.5-full resolves fine structure. What doesn't, right: DTW is not statistically separable from L1, L2, OT or cosine — they're one family. And underpowered SmolVLA-150 can't clear zero at all. The binding constraint is usually statistical power, not the choice of metric. [~1:10]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So, the four answers. RQ1 yes, cleanly. RQ2 yes — the core positive result, architecture-general. RQ3 a qualified yes: excellent for the coarse decision, but I couldn't test the overtraining case. RQ4 qualified: the one hard, significant claim is the NLL architecture split; the rest is a family of comparable metrics limited by evaluation budget. Two green, two amber — I think that's an honest scorecard. [~1:00]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take four things away as a practitioner. One: use a trajectory metric — DTW is the safe default. Two: trust the coarse call, don't stop before the knee, but don't over-trust fine ranking on the plateau. Three: match the surrogate to the architecture — token NLL for discrete, a trajectory metric for flow-matching. Four: with tiny rollout budgets, report confidence intervals, because most single-metric orderings are noise. [~1:00]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limitations, stated plainly. One: everything here is open-loop, teacher-forced chunks — a world-model rollout would test compounding error directly. Two, the big one: no run overtrained, so I can't claim early stopping prevents degradation, only that it tracks the plateau. Three: success was measured sparsely and, for pi-0.5, at mismatched horizons — denser matched evaluation would finally separate DTW from L1/L2. None of these breaks the main result; they mark where the next study starts. [~1:05]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conclude: a single offline trajectory metric, computed once per checkpoint, is a practical, architecture-agnostic answer to when to stop fine-tuning a VLA. Validated across three architectures and five runs, with DTW as the safe default — and honest about what's still open: the overtraining case and true closed-loop rollout. Thank you, I'm happy to take questions. [Total ~19 min, leaving buffer.] Backup slides / thesis tables ready for detail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53712"/>
            <a:ext cx="12191695" cy="2794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400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8A8A8A"/>
                </a:solidFill>
                <a:latin typeface="Calibri"/>
              </a:rPr>
              <a:t>MASTER'S THESIS DEFENCE  ·  AALTO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698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1A1A1A"/>
                </a:solidFill>
                <a:latin typeface="Calibri"/>
              </a:rPr>
              <a:t>Offline Trajectory Metrics for Early Stopping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1A1A1A"/>
                </a:solidFill>
                <a:latin typeface="Calibri"/>
              </a:rPr>
              <a:t>in Vision-Language-Action Model Fine-Tuning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555555"/>
                </a:solidFill>
                <a:latin typeface="Calibri"/>
              </a:rPr>
              <a:t>When should you stop fine-tuning a robot policy — </a:t>
            </a:r>
            <a:r>
              <a:rPr sz="1800" b="1" i="0">
                <a:solidFill>
                  <a:srgbClr val="006FB9"/>
                </a:solidFill>
                <a:latin typeface="Calibri"/>
              </a:rPr>
              <a:t>without running 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8006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1" i="0">
                <a:solidFill>
                  <a:srgbClr val="1A1A1A"/>
                </a:solidFill>
                <a:latin typeface="Calibri"/>
              </a:rPr>
              <a:t>Yibo Zhang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555555"/>
                </a:solidFill>
                <a:latin typeface="Calibri"/>
              </a:rPr>
              <a:t>Supervisor:  Prof. Joni Pajarinen        Advisor:  Dr. Wenyan Yang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</a:rPr>
              <a:t>Department of Electrical Engineering and Automation  ·  Aalto Robot Learning Lab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8A8A8A"/>
                </a:solidFill>
                <a:latin typeface="Calibri"/>
              </a:rPr>
              <a:t>Espoo, 21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A8A8A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Calibri"/>
              </a:rPr>
              <a:t>Fine-tuning a VLA: powerful, but when do we stop?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2794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A8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Yibo Zhang · Offline Trajectory Metrics for Early Stopping in VLA Fine-Tuning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56235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</a:pPr>
            <a:r>
              <a:rPr sz="1650" b="1">
                <a:solidFill>
                  <a:srgbClr val="FFD100"/>
                </a:solidFill>
                <a:latin typeface="Calibri"/>
              </a:rPr>
              <a:t>— </a:t>
            </a:r>
            <a:r>
              <a:rPr sz="1650" b="1">
                <a:solidFill>
                  <a:srgbClr val="1A1A1A"/>
                </a:solidFill>
                <a:latin typeface="Calibri"/>
              </a:rPr>
              <a:t>VLAs are the foundation-model recipe for robots. </a:t>
            </a:r>
            <a:r>
              <a:rPr sz="1650" b="0">
                <a:solidFill>
                  <a:srgbClr val="1A1A1A"/>
                </a:solidFill>
                <a:latin typeface="Calibri"/>
              </a:rPr>
              <a:t>One model maps camera + language instruction to robot actions.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</a:pPr>
            <a:r>
              <a:rPr sz="1650" b="1">
                <a:solidFill>
                  <a:srgbClr val="FFD100"/>
                </a:solidFill>
                <a:latin typeface="Calibri"/>
              </a:rPr>
              <a:t>— </a:t>
            </a:r>
            <a:r>
              <a:rPr sz="1650" b="1">
                <a:solidFill>
                  <a:srgbClr val="1A1A1A"/>
                </a:solidFill>
                <a:latin typeface="Calibri"/>
              </a:rPr>
              <a:t>Deployment means fine-tuning. </a:t>
            </a:r>
            <a:r>
              <a:rPr sz="1650" b="0">
                <a:solidFill>
                  <a:srgbClr val="1A1A1A"/>
                </a:solidFill>
                <a:latin typeface="Calibri"/>
              </a:rPr>
              <a:t>A pretrained VLA is adapted with LoRA to a new task, robot, or scene.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</a:pPr>
            <a:r>
              <a:rPr sz="1650" b="1">
                <a:solidFill>
                  <a:srgbClr val="FFD100"/>
                </a:solidFill>
                <a:latin typeface="Calibri"/>
              </a:rPr>
              <a:t>— </a:t>
            </a:r>
            <a:r>
              <a:rPr sz="1650" b="1">
                <a:solidFill>
                  <a:srgbClr val="1A1A1A"/>
                </a:solidFill>
                <a:latin typeface="Calibri"/>
              </a:rPr>
              <a:t>Training is stopped by a fixed budget. </a:t>
            </a:r>
            <a:r>
              <a:rPr sz="1650" b="0">
                <a:solidFill>
                  <a:srgbClr val="1A1A1A"/>
                </a:solidFill>
                <a:latin typeface="Calibri"/>
              </a:rPr>
              <a:t>State-of-the-art VLAs train for a preset number of steps — no validation-based stopping rule.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</a:pPr>
            <a:r>
              <a:rPr sz="1650" b="1">
                <a:solidFill>
                  <a:srgbClr val="FFD100"/>
                </a:solidFill>
                <a:latin typeface="Calibri"/>
              </a:rPr>
              <a:t>— </a:t>
            </a:r>
            <a:r>
              <a:rPr sz="1650" b="1">
                <a:solidFill>
                  <a:srgbClr val="1A1A1A"/>
                </a:solidFill>
                <a:latin typeface="Calibri"/>
              </a:rPr>
              <a:t>But the optimum is not fixed. </a:t>
            </a:r>
            <a:r>
              <a:rPr sz="1650" b="0">
                <a:solidFill>
                  <a:srgbClr val="1A1A1A"/>
                </a:solidFill>
                <a:latin typeface="Calibri"/>
              </a:rPr>
              <a:t>It shifts with dataset size, learning rate, and batch size: too long overfits, too short underfits.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554480"/>
            <a:ext cx="4800600" cy="356616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720840" y="1554480"/>
            <a:ext cx="91440" cy="356616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178308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Calibri"/>
              </a:rPr>
              <a:t>The core tension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331720"/>
            <a:ext cx="43434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FFD100"/>
                </a:solidFill>
                <a:latin typeface="Calibri"/>
              </a:rPr>
              <a:t>— </a:t>
            </a:r>
            <a:r>
              <a:rPr sz="1500" b="1">
                <a:solidFill>
                  <a:srgbClr val="555555"/>
                </a:solidFill>
                <a:latin typeface="Calibri"/>
              </a:rPr>
              <a:t>Online success = truth, </a:t>
            </a:r>
            <a:r>
              <a:rPr sz="1500" b="0">
                <a:solidFill>
                  <a:srgbClr val="555555"/>
                </a:solidFill>
                <a:latin typeface="Calibri"/>
              </a:rPr>
              <a:t>but a rollout per checkpoint is slow, high-variance, and can damage hardware.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FFD100"/>
                </a:solidFill>
                <a:latin typeface="Calibri"/>
              </a:rPr>
              <a:t>— </a:t>
            </a:r>
            <a:r>
              <a:rPr sz="1500" b="1">
                <a:solidFill>
                  <a:srgbClr val="555555"/>
                </a:solidFill>
                <a:latin typeface="Calibri"/>
              </a:rPr>
              <a:t>Training loss = cheap, </a:t>
            </a:r>
            <a:r>
              <a:rPr sz="1500" b="0">
                <a:solidFill>
                  <a:srgbClr val="555555"/>
                </a:solidFill>
                <a:latin typeface="Calibri"/>
              </a:rPr>
              <a:t>but a poor proxy for closed-loop task success.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FFD100"/>
                </a:solidFill>
                <a:latin typeface="Calibri"/>
              </a:rPr>
              <a:t>— </a:t>
            </a:r>
            <a:r>
              <a:rPr sz="1500" b="1">
                <a:solidFill>
                  <a:srgbClr val="555555"/>
                </a:solidFill>
                <a:latin typeface="Calibri"/>
              </a:rPr>
              <a:t>We need a middle ground: </a:t>
            </a:r>
            <a:r>
              <a:rPr sz="1500" b="0">
                <a:solidFill>
                  <a:srgbClr val="555555"/>
                </a:solidFill>
                <a:latin typeface="Calibri"/>
              </a:rPr>
              <a:t>an offline signal, computed every checkpoint, that predicts success.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A8A8A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Calibri"/>
              </a:rPr>
              <a:t>Why training loss is the wrong stopping signal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2794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A8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Yibo Zhang · Offline Trajectory Metrics for Early Stopping in VLA Fine-Tuning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3529584" cy="338328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00200"/>
            <a:ext cx="3529584" cy="128016"/>
          </a:xfrm>
          <a:prstGeom prst="rect">
            <a:avLst/>
          </a:prstGeom>
          <a:solidFill>
            <a:srgbClr val="006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20240"/>
            <a:ext cx="30723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06FB9"/>
                </a:solidFill>
                <a:latin typeface="Calibri"/>
              </a:rPr>
              <a:t>Teacher-forced, per-step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34640"/>
            <a:ext cx="3072384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55"/>
                </a:solidFill>
                <a:latin typeface="Calibri"/>
              </a:rPr>
              <a:t>Loss is computed on ground-truth context, one timestep at a time. It never sees a rolled-out trajectory, so it is blind to compounding error.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35424" y="1600200"/>
            <a:ext cx="3529584" cy="338328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35424" y="1600200"/>
            <a:ext cx="3529584" cy="128016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4024" y="1920240"/>
            <a:ext cx="30723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02A2A"/>
                </a:solidFill>
                <a:latin typeface="Calibri"/>
              </a:rPr>
              <a:t>Not aligned with success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4024" y="2834640"/>
            <a:ext cx="3072384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55"/>
                </a:solidFill>
                <a:latin typeface="Calibri"/>
              </a:rPr>
              <a:t>In behaviour cloning, validation loss correlates only weakly with closed-loop success. The loss-minimising checkpoint is not the success-maximising 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39328" y="1600200"/>
            <a:ext cx="3529584" cy="338328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39328" y="1600200"/>
            <a:ext cx="3529584" cy="128016"/>
          </a:xfrm>
          <a:prstGeom prst="rect">
            <a:avLst/>
          </a:prstGeom>
          <a:solidFill>
            <a:srgbClr val="1B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67928" y="1920240"/>
            <a:ext cx="307238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8A4A"/>
                </a:solidFill>
                <a:latin typeface="Calibri"/>
              </a:rPr>
              <a:t>Averaging hides 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7928" y="2834640"/>
            <a:ext cx="3072384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55"/>
                </a:solidFill>
                <a:latin typeface="Calibri"/>
              </a:rPr>
              <a:t>A scalar mean of per-step errors cannot separate a smooth-but-lagged motion from a jittery-but-timed one — errors of shape vs. phase.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4924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libri"/>
              </a:rPr>
              <a:t>Consequence  </a:t>
            </a:r>
            <a:r>
              <a:rPr sz="1600" b="0" i="0">
                <a:solidFill>
                  <a:srgbClr val="555555"/>
                </a:solidFill>
                <a:latin typeface="Calibri"/>
              </a:rPr>
              <a:t>— early stopping on loss can pick a checkpoint that is worse in the only sense that matters at deployment. This thesis measures that cost directly as </a:t>
            </a:r>
            <a:r>
              <a:rPr sz="1600" b="1" i="0">
                <a:solidFill>
                  <a:srgbClr val="006FB9"/>
                </a:solidFill>
                <a:latin typeface="Calibri"/>
              </a:rPr>
              <a:t>selection regret.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A8A8A"/>
                </a:solidFill>
                <a:latin typeface="Calibri"/>
              </a:rPr>
              <a:t>PROPOSED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Calibri"/>
              </a:rPr>
              <a:t>Compare whole trajectories, not single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2794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A8A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Yibo Zhang · Offline Trajectory Metrics for Early Stopping in VLA Fine-Tuning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Chunking VLAs predict a short </a:t>
            </a:r>
            <a:r>
              <a:rPr sz="1700" b="1" i="0">
                <a:solidFill>
                  <a:srgbClr val="006FB9"/>
                </a:solidFill>
                <a:latin typeface="Calibri"/>
              </a:rPr>
              <a:t>sequence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of future actions. That makes the unit of comparison a </a:t>
            </a:r>
            <a:r>
              <a:rPr sz="1700" b="1" i="0">
                <a:solidFill>
                  <a:srgbClr val="006FB9"/>
                </a:solidFill>
                <a:latin typeface="Calibri"/>
              </a:rPr>
              <a:t>trajectory segment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 — so geometric, sequence-level similarity to the expert becomes measurable.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23160"/>
            <a:ext cx="2615184" cy="269748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423160"/>
            <a:ext cx="2615184" cy="566928"/>
          </a:xfrm>
          <a:prstGeom prst="rect">
            <a:avLst/>
          </a:prstGeom>
          <a:solidFill>
            <a:srgbClr val="006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05456"/>
            <a:ext cx="26151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DTW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36392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Dynamic Time Warping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11880"/>
            <a:ext cx="224942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Calibri"/>
              </a:rPr>
              <a:t>Aligns two sequences in time. Tolerant of pace / phase lag — forgives a correct shape run slightly fast or slow.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2423160"/>
            <a:ext cx="2615184" cy="269748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20440" y="2423160"/>
            <a:ext cx="2615184" cy="566928"/>
          </a:xfrm>
          <a:prstGeom prst="rect">
            <a:avLst/>
          </a:prstGeom>
          <a:solidFill>
            <a:srgbClr val="1B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505456"/>
            <a:ext cx="26151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136392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Optimal Transport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611880"/>
            <a:ext cx="224942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Calibri"/>
              </a:rPr>
              <a:t>Matches sequences as distributions of waypoints (entropic Sinkhorn). Geometry-aware and a true metric.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423160"/>
            <a:ext cx="2615184" cy="269748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423160"/>
            <a:ext cx="2615184" cy="566928"/>
          </a:xfrm>
          <a:prstGeom prst="rect">
            <a:avLst/>
          </a:prstGeom>
          <a:solidFill>
            <a:srgbClr val="8A6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505456"/>
            <a:ext cx="26151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COS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136392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Cosine distance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611880"/>
            <a:ext cx="224942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Calibri"/>
              </a:rPr>
              <a:t>Per-step direction agreement, magnitude-blind. Cheap; used alongside, never alone.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2423160"/>
            <a:ext cx="2615184" cy="269748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98280" y="2423160"/>
            <a:ext cx="2615184" cy="566928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8280" y="2505456"/>
            <a:ext cx="26151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NLL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136392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A1A1A"/>
                </a:solidFill>
                <a:latin typeface="Calibri"/>
              </a:rPr>
              <a:t>Likelihood surrogate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3611880"/>
            <a:ext cx="224942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Calibri"/>
              </a:rPr>
              <a:t>Token NLL for discrete policies; the flow-matching / L1–L2 loss stands in for continuous ones.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440680"/>
            <a:ext cx="10789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55"/>
                </a:solidFill>
                <a:latin typeface="Calibri"/>
              </a:rPr>
              <a:t>All metrics normalised per action dimension,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lower = better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. L1 / L2 per-step distances serve as the baseline the geometric metrics must beat.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A8A8A"/>
                </a:solidFill>
                <a:latin typeface="Calibri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Calibri"/>
              </a:rPr>
              <a:t>The pipeline: score → select → judge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2794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A8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Yibo Zhang · Offline Trajectory Metrics for Early Stopping in VLA Fine-Tuning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10698480" cy="1170432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54480"/>
            <a:ext cx="1170432" cy="1170432"/>
          </a:xfrm>
          <a:prstGeom prst="rect">
            <a:avLst/>
          </a:prstGeom>
          <a:solidFill>
            <a:srgbClr val="006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1170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1737360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1A1A"/>
                </a:solidFill>
                <a:latin typeface="Calibri"/>
              </a:rPr>
              <a:t>Score every checkpoint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176272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55"/>
                </a:solidFill>
                <a:latin typeface="Calibri"/>
              </a:rPr>
              <a:t>On held-out expert data, compute the trajectory metric  m̄(k)  for each saved checkpoint.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980944"/>
            <a:ext cx="10698480" cy="1170432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980944"/>
            <a:ext cx="1170432" cy="1170432"/>
          </a:xfrm>
          <a:prstGeom prst="rect">
            <a:avLst/>
          </a:prstGeom>
          <a:solidFill>
            <a:srgbClr val="1B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55264"/>
            <a:ext cx="1170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163824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1A1A"/>
                </a:solidFill>
                <a:latin typeface="Calibri"/>
              </a:rPr>
              <a:t>Select one checkpoint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602736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55"/>
                </a:solidFill>
                <a:latin typeface="Calibri"/>
              </a:rPr>
              <a:t>Early-stopping rule: earliest checkpoint within 1% of the metric's best value  →  k*_m.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407408"/>
            <a:ext cx="10698480" cy="1170432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407408"/>
            <a:ext cx="1170432" cy="1170432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681728"/>
            <a:ext cx="11704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590288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1A1A"/>
                </a:solidFill>
                <a:latin typeface="Calibri"/>
              </a:rPr>
              <a:t>Judge the metric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029200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55"/>
                </a:solidFill>
                <a:latin typeface="Calibri"/>
              </a:rPr>
              <a:t>Against true success Q(k):  Spearman ρ (ranking) and selection regret (success forgone).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0644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Selection rule:   </a:t>
            </a:r>
            <a:r>
              <a:rPr sz="1500" b="0" i="1">
                <a:solidFill>
                  <a:srgbClr val="006FB9"/>
                </a:solidFill>
                <a:latin typeface="Calibri"/>
              </a:rPr>
              <a:t>k*_m = min { k : m̄(k) ≤ min m̄ + η },   η = 0.01 · |m̄(0) − min m̄|</a:t>
            </a:r>
            <a:r>
              <a:rPr sz="1500" b="0" i="1">
                <a:solidFill>
                  <a:srgbClr val="555555"/>
                </a:solidFill>
                <a:latin typeface="Calibri"/>
              </a:rPr>
              <a:t>      Regret(m) = max_k Q(k) − Q(k*_m)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A8A8A"/>
                </a:solidFill>
                <a:latin typeface="Calibri"/>
              </a:rPr>
              <a:t>RESEARCH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Calibri"/>
              </a:rPr>
              <a:t>Four questions, each a check on the last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2794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A8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Yibo Zhang · Offline Trajectory Metrics for Early Stopping in VLA Fine-Tuning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5257800" cy="196596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109728" cy="1965960"/>
          </a:xfrm>
          <a:prstGeom prst="rect">
            <a:avLst/>
          </a:prstGeom>
          <a:solidFill>
            <a:srgbClr val="006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709928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6FB9"/>
                </a:solidFill>
                <a:latin typeface="Calibri"/>
              </a:rPr>
              <a:t>RQ1   </a:t>
            </a:r>
            <a:r>
              <a:rPr sz="1650" b="1" i="0">
                <a:solidFill>
                  <a:srgbClr val="1A1A1A"/>
                </a:solidFill>
                <a:latin typeface="Calibri"/>
              </a:rPr>
              <a:t>Do the metrics carry any information at all?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295144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555555"/>
                </a:solidFill>
                <a:latin typeface="Calibri"/>
              </a:rPr>
              <a:t>Model-independent precondition: can a metric tell same-task from different-task expert trajectories? If not, it is disqualified.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508760"/>
            <a:ext cx="5257800" cy="196596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508760"/>
            <a:ext cx="109728" cy="1965960"/>
          </a:xfrm>
          <a:prstGeom prst="rect">
            <a:avLst/>
          </a:prstGeom>
          <a:solidFill>
            <a:srgbClr val="1B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709928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B8A4A"/>
                </a:solidFill>
                <a:latin typeface="Calibri"/>
              </a:rPr>
              <a:t>RQ2   </a:t>
            </a:r>
            <a:r>
              <a:rPr sz="1650" b="1" i="0">
                <a:solidFill>
                  <a:srgbClr val="1A1A1A"/>
                </a:solidFill>
                <a:latin typeface="Calibri"/>
              </a:rPr>
              <a:t>Do they correlate with closed-loop success?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2295144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555555"/>
                </a:solidFill>
                <a:latin typeface="Calibri"/>
              </a:rPr>
              <a:t>The central question — across 3 architectures and 2 data sizes, does the offline signal predict online success Q(k)?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730752"/>
            <a:ext cx="5257800" cy="196596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730752"/>
            <a:ext cx="109728" cy="196596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93192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02A2A"/>
                </a:solidFill>
                <a:latin typeface="Calibri"/>
              </a:rPr>
              <a:t>RQ3   </a:t>
            </a:r>
            <a:r>
              <a:rPr sz="1650" b="1" i="0">
                <a:solidFill>
                  <a:srgbClr val="1A1A1A"/>
                </a:solidFill>
                <a:latin typeface="Calibri"/>
              </a:rPr>
              <a:t>Is metric-based early stopping effective?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517136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555555"/>
                </a:solidFill>
                <a:latin typeface="Calibri"/>
              </a:rPr>
              <a:t>Does the signal survive the hard, converged plateau — and can it catch genuine overtraining when it happens?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730752"/>
            <a:ext cx="5257800" cy="196596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730752"/>
            <a:ext cx="109728" cy="1965960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393192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A3D9A"/>
                </a:solidFill>
                <a:latin typeface="Calibri"/>
              </a:rPr>
              <a:t>RQ4   </a:t>
            </a:r>
            <a:r>
              <a:rPr sz="1650" b="1" i="0">
                <a:solidFill>
                  <a:srgbClr val="1A1A1A"/>
                </a:solidFill>
                <a:latin typeface="Calibri"/>
              </a:rPr>
              <a:t>Which differences are statistically real?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4517136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555555"/>
                </a:solidFill>
                <a:latin typeface="Calibri"/>
              </a:rPr>
              <a:t>With as few as 11 evaluations per run, which rankings survive bootstrap resampling rather than sampling noise?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A8A8A"/>
                </a:solidFill>
                <a:latin typeface="Calibri"/>
              </a:rPr>
              <a:t>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Calibri"/>
              </a:rPr>
              <a:t>Three architectures, five LoRA runs, one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2794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A8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Yibo Zhang · Offline Trajectory Metrics for Early Stopping in VLA Fine-Tuning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49377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550" b="1">
                <a:solidFill>
                  <a:srgbClr val="FFD100"/>
                </a:solidFill>
                <a:latin typeface="Calibri"/>
              </a:rPr>
              <a:t>— </a:t>
            </a:r>
            <a:r>
              <a:rPr sz="1550" b="1">
                <a:solidFill>
                  <a:srgbClr val="1A1A1A"/>
                </a:solidFill>
                <a:latin typeface="Calibri"/>
              </a:rPr>
              <a:t>OpenVLA (7B) </a:t>
            </a:r>
            <a:r>
              <a:rPr sz="1550" b="0">
                <a:solidFill>
                  <a:srgbClr val="1A1A1A"/>
                </a:solidFill>
                <a:latin typeface="Calibri"/>
              </a:rPr>
              <a:t>— discrete-token, autoregressive.  The likelihood is a genuine token NLL.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550" b="1">
                <a:solidFill>
                  <a:srgbClr val="FFD100"/>
                </a:solidFill>
                <a:latin typeface="Calibri"/>
              </a:rPr>
              <a:t>— </a:t>
            </a:r>
            <a:r>
              <a:rPr sz="1550" b="1">
                <a:solidFill>
                  <a:srgbClr val="1A1A1A"/>
                </a:solidFill>
                <a:latin typeface="Calibri"/>
              </a:rPr>
              <a:t>SmolVLA (450M) </a:t>
            </a:r>
            <a:r>
              <a:rPr sz="1550" b="0">
                <a:solidFill>
                  <a:srgbClr val="1A1A1A"/>
                </a:solidFill>
                <a:latin typeface="Calibri"/>
              </a:rPr>
              <a:t>— flow-matching, edge-scale.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550" b="1">
                <a:solidFill>
                  <a:srgbClr val="FFD100"/>
                </a:solidFill>
                <a:latin typeface="Calibri"/>
              </a:rPr>
              <a:t>— </a:t>
            </a:r>
            <a:r>
              <a:rPr sz="1550" b="1">
                <a:solidFill>
                  <a:srgbClr val="1A1A1A"/>
                </a:solidFill>
                <a:latin typeface="Calibri"/>
              </a:rPr>
              <a:t>π₀.₅ (4B) </a:t>
            </a:r>
            <a:r>
              <a:rPr sz="1550" b="0">
                <a:solidFill>
                  <a:srgbClr val="1A1A1A"/>
                </a:solidFill>
                <a:latin typeface="Calibri"/>
              </a:rPr>
              <a:t>— flow-matching, Physical Intelligence.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550" b="1">
                <a:solidFill>
                  <a:srgbClr val="FFD100"/>
                </a:solidFill>
                <a:latin typeface="Calibri"/>
              </a:rPr>
              <a:t>— </a:t>
            </a:r>
            <a:r>
              <a:rPr sz="1550" b="1">
                <a:solidFill>
                  <a:srgbClr val="1A1A1A"/>
                </a:solidFill>
                <a:latin typeface="Calibri"/>
              </a:rPr>
              <a:t>Benchmark: LIBERO-Goal </a:t>
            </a:r>
            <a:r>
              <a:rPr sz="1550" b="0">
                <a:solidFill>
                  <a:srgbClr val="1A1A1A"/>
                </a:solidFill>
                <a:latin typeface="Calibri"/>
              </a:rPr>
              <a:t>— 10 tasks, shared scene, varying instruction: the suite with the most action-sequence diversity.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550" b="1">
                <a:solidFill>
                  <a:srgbClr val="FFD100"/>
                </a:solidFill>
                <a:latin typeface="Calibri"/>
              </a:rPr>
              <a:t>— </a:t>
            </a:r>
            <a:r>
              <a:rPr sz="1550" b="1">
                <a:solidFill>
                  <a:srgbClr val="1A1A1A"/>
                </a:solidFill>
                <a:latin typeface="Calibri"/>
              </a:rPr>
              <a:t>Ground truth Q(k) </a:t>
            </a:r>
            <a:r>
              <a:rPr sz="1550" b="0">
                <a:solidFill>
                  <a:srgbClr val="1A1A1A"/>
                </a:solidFill>
                <a:latin typeface="Calibri"/>
              </a:rPr>
              <a:t>— 100-episode simulated success, ±5% noise; sparse by design (11–33 evals per run).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417320"/>
            <a:ext cx="5532120" cy="3977639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5544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A1A1A"/>
                </a:solidFill>
                <a:latin typeface="Calibri"/>
              </a:rPr>
              <a:t>The five fine-tuning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011680"/>
            <a:ext cx="5074920" cy="457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08483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8483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Arch.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08483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208483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Peak 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54203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SmolVLA-150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54203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FM 450M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54203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150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254203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0.68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926080"/>
            <a:ext cx="5074920" cy="4572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99923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OpenVLA-150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99923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tok 7B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99923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150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299923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0.83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45643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OpenVLA-full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45643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tok 7B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45643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342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345643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0.78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840480"/>
            <a:ext cx="5074920" cy="45720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391363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π₀.₅-full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91363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FM 4B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391363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342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391363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0.18†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37083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π₀.₅-150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370832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FM 4B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437083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150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437083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0.38†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95604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A8A8A"/>
                </a:solidFill>
                <a:latin typeface="Calibri"/>
              </a:rPr>
              <a:t>† π₀.₅ rows use different replan horizons — only relative metric ranking is meaningful.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A8A8A"/>
                </a:solidFill>
                <a:latin typeface="Calibri"/>
              </a:rPr>
              <a:t>RESULT · RQ1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Calibri"/>
              </a:rPr>
              <a:t>Do the metrics carry task information? Yes.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2794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A8A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Yibo Zhang · Offline Trajectory Metrics for Early Stopping in VLA Fine-Tuning</a:t>
            </a:r>
          </a:p>
        </p:txBody>
      </p:sp>
      <p:pic>
        <p:nvPicPr>
          <p:cNvPr id="9" name="Picture 8" descr="task_discriminative_validity_tra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6720840" cy="378047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635240" y="1463040"/>
            <a:ext cx="3977639" cy="43434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1463040"/>
            <a:ext cx="91440" cy="4343400"/>
          </a:xfrm>
          <a:prstGeom prst="rect">
            <a:avLst/>
          </a:prstGeom>
          <a:solidFill>
            <a:srgbClr val="006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64592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A8A8A"/>
                </a:solidFill>
                <a:latin typeface="Calibri"/>
              </a:rPr>
              <a:t>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965960"/>
            <a:ext cx="3566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A1A1A"/>
                </a:solidFill>
                <a:latin typeface="Calibri"/>
              </a:rPr>
              <a:t>Same-task trajectories must score closer than different-task ones — measured by AUROC.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063240"/>
            <a:ext cx="35661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80" b="1">
                <a:solidFill>
                  <a:srgbClr val="FFD100"/>
                </a:solidFill>
                <a:latin typeface="Calibri"/>
              </a:rPr>
              <a:t>— </a:t>
            </a:r>
            <a:r>
              <a:rPr sz="1380" b="1">
                <a:solidFill>
                  <a:srgbClr val="555555"/>
                </a:solidFill>
                <a:latin typeface="Calibri"/>
              </a:rPr>
              <a:t>Single chunk: </a:t>
            </a:r>
            <a:r>
              <a:rPr sz="1380" b="0">
                <a:solidFill>
                  <a:srgbClr val="555555"/>
                </a:solidFill>
                <a:latin typeface="Calibri"/>
              </a:rPr>
              <a:t>AUROC 0.65–0.69 — tasks share a common motion vocabulary.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80" b="1">
                <a:solidFill>
                  <a:srgbClr val="FFD100"/>
                </a:solidFill>
                <a:latin typeface="Calibri"/>
              </a:rPr>
              <a:t>— </a:t>
            </a:r>
            <a:r>
              <a:rPr sz="1380" b="1">
                <a:solidFill>
                  <a:srgbClr val="555555"/>
                </a:solidFill>
                <a:latin typeface="Calibri"/>
              </a:rPr>
              <a:t>Trajectory-level: </a:t>
            </a:r>
            <a:r>
              <a:rPr sz="1380" b="0">
                <a:solidFill>
                  <a:srgbClr val="555555"/>
                </a:solidFill>
                <a:latin typeface="Calibri"/>
              </a:rPr>
              <a:t>AUROC ≥ 0.90 for every metric — Cohen's d roughly triples.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380" b="1">
                <a:solidFill>
                  <a:srgbClr val="FFD100"/>
                </a:solidFill>
                <a:latin typeface="Calibri"/>
              </a:rPr>
              <a:t>— </a:t>
            </a:r>
            <a:r>
              <a:rPr sz="1380" b="1">
                <a:solidFill>
                  <a:srgbClr val="555555"/>
                </a:solidFill>
                <a:latin typeface="Calibri"/>
              </a:rPr>
              <a:t>Phase alignment, not averaging, </a:t>
            </a:r>
            <a:r>
              <a:rPr sz="1380" b="0">
                <a:solidFill>
                  <a:srgbClr val="555555"/>
                </a:solidFill>
                <a:latin typeface="Calibri"/>
              </a:rPr>
              <a:t>drives the gain (DTW intra-distance 7.06 → 1.84).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8A4A"/>
                </a:solidFill>
                <a:latin typeface="Calibri"/>
              </a:rPr>
              <a:t>Verdict: all five metrics pass the precondition — none is disqualified.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A8A8A"/>
                </a:solidFill>
                <a:latin typeface="Calibri"/>
              </a:rPr>
              <a:t>RESULT · RQ2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Calibri"/>
              </a:rPr>
              <a:t>Trajectory metrics track success in every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2794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A8A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Yibo Zhang · Offline Trajectory Metrics for Early Stopping in VLA Fine-Tuning</a:t>
            </a:r>
          </a:p>
        </p:txBody>
      </p:sp>
      <p:pic>
        <p:nvPicPr>
          <p:cNvPr id="9" name="Picture 8" descr="crossmodel_early_sto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028" y="1325880"/>
            <a:ext cx="10487464" cy="32461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31520" y="4800600"/>
            <a:ext cx="10744200" cy="141732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800600"/>
            <a:ext cx="91440" cy="1417320"/>
          </a:xfrm>
          <a:prstGeom prst="rect">
            <a:avLst/>
          </a:prstGeom>
          <a:solidFill>
            <a:srgbClr val="1B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956048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50" b="1" i="0">
                <a:solidFill>
                  <a:srgbClr val="1A1A1A"/>
                </a:solidFill>
                <a:latin typeface="Calibri"/>
              </a:rPr>
              <a:t>DTW is positive in all five runs — </a:t>
            </a:r>
            <a:r>
              <a:rPr sz="1650" b="0" i="1">
                <a:solidFill>
                  <a:srgbClr val="006FB9"/>
                </a:solidFill>
                <a:latin typeface="Calibri"/>
              </a:rPr>
              <a:t>ρ = 0.47 / 0.75 / 0.85 / 0.90 / 0.72</a:t>
            </a:r>
            <a:r>
              <a:rPr sz="1650" b="1" i="0">
                <a:solidFill>
                  <a:srgbClr val="1A1A1A"/>
                </a:solidFill>
                <a:latin typeface="Calibri"/>
              </a:rPr>
              <a:t> — and its selection regret never exceeds 0.17.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Trajectory (DTW/OT/cosine) and regression (L1/L2) metrics are positive across both architectures and both data sizes. The likelihood family (right-hand bars) is the one that splits by architecture.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A8A8A"/>
                </a:solidFill>
                <a:latin typeface="Calibri"/>
              </a:rPr>
              <a:t>RESULT · RQ2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Calibri"/>
              </a:rPr>
              <a:t>Per-run rankings: a family of comparable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2794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A8A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Yibo Zhang · Offline Trajectory Metrics for Early Stopping in VLA Fine-Tuning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3429000" cy="361188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3429000" cy="457200"/>
          </a:xfrm>
          <a:prstGeom prst="rect">
            <a:avLst/>
          </a:prstGeom>
          <a:solidFill>
            <a:srgbClr val="006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36192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OpenVLA-full  (discrete-token)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1168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8A8A"/>
                </a:solidFill>
                <a:latin typeface="Calibri"/>
              </a:rPr>
              <a:t>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0116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8A8A"/>
                </a:solidFill>
                <a:latin typeface="Calibri"/>
              </a:rPr>
              <a:t>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011680"/>
            <a:ext cx="777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8A8A"/>
                </a:solidFill>
                <a:latin typeface="Calibri"/>
              </a:rPr>
              <a:t>Regret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04872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Cosine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40487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+0.89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404872"/>
            <a:ext cx="777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0.05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2761488"/>
            <a:ext cx="3200400" cy="365760"/>
          </a:xfrm>
          <a:prstGeom prst="rect">
            <a:avLst/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278892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DTW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27889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+0.85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788920"/>
            <a:ext cx="777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3145536"/>
            <a:ext cx="3200400" cy="365760"/>
          </a:xfrm>
          <a:prstGeom prst="rect">
            <a:avLst/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172968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L₂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317296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+0.85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3172968"/>
            <a:ext cx="777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557016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L₁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3557016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+0.85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3557016"/>
            <a:ext cx="777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0.05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3941064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CE / Acc / NLL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3941064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+0.83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3941064"/>
            <a:ext cx="777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0.04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325112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432511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+0.66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4325112"/>
            <a:ext cx="777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0.04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79976" y="1463040"/>
            <a:ext cx="3429000" cy="361188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79976" y="1463040"/>
            <a:ext cx="3429000" cy="457200"/>
          </a:xfrm>
          <a:prstGeom prst="rect">
            <a:avLst/>
          </a:prstGeom>
          <a:solidFill>
            <a:srgbClr val="1B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79976" y="1536192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π₀.₅-full  (flow-matching)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08576" y="201168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8A8A"/>
                </a:solidFill>
                <a:latin typeface="Calibri"/>
              </a:rPr>
              <a:t>Metric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08776" y="20116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8A8A"/>
                </a:solidFill>
                <a:latin typeface="Calibri"/>
              </a:rPr>
              <a:t>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86016" y="2011680"/>
            <a:ext cx="777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8A8A"/>
                </a:solidFill>
                <a:latin typeface="Calibri"/>
              </a:rPr>
              <a:t>Regret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89704" y="2377440"/>
            <a:ext cx="3200400" cy="365760"/>
          </a:xfrm>
          <a:prstGeom prst="rect">
            <a:avLst/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08576" y="2404872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DTW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08776" y="240487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+0.90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86016" y="2404872"/>
            <a:ext cx="777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0.04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8576" y="278892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OT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08776" y="27889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+0.89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86016" y="2788920"/>
            <a:ext cx="777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0.04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08576" y="3172968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Cosine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08776" y="317296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+0.86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86016" y="3172968"/>
            <a:ext cx="777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0.04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08576" y="3557016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L₁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08776" y="3557016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+0.84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86016" y="3557016"/>
            <a:ext cx="777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0.04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08576" y="3941064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L₂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08776" y="3941064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+0.81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86016" y="3941064"/>
            <a:ext cx="777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0.04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89704" y="4297680"/>
            <a:ext cx="3200400" cy="365760"/>
          </a:xfrm>
          <a:prstGeom prst="rect">
            <a:avLst/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08576" y="4325112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NLL / FM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08776" y="432511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+0.46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86016" y="4325112"/>
            <a:ext cx="777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0.08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28431" y="1463040"/>
            <a:ext cx="3429000" cy="361188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028431" y="1463040"/>
            <a:ext cx="3429000" cy="457200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28431" y="1536192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SmolVLA-150  (flow-matching)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57031" y="201168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8A8A"/>
                </a:solidFill>
                <a:latin typeface="Calibri"/>
              </a:rPr>
              <a:t>Metric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57231" y="201168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8A8A"/>
                </a:solidFill>
                <a:latin typeface="Calibri"/>
              </a:rPr>
              <a:t>ρ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34471" y="2011680"/>
            <a:ext cx="777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A8A8A"/>
                </a:solidFill>
                <a:latin typeface="Calibri"/>
              </a:rPr>
              <a:t>Regret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38159" y="2377440"/>
            <a:ext cx="3200400" cy="365760"/>
          </a:xfrm>
          <a:prstGeom prst="rect">
            <a:avLst/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57031" y="2404872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DTW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57231" y="240487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+0.47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34471" y="2404872"/>
            <a:ext cx="777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A1A"/>
                </a:solidFill>
                <a:latin typeface="Calibri"/>
              </a:rPr>
              <a:t>0.02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57031" y="278892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L₂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57231" y="278892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+0.46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34471" y="2788920"/>
            <a:ext cx="777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0.05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57031" y="3172968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L₁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57231" y="317296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+0.44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634471" y="3172968"/>
            <a:ext cx="777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0.24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57031" y="3557016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OT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857231" y="3557016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+0.34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34471" y="3557016"/>
            <a:ext cx="777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0.26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57031" y="3941064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Cosine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57231" y="3941064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+0.28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34471" y="3941064"/>
            <a:ext cx="777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0.08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138159" y="4297680"/>
            <a:ext cx="3200400" cy="365760"/>
          </a:xfrm>
          <a:prstGeom prst="rect">
            <a:avLst/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57031" y="4325112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2A2A"/>
                </a:solidFill>
                <a:latin typeface="Calibri"/>
              </a:rPr>
              <a:t>NLL / FM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857231" y="432511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2A2A"/>
                </a:solidFill>
                <a:latin typeface="Calibri"/>
              </a:rPr>
              <a:t>−0.22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634471" y="4325112"/>
            <a:ext cx="777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2A2A"/>
                </a:solidFill>
                <a:latin typeface="Calibri"/>
              </a:rPr>
              <a:t>0.19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" y="530352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Two patterns:  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(1) on OpenVLA-full, DTW and L₂ pick the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identical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 checkpoint (21499) with identical ρ and zero regret;  (2) the NLL/FM surrogate collapses on flow-matching runs (green, purple) while staying strong on discrete-token (blue).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A8A8A"/>
                </a:solidFill>
                <a:latin typeface="Calibri"/>
              </a:rPr>
              <a:t>RESULT · RQ3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Calibri"/>
              </a:rPr>
              <a:t>Effective for the coarse decision; harder on the plateau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2794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A8A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Yibo Zhang · Offline Trajectory Metrics for Early Stopping in VLA Fine-Tuning</a:t>
            </a:r>
          </a:p>
        </p:txBody>
      </p:sp>
      <p:pic>
        <p:nvPicPr>
          <p:cNvPr id="9" name="Picture 8" descr="plateau_restr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583680" cy="25321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52360" y="1417320"/>
            <a:ext cx="4114800" cy="32004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572768"/>
            <a:ext cx="3703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1A1A"/>
                </a:solidFill>
                <a:latin typeface="Calibri"/>
              </a:rPr>
              <a:t>Full range  vs.  converged plateau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2057400"/>
            <a:ext cx="3749039" cy="3657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084832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084832"/>
            <a:ext cx="868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ρ full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2084832"/>
            <a:ext cx="868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ρ plat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46888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SmolVLA-150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468880"/>
            <a:ext cx="868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+0.47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2468880"/>
            <a:ext cx="868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+0.38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2825496"/>
            <a:ext cx="3749039" cy="36576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852928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OpenVLA-150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852928"/>
            <a:ext cx="868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+0.75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2852928"/>
            <a:ext cx="868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+0.59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236976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OpenVLA-full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3236976"/>
            <a:ext cx="868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+0.86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3236976"/>
            <a:ext cx="868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+0.73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40" y="3593592"/>
            <a:ext cx="3749039" cy="365760"/>
          </a:xfrm>
          <a:prstGeom prst="rect">
            <a:avLst/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3621024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π₀.₅-full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3621024"/>
            <a:ext cx="868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+0.91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3621024"/>
            <a:ext cx="868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Calibri"/>
              </a:rPr>
              <a:t>+0.80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35240" y="3977640"/>
            <a:ext cx="3749039" cy="365760"/>
          </a:xfrm>
          <a:prstGeom prst="rect">
            <a:avLst/>
          </a:prstGeom>
          <a:solidFill>
            <a:srgbClr val="FF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0" y="4005072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2A2A"/>
                </a:solidFill>
                <a:latin typeface="Calibri"/>
              </a:rPr>
              <a:t>π₀.₅-150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4005072"/>
            <a:ext cx="868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02A2A"/>
                </a:solidFill>
                <a:latin typeface="Calibri"/>
              </a:rPr>
              <a:t>+0.72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4005072"/>
            <a:ext cx="868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02A2A"/>
                </a:solidFill>
                <a:latin typeface="Calibri"/>
              </a:rPr>
              <a:t>+0.43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709160"/>
            <a:ext cx="107899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FFD100"/>
                </a:solidFill>
                <a:latin typeface="Calibri"/>
              </a:rPr>
              <a:t>— </a:t>
            </a:r>
            <a:r>
              <a:rPr sz="1400" b="1">
                <a:solidFill>
                  <a:srgbClr val="1A1A1A"/>
                </a:solidFill>
                <a:latin typeface="Calibri"/>
              </a:rPr>
              <a:t>Coarse decision is robust: </a:t>
            </a:r>
            <a:r>
              <a:rPr sz="1400" b="0">
                <a:solidFill>
                  <a:srgbClr val="1A1A1A"/>
                </a:solidFill>
                <a:latin typeface="Calibri"/>
              </a:rPr>
              <a:t>“do not stop before the knee” holds at ρ ≈ 0.8–0.9 over the full descent, every run.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FFD100"/>
                </a:solidFill>
                <a:latin typeface="Calibri"/>
              </a:rPr>
              <a:t>— </a:t>
            </a:r>
            <a:r>
              <a:rPr sz="1400" b="1">
                <a:solidFill>
                  <a:srgbClr val="1A1A1A"/>
                </a:solidFill>
                <a:latin typeface="Calibri"/>
              </a:rPr>
              <a:t>Fine-ranking the plateau is harder </a:t>
            </a:r>
            <a:r>
              <a:rPr sz="1400" b="0">
                <a:solidFill>
                  <a:srgbClr val="1A1A1A"/>
                </a:solidFill>
                <a:latin typeface="Calibri"/>
              </a:rPr>
              <a:t>but stays usable (ρ ≥ 0.59) for four of five runs.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FFD100"/>
                </a:solidFill>
                <a:latin typeface="Calibri"/>
              </a:rPr>
              <a:t>— </a:t>
            </a:r>
            <a:r>
              <a:rPr sz="1400" b="1">
                <a:solidFill>
                  <a:srgbClr val="1A1A1A"/>
                </a:solidFill>
                <a:latin typeface="Calibri"/>
              </a:rPr>
              <a:t>π₀.₅-150 is the exception — and it is an artifact: </a:t>
            </a:r>
            <a:r>
              <a:rPr sz="1400" b="0">
                <a:solidFill>
                  <a:srgbClr val="1A1A1A"/>
                </a:solidFill>
                <a:latin typeface="Calibri"/>
              </a:rPr>
              <a:t>the apparent 31%→23% dip recovers to 38% once training is extended. A noisy low ceiling, not real overtraining.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A8A8A"/>
                </a:solidFill>
                <a:latin typeface="Calibri"/>
              </a:rPr>
              <a:t>RESULT · RQ3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Calibri"/>
              </a:rPr>
              <a:t>The overtraining we tried to induce never came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2794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A8A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Yibo Zhang · Offline Trajectory Metrics for Early Stopping in VLA Fine-Tuning</a:t>
            </a:r>
          </a:p>
        </p:txBody>
      </p:sp>
      <p:pic>
        <p:nvPicPr>
          <p:cNvPr id="9" name="Picture 8" descr="success_vs_val_metrics_timeseries_pi_1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712" y="1280160"/>
            <a:ext cx="3097536" cy="4846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0" y="1463040"/>
            <a:ext cx="6492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1A1A"/>
                </a:solidFill>
                <a:latin typeface="Calibri"/>
              </a:rPr>
              <a:t>Three runs were designed to overtrain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4884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1">
                <a:solidFill>
                  <a:srgbClr val="FFD100"/>
                </a:solidFill>
                <a:latin typeface="Calibri"/>
              </a:rPr>
              <a:t>— </a:t>
            </a:r>
            <a:r>
              <a:rPr sz="1550" b="1">
                <a:solidFill>
                  <a:srgbClr val="1A1A1A"/>
                </a:solidFill>
                <a:latin typeface="Calibri"/>
              </a:rPr>
              <a:t>SmolVLA-150 &amp; OpenVLA-150 </a:t>
            </a:r>
            <a:r>
              <a:rPr sz="1550" b="0">
                <a:solidFill>
                  <a:srgbClr val="1A1A1A"/>
                </a:solidFill>
                <a:latin typeface="Calibri"/>
              </a:rPr>
              <a:t>— small data, pushed well past convergence.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1">
                <a:solidFill>
                  <a:srgbClr val="FFD100"/>
                </a:solidFill>
                <a:latin typeface="Calibri"/>
              </a:rPr>
              <a:t>— </a:t>
            </a:r>
            <a:r>
              <a:rPr sz="1550" b="1">
                <a:solidFill>
                  <a:srgbClr val="1A1A1A"/>
                </a:solidFill>
                <a:latin typeface="Calibri"/>
              </a:rPr>
              <a:t>π₀.₅-150 </a:t>
            </a:r>
            <a:r>
              <a:rPr sz="1550" b="0">
                <a:solidFill>
                  <a:srgbClr val="1A1A1A"/>
                </a:solidFill>
                <a:latin typeface="Calibri"/>
              </a:rPr>
              <a:t>— aggressive LR (6×), a non-decaying schedule, 40k steps.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1">
                <a:solidFill>
                  <a:srgbClr val="FFD100"/>
                </a:solidFill>
                <a:latin typeface="Calibri"/>
              </a:rPr>
              <a:t>— </a:t>
            </a:r>
            <a:r>
              <a:rPr sz="1550" b="1">
                <a:solidFill>
                  <a:srgbClr val="1A1A1A"/>
                </a:solidFill>
                <a:latin typeface="Calibri"/>
              </a:rPr>
              <a:t>Outcome: </a:t>
            </a:r>
            <a:r>
              <a:rPr sz="1550" b="0">
                <a:solidFill>
                  <a:srgbClr val="1A1A1A"/>
                </a:solidFill>
                <a:latin typeface="Calibri"/>
              </a:rPr>
              <a:t>every run settled into a noisy plateau in both the offline metrics and Q(k) — no monotone late decline.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4892040"/>
            <a:ext cx="6492240" cy="123444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4892040"/>
            <a:ext cx="91440" cy="123444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5029200"/>
            <a:ext cx="6126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C02A2A"/>
                </a:solidFill>
                <a:latin typeface="Calibri"/>
              </a:rPr>
              <a:t>Honest limitation. </a:t>
            </a:r>
            <a:r>
              <a:rPr sz="1450" b="0" i="0">
                <a:solidFill>
                  <a:srgbClr val="555555"/>
                </a:solidFill>
                <a:latin typeface="Calibri"/>
              </a:rPr>
              <a:t>Because no run genuinely overtrained, I cannot show the metrics catching a real decline — only that they reliably track the rise and plateau. Proving the preventive value of early stopping needs a run that actually degrades.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A8A8A"/>
                </a:solidFill>
                <a:latin typeface="Calibri"/>
              </a:rPr>
              <a:t>RESULT · RQ4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Calibri"/>
              </a:rPr>
              <a:t>How much of the ranking is real? Power is the limit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2794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A8A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Yibo Zhang · Offline Trajectory Metrics for Early Stopping in VLA Fine-Tuning</a:t>
            </a:r>
          </a:p>
        </p:txBody>
      </p:sp>
      <p:pic>
        <p:nvPicPr>
          <p:cNvPr id="9" name="Picture 8" descr="crossmodel_bootstrap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595" y="1280160"/>
            <a:ext cx="8110330" cy="23317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31520" y="3840480"/>
            <a:ext cx="5303520" cy="2286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91440" cy="2286000"/>
          </a:xfrm>
          <a:prstGeom prst="rect">
            <a:avLst/>
          </a:prstGeom>
          <a:solidFill>
            <a:srgbClr val="1B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00507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B8A4A"/>
                </a:solidFill>
                <a:latin typeface="Calibri"/>
              </a:rPr>
              <a:t>What is statistically resolved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480560"/>
            <a:ext cx="48463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80" b="1">
                <a:solidFill>
                  <a:srgbClr val="FFD100"/>
                </a:solidFill>
                <a:latin typeface="Calibri"/>
              </a:rPr>
              <a:t>— </a:t>
            </a:r>
            <a:r>
              <a:rPr sz="1380" b="1">
                <a:solidFill>
                  <a:srgbClr val="555555"/>
                </a:solidFill>
                <a:latin typeface="Calibri"/>
              </a:rPr>
              <a:t>Architecture split of NLL </a:t>
            </a:r>
            <a:r>
              <a:rPr sz="1380" b="0">
                <a:solidFill>
                  <a:srgbClr val="555555"/>
                </a:solidFill>
                <a:latin typeface="Calibri"/>
              </a:rPr>
              <a:t>— significant: real token likelihood works, the FM surrogate does not.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80" b="1">
                <a:solidFill>
                  <a:srgbClr val="FFD100"/>
                </a:solidFill>
                <a:latin typeface="Calibri"/>
              </a:rPr>
              <a:t>— </a:t>
            </a:r>
            <a:r>
              <a:rPr sz="1380" b="1">
                <a:solidFill>
                  <a:srgbClr val="555555"/>
                </a:solidFill>
                <a:latin typeface="Calibri"/>
              </a:rPr>
              <a:t>π₀.₅-full (n=33) </a:t>
            </a:r>
            <a:r>
              <a:rPr sz="1380" b="0">
                <a:solidFill>
                  <a:srgbClr val="555555"/>
                </a:solidFill>
                <a:latin typeface="Calibri"/>
              </a:rPr>
              <a:t>— well-powered; DTW’s CI spans &lt; 0.20.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840480"/>
            <a:ext cx="5303520" cy="228600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840480"/>
            <a:ext cx="91440" cy="2286000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400507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C02A2A"/>
                </a:solidFill>
                <a:latin typeface="Calibri"/>
              </a:rPr>
              <a:t>What is NOT resolved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4480560"/>
            <a:ext cx="48463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80" b="1">
                <a:solidFill>
                  <a:srgbClr val="FFD100"/>
                </a:solidFill>
                <a:latin typeface="Calibri"/>
              </a:rPr>
              <a:t>— </a:t>
            </a:r>
            <a:r>
              <a:rPr sz="1380" b="1">
                <a:solidFill>
                  <a:srgbClr val="555555"/>
                </a:solidFill>
                <a:latin typeface="Calibri"/>
              </a:rPr>
              <a:t>DTW vs. L1/L2/OT/cosine </a:t>
            </a:r>
            <a:r>
              <a:rPr sz="1380" b="0">
                <a:solidFill>
                  <a:srgbClr val="555555"/>
                </a:solidFill>
                <a:latin typeface="Calibri"/>
              </a:rPr>
              <a:t>— intervals overlap; on OpenVLA-full DTW ≡ L₂ exactly.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380" b="1">
                <a:solidFill>
                  <a:srgbClr val="FFD100"/>
                </a:solidFill>
                <a:latin typeface="Calibri"/>
              </a:rPr>
              <a:t>— </a:t>
            </a:r>
            <a:r>
              <a:rPr sz="1380" b="1">
                <a:solidFill>
                  <a:srgbClr val="555555"/>
                </a:solidFill>
                <a:latin typeface="Calibri"/>
              </a:rPr>
              <a:t>SmolVLA-150 (n=18) </a:t>
            </a:r>
            <a:r>
              <a:rPr sz="1380" b="0">
                <a:solidFill>
                  <a:srgbClr val="555555"/>
                </a:solidFill>
                <a:latin typeface="Calibri"/>
              </a:rPr>
              <a:t>— no metric clears zero at 95%: too few, too converged.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A8A8A"/>
                </a:solidFill>
                <a:latin typeface="Calibri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Calibri"/>
              </a:rPr>
              <a:t>The four questions, answered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2794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A8A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Yibo Zhang · Offline Trajectory Metrics for Early Stopping in VLA Fine-Tuning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10744200" cy="105156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63040"/>
            <a:ext cx="1280160" cy="1051560"/>
          </a:xfrm>
          <a:prstGeom prst="rect">
            <a:avLst/>
          </a:prstGeom>
          <a:solidFill>
            <a:srgbClr val="1B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55648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737360"/>
            <a:ext cx="9052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A1A1A"/>
                </a:solidFill>
                <a:latin typeface="Calibri"/>
              </a:rPr>
              <a:t>Yes — every metric is task-discriminative (AUROC ≥ 0.90) at the trajectory level.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42616"/>
            <a:ext cx="10744200" cy="105156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642616"/>
            <a:ext cx="1280160" cy="1051560"/>
          </a:xfrm>
          <a:prstGeom prst="rect">
            <a:avLst/>
          </a:prstGeom>
          <a:solidFill>
            <a:srgbClr val="1B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935224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916936"/>
            <a:ext cx="9052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A1A1A"/>
                </a:solidFill>
                <a:latin typeface="Calibri"/>
              </a:rPr>
              <a:t>Yes — DTW/OT/cosine (and L1/L2) correlate positively with success in all five runs.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822192"/>
            <a:ext cx="10744200" cy="105156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822192"/>
            <a:ext cx="1280160" cy="1051560"/>
          </a:xfrm>
          <a:prstGeom prst="rect">
            <a:avLst/>
          </a:prstGeom>
          <a:solidFill>
            <a:srgbClr val="C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1480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RQ3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096512"/>
            <a:ext cx="9052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A1A1A"/>
                </a:solidFill>
                <a:latin typeface="Calibri"/>
              </a:rPr>
              <a:t>Partly — robust for the coarse “don’t stop early” call; genuine overtraining never occurred.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001768"/>
            <a:ext cx="10744200" cy="105156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001768"/>
            <a:ext cx="1280160" cy="1051560"/>
          </a:xfrm>
          <a:prstGeom prst="rect">
            <a:avLst/>
          </a:prstGeom>
          <a:solidFill>
            <a:srgbClr val="C7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294376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RQ4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5276088"/>
            <a:ext cx="9052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1A1A1A"/>
                </a:solidFill>
                <a:latin typeface="Calibri"/>
              </a:rPr>
              <a:t>Qualified — the architecture split is real; finer metric orderings need more evaluations.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A8A8A"/>
                </a:solidFill>
                <a:latin typeface="Calibri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Calibri"/>
              </a:rPr>
              <a:t>Practical guidance for VLA practitioners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2794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A8A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Yibo Zhang · Offline Trajectory Metrics for Early Stopping in VLA Fine-Tuning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508760"/>
            <a:ext cx="5257800" cy="192024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508760"/>
            <a:ext cx="5257800" cy="109728"/>
          </a:xfrm>
          <a:prstGeom prst="rect">
            <a:avLst/>
          </a:prstGeom>
          <a:solidFill>
            <a:srgbClr val="006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78308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6FB9"/>
                </a:solidFill>
                <a:latin typeface="Calibri"/>
              </a:rPr>
              <a:t>1   </a:t>
            </a:r>
            <a:r>
              <a:rPr sz="1750" b="1" i="0">
                <a:solidFill>
                  <a:srgbClr val="1A1A1A"/>
                </a:solidFill>
                <a:latin typeface="Calibri"/>
              </a:rPr>
              <a:t>Use a trajectory-similarity metric.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41448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55"/>
                </a:solidFill>
                <a:latin typeface="Calibri"/>
              </a:rPr>
              <a:t>DTW is the safest default: positive in every run, regret ≤ 0.17, never negative.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5257800" cy="192024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508760"/>
            <a:ext cx="5257800" cy="109728"/>
          </a:xfrm>
          <a:prstGeom prst="rect">
            <a:avLst/>
          </a:prstGeom>
          <a:solidFill>
            <a:srgbClr val="1B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78308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8A4A"/>
                </a:solidFill>
                <a:latin typeface="Calibri"/>
              </a:rPr>
              <a:t>2   </a:t>
            </a:r>
            <a:r>
              <a:rPr sz="1750" b="1" i="0">
                <a:solidFill>
                  <a:srgbClr val="1A1A1A"/>
                </a:solidFill>
                <a:latin typeface="Calibri"/>
              </a:rPr>
              <a:t>Trust the coarse decision.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41448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55"/>
                </a:solidFill>
                <a:latin typeface="Calibri"/>
              </a:rPr>
              <a:t>“Do not stop before the knee” is reliable; fine-ranking a converged plateau is not.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703320"/>
            <a:ext cx="5257800" cy="192024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703320"/>
            <a:ext cx="5257800" cy="109728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97764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2A2A"/>
                </a:solidFill>
                <a:latin typeface="Calibri"/>
              </a:rPr>
              <a:t>3   </a:t>
            </a:r>
            <a:r>
              <a:rPr sz="1750" b="1" i="0">
                <a:solidFill>
                  <a:srgbClr val="1A1A1A"/>
                </a:solidFill>
                <a:latin typeface="Calibri"/>
              </a:rPr>
              <a:t>Match the surrogate to the architecture.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636008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55"/>
                </a:solidFill>
                <a:latin typeface="Calibri"/>
              </a:rPr>
              <a:t>Token NLL is fine for discrete-token policies; for flow-matching, use a trajectory metric, not the FM loss.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703320"/>
            <a:ext cx="5257800" cy="192024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703320"/>
            <a:ext cx="5257800" cy="109728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977640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A3D9A"/>
                </a:solidFill>
                <a:latin typeface="Calibri"/>
              </a:rPr>
              <a:t>4   </a:t>
            </a:r>
            <a:r>
              <a:rPr sz="1750" b="1" i="0">
                <a:solidFill>
                  <a:srgbClr val="1A1A1A"/>
                </a:solidFill>
                <a:latin typeface="Calibri"/>
              </a:rPr>
              <a:t>Report uncertainty, not point ranks.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636008"/>
            <a:ext cx="4754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55"/>
                </a:solidFill>
                <a:latin typeface="Calibri"/>
              </a:rPr>
              <a:t>With 10–30 rollouts, bootstrap CIs — most single-metric orderings are noise.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100584" cy="566928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A8A8A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A1A1A"/>
                </a:solidFill>
                <a:latin typeface="Calibri"/>
              </a:rPr>
              <a:t>What this study cannot yet claim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78992"/>
            <a:ext cx="12191695" cy="2794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19088"/>
            <a:ext cx="640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A8A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8A8A"/>
                </a:solidFill>
                <a:latin typeface="Calibri"/>
              </a:rPr>
              <a:t>Yibo Zhang · Offline Trajectory Metrics for Early Stopping in VLA Fine-Tuning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3529584" cy="384048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3529584" cy="128016"/>
          </a:xfrm>
          <a:prstGeom prst="rect">
            <a:avLst/>
          </a:prstGeom>
          <a:solidFill>
            <a:srgbClr val="006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30723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006FB9"/>
                </a:solidFill>
                <a:latin typeface="Calibri"/>
              </a:rPr>
              <a:t>Open-loop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71800"/>
            <a:ext cx="307238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55"/>
                </a:solidFill>
                <a:latin typeface="Calibri"/>
              </a:rPr>
              <a:t>Metrics score teacher-forced action chunks, not rollouts. A learned world model would test whether they also predict compounding closed-loop error.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35424" y="1645920"/>
            <a:ext cx="3529584" cy="384048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35424" y="1645920"/>
            <a:ext cx="3529584" cy="128016"/>
          </a:xfrm>
          <a:prstGeom prst="rect">
            <a:avLst/>
          </a:prstGeom>
          <a:solidFill>
            <a:srgbClr val="C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4024" y="2011680"/>
            <a:ext cx="30723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02A2A"/>
                </a:solidFill>
                <a:latin typeface="Calibri"/>
              </a:rPr>
              <a:t>No overtraining regime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4024" y="2971800"/>
            <a:ext cx="307238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55"/>
                </a:solidFill>
                <a:latin typeface="Calibri"/>
              </a:rPr>
              <a:t>No run genuinely degraded, so the preventive value of early stopping is untested. Longer runs at higher LR are needed to force a decline.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39328" y="1645920"/>
            <a:ext cx="3529584" cy="384048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39328" y="1645920"/>
            <a:ext cx="3529584" cy="128016"/>
          </a:xfrm>
          <a:prstGeom prst="rect">
            <a:avLst/>
          </a:prstGeom>
          <a:solidFill>
            <a:srgbClr val="1B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67928" y="2011680"/>
            <a:ext cx="30723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1B8A4A"/>
                </a:solidFill>
                <a:latin typeface="Calibri"/>
              </a:rPr>
              <a:t>Sparse, confounded Q(k)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7928" y="2971800"/>
            <a:ext cx="307238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55555"/>
                </a:solidFill>
                <a:latin typeface="Calibri"/>
              </a:rPr>
              <a:t>11–33 evals per run, and two π₀.₅ runs at mismatched horizons. Denser, horizon-matched evaluation would resolve DTW vs. L1/L2.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0644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None of these overturns the central claim </a:t>
            </a:r>
            <a:r>
              <a:rPr sz="1500" b="0" i="0">
                <a:solidFill>
                  <a:srgbClr val="555555"/>
                </a:solidFill>
                <a:latin typeface="Calibri"/>
              </a:rPr>
              <a:t>— they mark where the evidence stops and the next study begins.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892040"/>
            <a:ext cx="12191695" cy="27940"/>
          </a:xfrm>
          <a:prstGeom prst="rect">
            <a:avLst/>
          </a:prstGeom>
          <a:solidFill>
            <a:srgbClr val="FFD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85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A8A8A"/>
                </a:solidFill>
                <a:latin typeface="Calibri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6070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An offline trajectory-similarity metric, computed once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per checkpoint, is a practical, architecture-agnostic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A1A1A"/>
                </a:solidFill>
                <a:latin typeface="Calibri"/>
              </a:rPr>
              <a:t>signal for when to stop fine-tuning a VLA.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9184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FFD100"/>
                </a:solidFill>
                <a:latin typeface="Calibri"/>
              </a:rPr>
              <a:t>— </a:t>
            </a:r>
            <a:r>
              <a:rPr sz="1600" b="1">
                <a:solidFill>
                  <a:srgbClr val="1A1A1A"/>
                </a:solidFill>
                <a:latin typeface="Calibri"/>
              </a:rPr>
              <a:t>Validated </a:t>
            </a:r>
            <a:r>
              <a:rPr sz="1600" b="0">
                <a:solidFill>
                  <a:srgbClr val="1A1A1A"/>
                </a:solidFill>
                <a:latin typeface="Calibri"/>
              </a:rPr>
              <a:t>across 3 architectures, 5 runs, and a 10-task benchmark — DTW the safest default.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FFD100"/>
                </a:solidFill>
                <a:latin typeface="Calibri"/>
              </a:rPr>
              <a:t>— </a:t>
            </a:r>
            <a:r>
              <a:rPr sz="1600" b="1">
                <a:solidFill>
                  <a:srgbClr val="1A1A1A"/>
                </a:solidFill>
                <a:latin typeface="Calibri"/>
              </a:rPr>
              <a:t>Honest about scope </a:t>
            </a:r>
            <a:r>
              <a:rPr sz="1600" b="0">
                <a:solidFill>
                  <a:srgbClr val="1A1A1A"/>
                </a:solidFill>
                <a:latin typeface="Calibri"/>
              </a:rPr>
              <a:t>— coarse stopping proven; overtraining and closed-loop rollout remain open.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16636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A1A1A"/>
                </a:solidFill>
                <a:latin typeface="Calibri"/>
              </a:rPr>
              <a:t>Thank you — I welcome your questions.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555555"/>
                </a:solidFill>
                <a:latin typeface="Calibri"/>
              </a:rPr>
              <a:t>Yibo Zhang    ·    zjack0127@gmail.com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8A8A8A"/>
                </a:solidFill>
                <a:latin typeface="Calibri"/>
              </a:rPr>
              <a:t>Supervisor: Prof. Joni Pajarinen    ·    Advisor: Dr. Wenyan Yang    ·    Aalto Robot Learning 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