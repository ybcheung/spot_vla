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move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</a:t>
            </a:r>
            <a:r>
              <a:rPr b="0" lang="en-US" sz="2000" spc="-1" strike="noStrike">
                <a:latin typeface="Arial"/>
              </a:rPr>
              <a:t>edit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notes </a:t>
            </a:r>
            <a:r>
              <a:rPr b="0" lang="en-US" sz="2000" spc="-1" strike="noStrike">
                <a:latin typeface="Arial"/>
              </a:rPr>
              <a:t>form</a:t>
            </a:r>
            <a:r>
              <a:rPr b="0" lang="en-US" sz="2000" spc="-1" strike="noStrike">
                <a:latin typeface="Arial"/>
              </a:rPr>
              <a:t>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6321E8B-5CC2-42E4-ADB0-4382B953755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Good </a:t>
            </a:r>
            <a:r>
              <a:rPr b="0" lang="en-US" sz="2000" spc="-1" strike="noStrike">
                <a:latin typeface="Arial"/>
              </a:rPr>
              <a:t>morning. </a:t>
            </a:r>
            <a:r>
              <a:rPr b="0" lang="en-US" sz="2000" spc="-1" strike="noStrike">
                <a:latin typeface="Arial"/>
              </a:rPr>
              <a:t>My thesis </a:t>
            </a:r>
            <a:r>
              <a:rPr b="0" lang="en-US" sz="2000" spc="-1" strike="noStrike">
                <a:latin typeface="Arial"/>
              </a:rPr>
              <a:t>asks a very </a:t>
            </a:r>
            <a:r>
              <a:rPr b="0" lang="en-US" sz="2000" spc="-1" strike="noStrike">
                <a:latin typeface="Arial"/>
              </a:rPr>
              <a:t>practical </a:t>
            </a:r>
            <a:r>
              <a:rPr b="0" lang="en-US" sz="2000" spc="-1" strike="noStrike">
                <a:latin typeface="Arial"/>
              </a:rPr>
              <a:t>question in </a:t>
            </a:r>
            <a:r>
              <a:rPr b="0" lang="en-US" sz="2000" spc="-1" strike="noStrike">
                <a:latin typeface="Arial"/>
              </a:rPr>
              <a:t>robot </a:t>
            </a:r>
            <a:r>
              <a:rPr b="0" lang="en-US" sz="2000" spc="-1" strike="noStrike">
                <a:latin typeface="Arial"/>
              </a:rPr>
              <a:t>learning: </a:t>
            </a:r>
            <a:r>
              <a:rPr b="0" lang="en-US" sz="2000" spc="-1" strike="noStrike">
                <a:latin typeface="Arial"/>
              </a:rPr>
              <a:t>when fine-</a:t>
            </a:r>
            <a:r>
              <a:rPr b="0" lang="en-US" sz="2000" spc="-1" strike="noStrike">
                <a:latin typeface="Arial"/>
              </a:rPr>
              <a:t>tuning a </a:t>
            </a:r>
            <a:r>
              <a:rPr b="0" lang="en-US" sz="2000" spc="-1" strike="noStrike">
                <a:latin typeface="Arial"/>
              </a:rPr>
              <a:t>vision-</a:t>
            </a:r>
            <a:r>
              <a:rPr b="0" lang="en-US" sz="2000" spc="-1" strike="noStrike">
                <a:latin typeface="Arial"/>
              </a:rPr>
              <a:t>language-</a:t>
            </a:r>
            <a:r>
              <a:rPr b="0" lang="en-US" sz="2000" spc="-1" strike="noStrike">
                <a:latin typeface="Arial"/>
              </a:rPr>
              <a:t>action </a:t>
            </a:r>
            <a:r>
              <a:rPr b="0" lang="en-US" sz="2000" spc="-1" strike="noStrike">
                <a:latin typeface="Arial"/>
              </a:rPr>
              <a:t>model, </a:t>
            </a:r>
            <a:r>
              <a:rPr b="0" lang="en-US" sz="2000" spc="-1" strike="noStrike">
                <a:latin typeface="Arial"/>
              </a:rPr>
              <a:t>when do </a:t>
            </a:r>
            <a:r>
              <a:rPr b="0" lang="en-US" sz="2000" spc="-1" strike="noStrike">
                <a:latin typeface="Arial"/>
              </a:rPr>
              <a:t>we stop? </a:t>
            </a:r>
            <a:r>
              <a:rPr b="0" lang="en-US" sz="2000" spc="-1" strike="noStrike">
                <a:latin typeface="Arial"/>
              </a:rPr>
              <a:t>The honest </a:t>
            </a:r>
            <a:r>
              <a:rPr b="0" lang="en-US" sz="2000" spc="-1" strike="noStrike">
                <a:latin typeface="Arial"/>
              </a:rPr>
              <a:t>answer </a:t>
            </a:r>
            <a:r>
              <a:rPr b="0" lang="en-US" sz="2000" spc="-1" strike="noStrike">
                <a:latin typeface="Arial"/>
              </a:rPr>
              <a:t>today is </a:t>
            </a:r>
            <a:r>
              <a:rPr b="0" lang="en-US" sz="2000" spc="-1" strike="noStrike">
                <a:latin typeface="Arial"/>
              </a:rPr>
              <a:t>'after a </a:t>
            </a:r>
            <a:r>
              <a:rPr b="0" lang="en-US" sz="2000" spc="-1" strike="noStrike">
                <a:latin typeface="Arial"/>
              </a:rPr>
              <a:t>fixed </a:t>
            </a:r>
            <a:r>
              <a:rPr b="0" lang="en-US" sz="2000" spc="-1" strike="noStrike">
                <a:latin typeface="Arial"/>
              </a:rPr>
              <a:t>number of </a:t>
            </a:r>
            <a:r>
              <a:rPr b="0" lang="en-US" sz="2000" spc="-1" strike="noStrike">
                <a:latin typeface="Arial"/>
              </a:rPr>
              <a:t>steps' — </a:t>
            </a:r>
            <a:r>
              <a:rPr b="0" lang="en-US" sz="2000" spc="-1" strike="noStrike">
                <a:latin typeface="Arial"/>
              </a:rPr>
              <a:t>and I'll </a:t>
            </a:r>
            <a:r>
              <a:rPr b="0" lang="en-US" sz="2000" spc="-1" strike="noStrike">
                <a:latin typeface="Arial"/>
              </a:rPr>
              <a:t>show why </a:t>
            </a:r>
            <a:r>
              <a:rPr b="0" lang="en-US" sz="2000" spc="-1" strike="noStrike">
                <a:latin typeface="Arial"/>
              </a:rPr>
              <a:t>that is </a:t>
            </a:r>
            <a:r>
              <a:rPr b="0" lang="en-US" sz="2000" spc="-1" strike="noStrike">
                <a:latin typeface="Arial"/>
              </a:rPr>
              <a:t>often </a:t>
            </a:r>
            <a:r>
              <a:rPr b="0" lang="en-US" sz="2000" spc="-1" strike="noStrike">
                <a:latin typeface="Arial"/>
              </a:rPr>
              <a:t>suboptimal, </a:t>
            </a:r>
            <a:r>
              <a:rPr b="0" lang="en-US" sz="2000" spc="-1" strike="noStrike">
                <a:latin typeface="Arial"/>
              </a:rPr>
              <a:t>and what </a:t>
            </a:r>
            <a:r>
              <a:rPr b="0" lang="en-US" sz="2000" spc="-1" strike="noStrike">
                <a:latin typeface="Arial"/>
              </a:rPr>
              <a:t>cheap </a:t>
            </a:r>
            <a:r>
              <a:rPr b="0" lang="en-US" sz="2000" spc="-1" strike="noStrike">
                <a:latin typeface="Arial"/>
              </a:rPr>
              <a:t>offline </a:t>
            </a:r>
            <a:r>
              <a:rPr b="0" lang="en-US" sz="2000" spc="-1" strike="noStrike">
                <a:latin typeface="Arial"/>
              </a:rPr>
              <a:t>signal we </a:t>
            </a:r>
            <a:r>
              <a:rPr b="0" lang="en-US" sz="2000" spc="-1" strike="noStrike">
                <a:latin typeface="Arial"/>
              </a:rPr>
              <a:t>can use </a:t>
            </a:r>
            <a:r>
              <a:rPr b="0" lang="en-US" sz="2000" spc="-1" strike="noStrike">
                <a:latin typeface="Arial"/>
              </a:rPr>
              <a:t>instead. </a:t>
            </a:r>
            <a:r>
              <a:rPr b="0" lang="en-US" sz="2000" spc="-1" strike="noStrike">
                <a:latin typeface="Arial"/>
              </a:rPr>
              <a:t>[~40s] </a:t>
            </a:r>
            <a:r>
              <a:rPr b="0" lang="en-US" sz="2000" spc="-1" strike="noStrike">
                <a:latin typeface="Arial"/>
              </a:rPr>
              <a:t>Target: ~22 </a:t>
            </a:r>
            <a:r>
              <a:rPr b="0" lang="en-US" sz="2000" spc="-1" strike="noStrike">
                <a:latin typeface="Arial"/>
              </a:rPr>
              <a:t>minutes of </a:t>
            </a:r>
            <a:r>
              <a:rPr b="0" lang="en-US" sz="2000" spc="-1" strike="noStrike">
                <a:latin typeface="Arial"/>
              </a:rPr>
              <a:t>talk within </a:t>
            </a:r>
            <a:r>
              <a:rPr b="0" lang="en-US" sz="2000" spc="-1" strike="noStrike">
                <a:latin typeface="Arial"/>
              </a:rPr>
              <a:t>the 30-</a:t>
            </a:r>
            <a:r>
              <a:rPr b="0" lang="en-US" sz="2000" spc="-1" strike="noStrike">
                <a:latin typeface="Arial"/>
              </a:rPr>
              <a:t>minute slot, </a:t>
            </a:r>
            <a:r>
              <a:rPr b="0" lang="en-US" sz="2000" spc="-1" strike="noStrike">
                <a:latin typeface="Arial"/>
              </a:rPr>
              <a:t>leaving </a:t>
            </a:r>
            <a:r>
              <a:rPr b="0" lang="en-US" sz="2000" spc="-1" strike="noStrike">
                <a:latin typeface="Arial"/>
              </a:rPr>
              <a:t>time for </a:t>
            </a:r>
            <a:r>
              <a:rPr b="0" lang="en-US" sz="2000" spc="-1" strike="noStrike">
                <a:latin typeface="Arial"/>
              </a:rPr>
              <a:t>questions.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86ADEC-0A49-42CA-AB4A-EAD7D0DA274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quic</a:t>
            </a:r>
            <a:r>
              <a:rPr b="0" lang="en-US" sz="2000" spc="-1" strike="noStrike">
                <a:latin typeface="Arial"/>
              </a:rPr>
              <a:t>k </a:t>
            </a:r>
            <a:r>
              <a:rPr b="0" lang="en-US" sz="2000" spc="-1" strike="noStrike">
                <a:latin typeface="Arial"/>
              </a:rPr>
              <a:t>prim</a:t>
            </a:r>
            <a:r>
              <a:rPr b="0" lang="en-US" sz="2000" spc="-1" strike="noStrike">
                <a:latin typeface="Arial"/>
              </a:rPr>
              <a:t>er, </a:t>
            </a:r>
            <a:r>
              <a:rPr b="0" lang="en-US" sz="2000" spc="-1" strike="noStrike">
                <a:latin typeface="Arial"/>
              </a:rPr>
              <a:t>sinc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room </a:t>
            </a:r>
            <a:r>
              <a:rPr b="0" lang="en-US" sz="2000" spc="-1" strike="noStrike">
                <a:latin typeface="Arial"/>
              </a:rPr>
              <a:t>span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seve</a:t>
            </a:r>
            <a:r>
              <a:rPr b="0" lang="en-US" sz="2000" spc="-1" strike="noStrike">
                <a:latin typeface="Arial"/>
              </a:rPr>
              <a:t>ral </a:t>
            </a:r>
            <a:r>
              <a:rPr b="0" lang="en-US" sz="2000" spc="-1" strike="noStrike">
                <a:latin typeface="Arial"/>
              </a:rPr>
              <a:t>field</a:t>
            </a:r>
            <a:r>
              <a:rPr b="0" lang="en-US" sz="2000" spc="-1" strike="noStrike">
                <a:latin typeface="Arial"/>
              </a:rPr>
              <a:t>s. A </a:t>
            </a:r>
            <a:r>
              <a:rPr b="0" lang="en-US" sz="2000" spc="-1" strike="noStrike">
                <a:latin typeface="Arial"/>
              </a:rPr>
              <a:t>VLA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one </a:t>
            </a:r>
            <a:r>
              <a:rPr b="0" lang="en-US" sz="2000" spc="-1" strike="noStrike">
                <a:latin typeface="Arial"/>
              </a:rPr>
              <a:t>netw</a:t>
            </a:r>
            <a:r>
              <a:rPr b="0" lang="en-US" sz="2000" spc="-1" strike="noStrike">
                <a:latin typeface="Arial"/>
              </a:rPr>
              <a:t>ork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en-US" sz="2000" spc="-1" strike="noStrike">
                <a:latin typeface="Arial"/>
              </a:rPr>
              <a:t>s a </a:t>
            </a:r>
            <a:r>
              <a:rPr b="0" lang="en-US" sz="2000" spc="-1" strike="noStrike">
                <a:latin typeface="Arial"/>
              </a:rPr>
              <a:t>cam</a:t>
            </a:r>
            <a:r>
              <a:rPr b="0" lang="en-US" sz="2000" spc="-1" strike="noStrike">
                <a:latin typeface="Arial"/>
              </a:rPr>
              <a:t>era </a:t>
            </a:r>
            <a:r>
              <a:rPr b="0" lang="en-US" sz="2000" spc="-1" strike="noStrike">
                <a:latin typeface="Arial"/>
              </a:rPr>
              <a:t>imag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lang</a:t>
            </a:r>
            <a:r>
              <a:rPr b="0" lang="en-US" sz="2000" spc="-1" strike="noStrike">
                <a:latin typeface="Arial"/>
              </a:rPr>
              <a:t>uage </a:t>
            </a:r>
            <a:r>
              <a:rPr b="0" lang="en-US" sz="2000" spc="-1" strike="noStrike">
                <a:latin typeface="Arial"/>
              </a:rPr>
              <a:t>instr</a:t>
            </a:r>
            <a:r>
              <a:rPr b="0" lang="en-US" sz="2000" spc="-1" strike="noStrike">
                <a:latin typeface="Arial"/>
              </a:rPr>
              <a:t>uctio</a:t>
            </a:r>
            <a:r>
              <a:rPr b="0" lang="en-US" sz="2000" spc="-1" strike="noStrike">
                <a:latin typeface="Arial"/>
              </a:rPr>
              <a:t>n to </a:t>
            </a:r>
            <a:r>
              <a:rPr b="0" lang="en-US" sz="2000" spc="-1" strike="noStrike">
                <a:latin typeface="Arial"/>
              </a:rPr>
              <a:t>robot </a:t>
            </a:r>
            <a:r>
              <a:rPr b="0" lang="en-US" sz="2000" spc="-1" strike="noStrike">
                <a:latin typeface="Arial"/>
              </a:rPr>
              <a:t>actio</a:t>
            </a:r>
            <a:r>
              <a:rPr b="0" lang="en-US" sz="2000" spc="-1" strike="noStrike">
                <a:latin typeface="Arial"/>
              </a:rPr>
              <a:t>ns.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do </a:t>
            </a:r>
            <a:r>
              <a:rPr b="0" lang="en-US" sz="2000" spc="-1" strike="noStrike">
                <a:latin typeface="Arial"/>
              </a:rPr>
              <a:t>not </a:t>
            </a:r>
            <a:r>
              <a:rPr b="0" lang="en-US" sz="2000" spc="-1" strike="noStrike">
                <a:latin typeface="Arial"/>
              </a:rPr>
              <a:t>train </a:t>
            </a:r>
            <a:r>
              <a:rPr b="0" lang="en-US" sz="2000" spc="-1" strike="noStrike">
                <a:latin typeface="Arial"/>
              </a:rPr>
              <a:t>it </a:t>
            </a:r>
            <a:r>
              <a:rPr b="0" lang="en-US" sz="2000" spc="-1" strike="noStrike">
                <a:latin typeface="Arial"/>
              </a:rPr>
              <a:t>from </a:t>
            </a:r>
            <a:r>
              <a:rPr b="0" lang="en-US" sz="2000" spc="-1" strike="noStrike">
                <a:latin typeface="Arial"/>
              </a:rPr>
              <a:t>scrat</a:t>
            </a:r>
            <a:r>
              <a:rPr b="0" lang="en-US" sz="2000" spc="-1" strike="noStrike">
                <a:latin typeface="Arial"/>
              </a:rPr>
              <a:t>ch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fine-</a:t>
            </a:r>
            <a:r>
              <a:rPr b="0" lang="en-US" sz="2000" spc="-1" strike="noStrike">
                <a:latin typeface="Arial"/>
              </a:rPr>
              <a:t>tune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pretr</a:t>
            </a:r>
            <a:r>
              <a:rPr b="0" lang="en-US" sz="2000" spc="-1" strike="noStrike">
                <a:latin typeface="Arial"/>
              </a:rPr>
              <a:t>aine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mod</a:t>
            </a:r>
            <a:r>
              <a:rPr b="0" lang="en-US" sz="2000" spc="-1" strike="noStrike">
                <a:latin typeface="Arial"/>
              </a:rPr>
              <a:t>el </a:t>
            </a:r>
            <a:r>
              <a:rPr b="0" lang="en-US" sz="2000" spc="-1" strike="noStrike">
                <a:latin typeface="Arial"/>
              </a:rPr>
              <a:t>with </a:t>
            </a:r>
            <a:r>
              <a:rPr b="0" lang="en-US" sz="2000" spc="-1" strike="noStrike">
                <a:latin typeface="Arial"/>
              </a:rPr>
              <a:t>LoR</a:t>
            </a:r>
            <a:r>
              <a:rPr b="0" lang="en-US" sz="2000" spc="-1" strike="noStrike">
                <a:latin typeface="Arial"/>
              </a:rPr>
              <a:t>A, </a:t>
            </a:r>
            <a:r>
              <a:rPr b="0" lang="en-US" sz="2000" spc="-1" strike="noStrike">
                <a:latin typeface="Arial"/>
              </a:rPr>
              <a:t>whic</a:t>
            </a:r>
            <a:r>
              <a:rPr b="0" lang="en-US" sz="2000" spc="-1" strike="noStrike">
                <a:latin typeface="Arial"/>
              </a:rPr>
              <a:t>h is </a:t>
            </a:r>
            <a:r>
              <a:rPr b="0" lang="en-US" sz="2000" spc="-1" strike="noStrike">
                <a:latin typeface="Arial"/>
              </a:rPr>
              <a:t>chea</a:t>
            </a:r>
            <a:r>
              <a:rPr b="0" lang="en-US" sz="2000" spc="-1" strike="noStrike">
                <a:latin typeface="Arial"/>
              </a:rPr>
              <a:t>p. </a:t>
            </a:r>
            <a:r>
              <a:rPr b="0" lang="en-US" sz="2000" spc="-1" strike="noStrike">
                <a:latin typeface="Arial"/>
              </a:rPr>
              <a:t>Duri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traini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perio</a:t>
            </a:r>
            <a:r>
              <a:rPr b="0" lang="en-US" sz="2000" spc="-1" strike="noStrike">
                <a:latin typeface="Arial"/>
              </a:rPr>
              <a:t>dicall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save </a:t>
            </a:r>
            <a:r>
              <a:rPr b="0" lang="en-US" sz="2000" spc="-1" strike="noStrike">
                <a:latin typeface="Arial"/>
              </a:rPr>
              <a:t>chec</a:t>
            </a:r>
            <a:r>
              <a:rPr b="0" lang="en-US" sz="2000" spc="-1" strike="noStrike">
                <a:latin typeface="Arial"/>
              </a:rPr>
              <a:t>kpoi</a:t>
            </a:r>
            <a:r>
              <a:rPr b="0" lang="en-US" sz="2000" spc="-1" strike="noStrike">
                <a:latin typeface="Arial"/>
              </a:rPr>
              <a:t>nts,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pract</a:t>
            </a:r>
            <a:r>
              <a:rPr b="0" lang="en-US" sz="2000" spc="-1" strike="noStrike">
                <a:latin typeface="Arial"/>
              </a:rPr>
              <a:t>ical </a:t>
            </a:r>
            <a:r>
              <a:rPr b="0" lang="en-US" sz="2000" spc="-1" strike="noStrike">
                <a:latin typeface="Arial"/>
              </a:rPr>
              <a:t>ques</a:t>
            </a:r>
            <a:r>
              <a:rPr b="0" lang="en-US" sz="2000" spc="-1" strike="noStrike">
                <a:latin typeface="Arial"/>
              </a:rPr>
              <a:t>tion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simpl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whic</a:t>
            </a:r>
            <a:r>
              <a:rPr b="0" lang="en-US" sz="2000" spc="-1" strike="noStrike">
                <a:latin typeface="Arial"/>
              </a:rPr>
              <a:t>h </a:t>
            </a:r>
            <a:r>
              <a:rPr b="0" lang="en-US" sz="2000" spc="-1" strike="noStrike">
                <a:latin typeface="Arial"/>
              </a:rPr>
              <a:t>chec</a:t>
            </a:r>
            <a:r>
              <a:rPr b="0" lang="en-US" sz="2000" spc="-1" strike="noStrike">
                <a:latin typeface="Arial"/>
              </a:rPr>
              <a:t>kpoi</a:t>
            </a:r>
            <a:r>
              <a:rPr b="0" lang="en-US" sz="2000" spc="-1" strike="noStrike">
                <a:latin typeface="Arial"/>
              </a:rPr>
              <a:t>nt to </a:t>
            </a:r>
            <a:r>
              <a:rPr b="0" lang="en-US" sz="2000" spc="-1" strike="noStrike">
                <a:latin typeface="Arial"/>
              </a:rPr>
              <a:t>keep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Cho</a:t>
            </a:r>
            <a:r>
              <a:rPr b="0" lang="en-US" sz="2000" spc="-1" strike="noStrike">
                <a:latin typeface="Arial"/>
              </a:rPr>
              <a:t>osin</a:t>
            </a:r>
            <a:r>
              <a:rPr b="0" lang="en-US" sz="2000" spc="-1" strike="noStrike">
                <a:latin typeface="Arial"/>
              </a:rPr>
              <a:t>g the </a:t>
            </a:r>
            <a:r>
              <a:rPr b="0" lang="en-US" sz="2000" spc="-1" strike="noStrike">
                <a:latin typeface="Arial"/>
              </a:rPr>
              <a:t>best </a:t>
            </a:r>
            <a:r>
              <a:rPr b="0" lang="en-US" sz="2000" spc="-1" strike="noStrike">
                <a:latin typeface="Arial"/>
              </a:rPr>
              <a:t>one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early </a:t>
            </a:r>
            <a:r>
              <a:rPr b="0" lang="en-US" sz="2000" spc="-1" strike="noStrike">
                <a:latin typeface="Arial"/>
              </a:rPr>
              <a:t>stop</a:t>
            </a:r>
            <a:r>
              <a:rPr b="0" lang="en-US" sz="2000" spc="-1" strike="noStrike">
                <a:latin typeface="Arial"/>
              </a:rPr>
              <a:t>ping,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doin</a:t>
            </a:r>
            <a:r>
              <a:rPr b="0" lang="en-US" sz="2000" spc="-1" strike="noStrike">
                <a:latin typeface="Arial"/>
              </a:rPr>
              <a:t>g it </a:t>
            </a:r>
            <a:r>
              <a:rPr b="0" lang="en-US" sz="2000" spc="-1" strike="noStrike">
                <a:latin typeface="Arial"/>
              </a:rPr>
              <a:t>well </a:t>
            </a:r>
            <a:r>
              <a:rPr b="0" lang="en-US" sz="2000" spc="-1" strike="noStrike">
                <a:latin typeface="Arial"/>
              </a:rPr>
              <a:t>need</a:t>
            </a:r>
            <a:r>
              <a:rPr b="0" lang="en-US" sz="2000" spc="-1" strike="noStrike">
                <a:latin typeface="Arial"/>
              </a:rPr>
              <a:t>s a </a:t>
            </a:r>
            <a:r>
              <a:rPr b="0" lang="en-US" sz="2000" spc="-1" strike="noStrike">
                <a:latin typeface="Arial"/>
              </a:rPr>
              <a:t>sign</a:t>
            </a:r>
            <a:r>
              <a:rPr b="0" lang="en-US" sz="2000" spc="-1" strike="noStrike">
                <a:latin typeface="Arial"/>
              </a:rPr>
              <a:t>al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predi</a:t>
            </a:r>
            <a:r>
              <a:rPr b="0" lang="en-US" sz="2000" spc="-1" strike="noStrike">
                <a:latin typeface="Arial"/>
              </a:rPr>
              <a:t>cts </a:t>
            </a:r>
            <a:r>
              <a:rPr b="0" lang="en-US" sz="2000" spc="-1" strike="noStrike">
                <a:latin typeface="Arial"/>
              </a:rPr>
              <a:t>real </a:t>
            </a:r>
            <a:r>
              <a:rPr b="0" lang="en-US" sz="2000" spc="-1" strike="noStrike">
                <a:latin typeface="Arial"/>
              </a:rPr>
              <a:t>robot </a:t>
            </a:r>
            <a:r>
              <a:rPr b="0" lang="en-US" sz="2000" spc="-1" strike="noStrike">
                <a:latin typeface="Arial"/>
              </a:rPr>
              <a:t>perfo</a:t>
            </a:r>
            <a:r>
              <a:rPr b="0" lang="en-US" sz="2000" spc="-1" strike="noStrike">
                <a:latin typeface="Arial"/>
              </a:rPr>
              <a:t>rman</a:t>
            </a:r>
            <a:r>
              <a:rPr b="0" lang="en-US" sz="2000" spc="-1" strike="noStrike">
                <a:latin typeface="Arial"/>
              </a:rPr>
              <a:t>ce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ideall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witho</a:t>
            </a:r>
            <a:r>
              <a:rPr b="0" lang="en-US" sz="2000" spc="-1" strike="noStrike">
                <a:latin typeface="Arial"/>
              </a:rPr>
              <a:t>ut </a:t>
            </a:r>
            <a:r>
              <a:rPr b="0" lang="en-US" sz="2000" spc="-1" strike="noStrike">
                <a:latin typeface="Arial"/>
              </a:rPr>
              <a:t>runni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robot </a:t>
            </a:r>
            <a:r>
              <a:rPr b="0" lang="en-US" sz="2000" spc="-1" strike="noStrike">
                <a:latin typeface="Arial"/>
              </a:rPr>
              <a:t>ever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time.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what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rest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talk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abou</a:t>
            </a:r>
            <a:r>
              <a:rPr b="0" lang="en-US" sz="2000" spc="-1" strike="noStrike">
                <a:latin typeface="Arial"/>
              </a:rPr>
              <a:t>t. </a:t>
            </a:r>
            <a:r>
              <a:rPr b="0" lang="en-US" sz="2000" spc="-1" strike="noStrike">
                <a:latin typeface="Arial"/>
              </a:rPr>
              <a:t>[~55</a:t>
            </a:r>
            <a:r>
              <a:rPr b="0" lang="en-US" sz="2000" spc="-1" strike="noStrike">
                <a:latin typeface="Arial"/>
              </a:rPr>
              <a:t>s]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1208A7-272B-4E07-B4CB-345E9314DDF8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VLAs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robo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versi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foun</a:t>
            </a:r>
            <a:r>
              <a:rPr b="0" lang="en-US" sz="2000" spc="-1" strike="noStrike">
                <a:latin typeface="Arial"/>
              </a:rPr>
              <a:t>dati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mod</a:t>
            </a:r>
            <a:r>
              <a:rPr b="0" lang="en-US" sz="2000" spc="-1" strike="noStrike">
                <a:latin typeface="Arial"/>
              </a:rPr>
              <a:t>els. </a:t>
            </a:r>
            <a:r>
              <a:rPr b="0" lang="en-US" sz="2000" spc="-1" strike="noStrike">
                <a:latin typeface="Arial"/>
              </a:rPr>
              <a:t>In </a:t>
            </a:r>
            <a:r>
              <a:rPr b="0" lang="en-US" sz="2000" spc="-1" strike="noStrike">
                <a:latin typeface="Arial"/>
              </a:rPr>
              <a:t>prac</a:t>
            </a:r>
            <a:r>
              <a:rPr b="0" lang="en-US" sz="2000" spc="-1" strike="noStrike">
                <a:latin typeface="Arial"/>
              </a:rPr>
              <a:t>tice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don't </a:t>
            </a:r>
            <a:r>
              <a:rPr b="0" lang="en-US" sz="2000" spc="-1" strike="noStrike">
                <a:latin typeface="Arial"/>
              </a:rPr>
              <a:t>train </a:t>
            </a:r>
            <a:r>
              <a:rPr b="0" lang="en-US" sz="2000" spc="-1" strike="noStrike">
                <a:latin typeface="Arial"/>
              </a:rPr>
              <a:t>from </a:t>
            </a:r>
            <a:r>
              <a:rPr b="0" lang="en-US" sz="2000" spc="-1" strike="noStrike">
                <a:latin typeface="Arial"/>
              </a:rPr>
              <a:t>scra</a:t>
            </a:r>
            <a:r>
              <a:rPr b="0" lang="en-US" sz="2000" spc="-1" strike="noStrike">
                <a:latin typeface="Arial"/>
              </a:rPr>
              <a:t>tch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fine-</a:t>
            </a:r>
            <a:r>
              <a:rPr b="0" lang="en-US" sz="2000" spc="-1" strike="noStrike">
                <a:latin typeface="Arial"/>
              </a:rPr>
              <a:t>tune </a:t>
            </a:r>
            <a:r>
              <a:rPr b="0" lang="en-US" sz="2000" spc="-1" strike="noStrike">
                <a:latin typeface="Arial"/>
              </a:rPr>
              <a:t>with </a:t>
            </a:r>
            <a:r>
              <a:rPr b="0" lang="en-US" sz="2000" spc="-1" strike="noStrike">
                <a:latin typeface="Arial"/>
              </a:rPr>
              <a:t>LoR</a:t>
            </a:r>
            <a:r>
              <a:rPr b="0" lang="en-US" sz="2000" spc="-1" strike="noStrike">
                <a:latin typeface="Arial"/>
              </a:rPr>
              <a:t>A.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prob</a:t>
            </a:r>
            <a:r>
              <a:rPr b="0" lang="en-US" sz="2000" spc="-1" strike="noStrike">
                <a:latin typeface="Arial"/>
              </a:rPr>
              <a:t>lem: </a:t>
            </a:r>
            <a:r>
              <a:rPr b="0" lang="en-US" sz="2000" spc="-1" strike="noStrike">
                <a:latin typeface="Arial"/>
              </a:rPr>
              <a:t>ever</a:t>
            </a:r>
            <a:r>
              <a:rPr b="0" lang="en-US" sz="2000" spc="-1" strike="noStrike">
                <a:latin typeface="Arial"/>
              </a:rPr>
              <a:t>yon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train</a:t>
            </a:r>
            <a:r>
              <a:rPr b="0" lang="en-US" sz="2000" spc="-1" strike="noStrike">
                <a:latin typeface="Arial"/>
              </a:rPr>
              <a:t>s for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fixed </a:t>
            </a:r>
            <a:r>
              <a:rPr b="0" lang="en-US" sz="2000" spc="-1" strike="noStrike">
                <a:latin typeface="Arial"/>
              </a:rPr>
              <a:t>num</a:t>
            </a:r>
            <a:r>
              <a:rPr b="0" lang="en-US" sz="2000" spc="-1" strike="noStrike">
                <a:latin typeface="Arial"/>
              </a:rPr>
              <a:t>ber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step</a:t>
            </a:r>
            <a:r>
              <a:rPr b="0" lang="en-US" sz="2000" spc="-1" strike="noStrike">
                <a:latin typeface="Arial"/>
              </a:rPr>
              <a:t>s, </a:t>
            </a:r>
            <a:r>
              <a:rPr b="0" lang="en-US" sz="2000" spc="-1" strike="noStrike">
                <a:latin typeface="Arial"/>
              </a:rPr>
              <a:t>with </a:t>
            </a:r>
            <a:r>
              <a:rPr b="0" lang="en-US" sz="2000" spc="-1" strike="noStrike">
                <a:latin typeface="Arial"/>
              </a:rPr>
              <a:t>no </a:t>
            </a:r>
            <a:r>
              <a:rPr b="0" lang="en-US" sz="2000" spc="-1" strike="noStrike">
                <a:latin typeface="Arial"/>
              </a:rPr>
              <a:t>prin</a:t>
            </a:r>
            <a:r>
              <a:rPr b="0" lang="en-US" sz="2000" spc="-1" strike="noStrike">
                <a:latin typeface="Arial"/>
              </a:rPr>
              <a:t>ciple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stop</a:t>
            </a:r>
            <a:r>
              <a:rPr b="0" lang="en-US" sz="2000" spc="-1" strike="noStrike">
                <a:latin typeface="Arial"/>
              </a:rPr>
              <a:t>ping </a:t>
            </a:r>
            <a:r>
              <a:rPr b="0" lang="en-US" sz="2000" spc="-1" strike="noStrike">
                <a:latin typeface="Arial"/>
              </a:rPr>
              <a:t>crite</a:t>
            </a:r>
            <a:r>
              <a:rPr b="0" lang="en-US" sz="2000" spc="-1" strike="noStrike">
                <a:latin typeface="Arial"/>
              </a:rPr>
              <a:t>rion.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opti</a:t>
            </a:r>
            <a:r>
              <a:rPr b="0" lang="en-US" sz="2000" spc="-1" strike="noStrike">
                <a:latin typeface="Arial"/>
              </a:rPr>
              <a:t>mu</a:t>
            </a:r>
            <a:r>
              <a:rPr b="0" lang="en-US" sz="2000" spc="-1" strike="noStrike">
                <a:latin typeface="Arial"/>
              </a:rPr>
              <a:t>m </a:t>
            </a:r>
            <a:r>
              <a:rPr b="0" lang="en-US" sz="2000" spc="-1" strike="noStrike">
                <a:latin typeface="Arial"/>
              </a:rPr>
              <a:t>isn't </a:t>
            </a:r>
            <a:r>
              <a:rPr b="0" lang="en-US" sz="2000" spc="-1" strike="noStrike">
                <a:latin typeface="Arial"/>
              </a:rPr>
              <a:t>fixed </a:t>
            </a:r>
            <a:r>
              <a:rPr b="0" lang="en-US" sz="2000" spc="-1" strike="noStrike">
                <a:latin typeface="Arial"/>
              </a:rPr>
              <a:t>— it </a:t>
            </a:r>
            <a:r>
              <a:rPr b="0" lang="en-US" sz="2000" spc="-1" strike="noStrike">
                <a:latin typeface="Arial"/>
              </a:rPr>
              <a:t>dep</a:t>
            </a:r>
            <a:r>
              <a:rPr b="0" lang="en-US" sz="2000" spc="-1" strike="noStrike">
                <a:latin typeface="Arial"/>
              </a:rPr>
              <a:t>end</a:t>
            </a:r>
            <a:r>
              <a:rPr b="0" lang="en-US" sz="2000" spc="-1" strike="noStrike">
                <a:latin typeface="Arial"/>
              </a:rPr>
              <a:t>s on </a:t>
            </a:r>
            <a:r>
              <a:rPr b="0" lang="en-US" sz="2000" spc="-1" strike="noStrike">
                <a:latin typeface="Arial"/>
              </a:rPr>
              <a:t>data </a:t>
            </a:r>
            <a:r>
              <a:rPr b="0" lang="en-US" sz="2000" spc="-1" strike="noStrike">
                <a:latin typeface="Arial"/>
              </a:rPr>
              <a:t>size, </a:t>
            </a:r>
            <a:r>
              <a:rPr b="0" lang="en-US" sz="2000" spc="-1" strike="noStrike">
                <a:latin typeface="Arial"/>
              </a:rPr>
              <a:t>LR, </a:t>
            </a:r>
            <a:r>
              <a:rPr b="0" lang="en-US" sz="2000" spc="-1" strike="noStrike">
                <a:latin typeface="Arial"/>
              </a:rPr>
              <a:t>batc</a:t>
            </a:r>
            <a:r>
              <a:rPr b="0" lang="en-US" sz="2000" spc="-1" strike="noStrike">
                <a:latin typeface="Arial"/>
              </a:rPr>
              <a:t>h </a:t>
            </a:r>
            <a:r>
              <a:rPr b="0" lang="en-US" sz="2000" spc="-1" strike="noStrike">
                <a:latin typeface="Arial"/>
              </a:rPr>
              <a:t>size.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tensi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right </a:t>
            </a:r>
            <a:r>
              <a:rPr b="0" lang="en-US" sz="2000" spc="-1" strike="noStrike">
                <a:latin typeface="Arial"/>
              </a:rPr>
              <a:t>fram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whol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thesi</a:t>
            </a:r>
            <a:r>
              <a:rPr b="0" lang="en-US" sz="2000" spc="-1" strike="noStrike">
                <a:latin typeface="Arial"/>
              </a:rPr>
              <a:t>s: </a:t>
            </a:r>
            <a:r>
              <a:rPr b="0" lang="en-US" sz="2000" spc="-1" strike="noStrike">
                <a:latin typeface="Arial"/>
              </a:rPr>
              <a:t>onlin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succ</a:t>
            </a:r>
            <a:r>
              <a:rPr b="0" lang="en-US" sz="2000" spc="-1" strike="noStrike">
                <a:latin typeface="Arial"/>
              </a:rPr>
              <a:t>ess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truth </a:t>
            </a:r>
            <a:r>
              <a:rPr b="0" lang="en-US" sz="2000" spc="-1" strike="noStrike">
                <a:latin typeface="Arial"/>
              </a:rPr>
              <a:t>but </a:t>
            </a:r>
            <a:r>
              <a:rPr b="0" lang="en-US" sz="2000" spc="-1" strike="noStrike">
                <a:latin typeface="Arial"/>
              </a:rPr>
              <a:t>too </a:t>
            </a:r>
            <a:r>
              <a:rPr b="0" lang="en-US" sz="2000" spc="-1" strike="noStrike">
                <a:latin typeface="Arial"/>
              </a:rPr>
              <a:t>exp</a:t>
            </a:r>
            <a:r>
              <a:rPr b="0" lang="en-US" sz="2000" spc="-1" strike="noStrike">
                <a:latin typeface="Arial"/>
              </a:rPr>
              <a:t>ensi</a:t>
            </a:r>
            <a:r>
              <a:rPr b="0" lang="en-US" sz="2000" spc="-1" strike="noStrike">
                <a:latin typeface="Arial"/>
              </a:rPr>
              <a:t>ve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mea</a:t>
            </a:r>
            <a:r>
              <a:rPr b="0" lang="en-US" sz="2000" spc="-1" strike="noStrike">
                <a:latin typeface="Arial"/>
              </a:rPr>
              <a:t>sure </a:t>
            </a:r>
            <a:r>
              <a:rPr b="0" lang="en-US" sz="2000" spc="-1" strike="noStrike">
                <a:latin typeface="Arial"/>
              </a:rPr>
              <a:t>ever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chec</a:t>
            </a:r>
            <a:r>
              <a:rPr b="0" lang="en-US" sz="2000" spc="-1" strike="noStrike">
                <a:latin typeface="Arial"/>
              </a:rPr>
              <a:t>kpoi</a:t>
            </a:r>
            <a:r>
              <a:rPr b="0" lang="en-US" sz="2000" spc="-1" strike="noStrike">
                <a:latin typeface="Arial"/>
              </a:rPr>
              <a:t>nt; </a:t>
            </a:r>
            <a:r>
              <a:rPr b="0" lang="en-US" sz="2000" spc="-1" strike="noStrike">
                <a:latin typeface="Arial"/>
              </a:rPr>
              <a:t>train</a:t>
            </a:r>
            <a:r>
              <a:rPr b="0" lang="en-US" sz="2000" spc="-1" strike="noStrike">
                <a:latin typeface="Arial"/>
              </a:rPr>
              <a:t>ing </a:t>
            </a:r>
            <a:r>
              <a:rPr b="0" lang="en-US" sz="2000" spc="-1" strike="noStrike">
                <a:latin typeface="Arial"/>
              </a:rPr>
              <a:t>loss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che</a:t>
            </a:r>
            <a:r>
              <a:rPr b="0" lang="en-US" sz="2000" spc="-1" strike="noStrike">
                <a:latin typeface="Arial"/>
              </a:rPr>
              <a:t>ap </a:t>
            </a:r>
            <a:r>
              <a:rPr b="0" lang="en-US" sz="2000" spc="-1" strike="noStrike">
                <a:latin typeface="Arial"/>
              </a:rPr>
              <a:t>but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bad </a:t>
            </a:r>
            <a:r>
              <a:rPr b="0" lang="en-US" sz="2000" spc="-1" strike="noStrike">
                <a:latin typeface="Arial"/>
              </a:rPr>
              <a:t>prox</a:t>
            </a:r>
            <a:r>
              <a:rPr b="0" lang="en-US" sz="2000" spc="-1" strike="noStrike">
                <a:latin typeface="Arial"/>
              </a:rPr>
              <a:t>y.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want </a:t>
            </a:r>
            <a:r>
              <a:rPr b="0" lang="en-US" sz="2000" spc="-1" strike="noStrike">
                <a:latin typeface="Arial"/>
              </a:rPr>
              <a:t>som</a:t>
            </a:r>
            <a:r>
              <a:rPr b="0" lang="en-US" sz="2000" spc="-1" strike="noStrike">
                <a:latin typeface="Arial"/>
              </a:rPr>
              <a:t>ethi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in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een. </a:t>
            </a:r>
            <a:r>
              <a:rPr b="0" lang="en-US" sz="2000" spc="-1" strike="noStrike">
                <a:latin typeface="Arial"/>
              </a:rPr>
              <a:t>[~1:</a:t>
            </a:r>
            <a:r>
              <a:rPr b="0" lang="en-US" sz="2000" spc="-1" strike="noStrike">
                <a:latin typeface="Arial"/>
              </a:rPr>
              <a:t>15]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F642D0-16D8-4837-B681-5F132F58372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Three </a:t>
            </a:r>
            <a:r>
              <a:rPr b="0" lang="en-US" sz="2000" spc="-1" strike="noStrike">
                <a:latin typeface="Arial"/>
              </a:rPr>
              <a:t>structural </a:t>
            </a:r>
            <a:r>
              <a:rPr b="0" lang="en-US" sz="2000" spc="-1" strike="noStrike">
                <a:latin typeface="Arial"/>
              </a:rPr>
              <a:t>reasons </a:t>
            </a:r>
            <a:r>
              <a:rPr b="0" lang="en-US" sz="2000" spc="-1" strike="noStrike">
                <a:latin typeface="Arial"/>
              </a:rPr>
              <a:t>loss fails. </a:t>
            </a:r>
            <a:r>
              <a:rPr b="0" lang="en-US" sz="2000" spc="-1" strike="noStrike">
                <a:latin typeface="Arial"/>
              </a:rPr>
              <a:t>One: it's </a:t>
            </a:r>
            <a:r>
              <a:rPr b="0" lang="en-US" sz="2000" spc="-1" strike="noStrike">
                <a:latin typeface="Arial"/>
              </a:rPr>
              <a:t>teacher-</a:t>
            </a:r>
            <a:r>
              <a:rPr b="0" lang="en-US" sz="2000" spc="-1" strike="noStrike">
                <a:latin typeface="Arial"/>
              </a:rPr>
              <a:t>forced and </a:t>
            </a:r>
            <a:r>
              <a:rPr b="0" lang="en-US" sz="2000" spc="-1" strike="noStrike">
                <a:latin typeface="Arial"/>
              </a:rPr>
              <a:t>per-step — </a:t>
            </a:r>
            <a:r>
              <a:rPr b="0" lang="en-US" sz="2000" spc="-1" strike="noStrike">
                <a:latin typeface="Arial"/>
              </a:rPr>
              <a:t>never a </a:t>
            </a:r>
            <a:r>
              <a:rPr b="0" lang="en-US" sz="2000" spc="-1" strike="noStrike">
                <a:latin typeface="Arial"/>
              </a:rPr>
              <a:t>rollout, so </a:t>
            </a:r>
            <a:r>
              <a:rPr b="0" lang="en-US" sz="2000" spc="-1" strike="noStrike">
                <a:latin typeface="Arial"/>
              </a:rPr>
              <a:t>blind to </a:t>
            </a:r>
            <a:r>
              <a:rPr b="0" lang="en-US" sz="2000" spc="-1" strike="noStrike">
                <a:latin typeface="Arial"/>
              </a:rPr>
              <a:t>compoundi</a:t>
            </a:r>
            <a:r>
              <a:rPr b="0" lang="en-US" sz="2000" spc="-1" strike="noStrike">
                <a:latin typeface="Arial"/>
              </a:rPr>
              <a:t>ng error. </a:t>
            </a:r>
            <a:r>
              <a:rPr b="0" lang="en-US" sz="2000" spc="-1" strike="noStrike">
                <a:latin typeface="Arial"/>
              </a:rPr>
              <a:t>Two: </a:t>
            </a:r>
            <a:r>
              <a:rPr b="0" lang="en-US" sz="2000" spc="-1" strike="noStrike">
                <a:latin typeface="Arial"/>
              </a:rPr>
              <a:t>empirically </a:t>
            </a:r>
            <a:r>
              <a:rPr b="0" lang="en-US" sz="2000" spc="-1" strike="noStrike">
                <a:latin typeface="Arial"/>
              </a:rPr>
              <a:t>it </a:t>
            </a:r>
            <a:r>
              <a:rPr b="0" lang="en-US" sz="2000" spc="-1" strike="noStrike">
                <a:latin typeface="Arial"/>
              </a:rPr>
              <a:t>correlates </a:t>
            </a:r>
            <a:r>
              <a:rPr b="0" lang="en-US" sz="2000" spc="-1" strike="noStrike">
                <a:latin typeface="Arial"/>
              </a:rPr>
              <a:t>weakly with </a:t>
            </a:r>
            <a:r>
              <a:rPr b="0" lang="en-US" sz="2000" spc="-1" strike="noStrike">
                <a:latin typeface="Arial"/>
              </a:rPr>
              <a:t>success in </a:t>
            </a:r>
            <a:r>
              <a:rPr b="0" lang="en-US" sz="2000" spc="-1" strike="noStrike">
                <a:latin typeface="Arial"/>
              </a:rPr>
              <a:t>BC. Three: </a:t>
            </a:r>
            <a:r>
              <a:rPr b="0" lang="en-US" sz="2000" spc="-1" strike="noStrike">
                <a:latin typeface="Arial"/>
              </a:rPr>
              <a:t>it's an </a:t>
            </a:r>
            <a:r>
              <a:rPr b="0" lang="en-US" sz="2000" spc="-1" strike="noStrike">
                <a:latin typeface="Arial"/>
              </a:rPr>
              <a:t>average, </a:t>
            </a:r>
            <a:r>
              <a:rPr b="0" lang="en-US" sz="2000" spc="-1" strike="noStrike">
                <a:latin typeface="Arial"/>
              </a:rPr>
              <a:t>so it can't </a:t>
            </a:r>
            <a:r>
              <a:rPr b="0" lang="en-US" sz="2000" spc="-1" strike="noStrike">
                <a:latin typeface="Arial"/>
              </a:rPr>
              <a:t>tell a </a:t>
            </a:r>
            <a:r>
              <a:rPr b="0" lang="en-US" sz="2000" spc="-1" strike="noStrike">
                <a:latin typeface="Arial"/>
              </a:rPr>
              <a:t>lagged-but-</a:t>
            </a:r>
            <a:r>
              <a:rPr b="0" lang="en-US" sz="2000" spc="-1" strike="noStrike">
                <a:latin typeface="Arial"/>
              </a:rPr>
              <a:t>smooth </a:t>
            </a:r>
            <a:r>
              <a:rPr b="0" lang="en-US" sz="2000" spc="-1" strike="noStrike">
                <a:latin typeface="Arial"/>
              </a:rPr>
              <a:t>motion </a:t>
            </a:r>
            <a:r>
              <a:rPr b="0" lang="en-US" sz="2000" spc="-1" strike="noStrike">
                <a:latin typeface="Arial"/>
              </a:rPr>
              <a:t>from a </a:t>
            </a:r>
            <a:r>
              <a:rPr b="0" lang="en-US" sz="2000" spc="-1" strike="noStrike">
                <a:latin typeface="Arial"/>
              </a:rPr>
              <a:t>jittery one.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consequen</a:t>
            </a:r>
            <a:r>
              <a:rPr b="0" lang="en-US" sz="2000" spc="-1" strike="noStrike">
                <a:latin typeface="Arial"/>
              </a:rPr>
              <a:t>ce, bottom, </a:t>
            </a:r>
            <a:r>
              <a:rPr b="0" lang="en-US" sz="2000" spc="-1" strike="noStrike">
                <a:latin typeface="Arial"/>
              </a:rPr>
              <a:t>is that </a:t>
            </a:r>
            <a:r>
              <a:rPr b="0" lang="en-US" sz="2000" spc="-1" strike="noStrike">
                <a:latin typeface="Arial"/>
              </a:rPr>
              <a:t>stopping </a:t>
            </a:r>
            <a:r>
              <a:rPr b="0" lang="en-US" sz="2000" spc="-1" strike="noStrike">
                <a:latin typeface="Arial"/>
              </a:rPr>
              <a:t>on loss </a:t>
            </a:r>
            <a:r>
              <a:rPr b="0" lang="en-US" sz="2000" spc="-1" strike="noStrike">
                <a:latin typeface="Arial"/>
              </a:rPr>
              <a:t>forgoes </a:t>
            </a:r>
            <a:r>
              <a:rPr b="0" lang="en-US" sz="2000" spc="-1" strike="noStrike">
                <a:latin typeface="Arial"/>
              </a:rPr>
              <a:t>real </a:t>
            </a:r>
            <a:r>
              <a:rPr b="0" lang="en-US" sz="2000" spc="-1" strike="noStrike">
                <a:latin typeface="Arial"/>
              </a:rPr>
              <a:t>success — </a:t>
            </a:r>
            <a:r>
              <a:rPr b="0" lang="en-US" sz="2000" spc="-1" strike="noStrike">
                <a:latin typeface="Arial"/>
              </a:rPr>
              <a:t>I quantify </a:t>
            </a:r>
            <a:r>
              <a:rPr b="0" lang="en-US" sz="2000" spc="-1" strike="noStrike">
                <a:latin typeface="Arial"/>
              </a:rPr>
              <a:t>that as </a:t>
            </a:r>
            <a:r>
              <a:rPr b="0" lang="en-US" sz="2000" spc="-1" strike="noStrike">
                <a:latin typeface="Arial"/>
              </a:rPr>
              <a:t>selection </a:t>
            </a:r>
            <a:r>
              <a:rPr b="0" lang="en-US" sz="2000" spc="-1" strike="noStrike">
                <a:latin typeface="Arial"/>
              </a:rPr>
              <a:t>regret. </a:t>
            </a:r>
            <a:r>
              <a:rPr b="0" lang="en-US" sz="2000" spc="-1" strike="noStrike">
                <a:latin typeface="Arial"/>
              </a:rPr>
              <a:t>[~1:10]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6EE9C0-B4A1-48BC-898C-BE3AFD27C17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key </a:t>
            </a:r>
            <a:r>
              <a:rPr b="0" lang="en-US" sz="2000" spc="-1" strike="noStrike">
                <a:latin typeface="Arial"/>
              </a:rPr>
              <a:t>idea: </a:t>
            </a:r>
            <a:r>
              <a:rPr b="0" lang="en-US" sz="2000" spc="-1" strike="noStrike">
                <a:latin typeface="Arial"/>
              </a:rPr>
              <a:t>chun</a:t>
            </a:r>
            <a:r>
              <a:rPr b="0" lang="en-US" sz="2000" spc="-1" strike="noStrike">
                <a:latin typeface="Arial"/>
              </a:rPr>
              <a:t>king </a:t>
            </a:r>
            <a:r>
              <a:rPr b="0" lang="en-US" sz="2000" spc="-1" strike="noStrike">
                <a:latin typeface="Arial"/>
              </a:rPr>
              <a:t>VLA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outp</a:t>
            </a:r>
            <a:r>
              <a:rPr b="0" lang="en-US" sz="2000" spc="-1" strike="noStrike">
                <a:latin typeface="Arial"/>
              </a:rPr>
              <a:t>ut a </a:t>
            </a:r>
            <a:r>
              <a:rPr b="0" lang="en-US" sz="2000" spc="-1" strike="noStrike">
                <a:latin typeface="Arial"/>
              </a:rPr>
              <a:t>sequ</a:t>
            </a:r>
            <a:r>
              <a:rPr b="0" lang="en-US" sz="2000" spc="-1" strike="noStrike">
                <a:latin typeface="Arial"/>
              </a:rPr>
              <a:t>ence</a:t>
            </a:r>
            <a:r>
              <a:rPr b="0" lang="en-US" sz="2000" spc="-1" strike="noStrike">
                <a:latin typeface="Arial"/>
              </a:rPr>
              <a:t>, so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can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pare </a:t>
            </a:r>
            <a:r>
              <a:rPr b="0" lang="en-US" sz="2000" spc="-1" strike="noStrike">
                <a:latin typeface="Arial"/>
              </a:rPr>
              <a:t>traje</a:t>
            </a:r>
            <a:r>
              <a:rPr b="0" lang="en-US" sz="2000" spc="-1" strike="noStrike">
                <a:latin typeface="Arial"/>
              </a:rPr>
              <a:t>ctory </a:t>
            </a:r>
            <a:r>
              <a:rPr b="0" lang="en-US" sz="2000" spc="-1" strike="noStrike">
                <a:latin typeface="Arial"/>
              </a:rPr>
              <a:t>seg</a:t>
            </a:r>
            <a:r>
              <a:rPr b="0" lang="en-US" sz="2000" spc="-1" strike="noStrike">
                <a:latin typeface="Arial"/>
              </a:rPr>
              <a:t>ment</a:t>
            </a:r>
            <a:r>
              <a:rPr b="0" lang="en-US" sz="2000" spc="-1" strike="noStrike">
                <a:latin typeface="Arial"/>
              </a:rPr>
              <a:t>s, </a:t>
            </a:r>
            <a:r>
              <a:rPr b="0" lang="en-US" sz="2000" spc="-1" strike="noStrike">
                <a:latin typeface="Arial"/>
              </a:rPr>
              <a:t>not </a:t>
            </a:r>
            <a:r>
              <a:rPr b="0" lang="en-US" sz="2000" spc="-1" strike="noStrike">
                <a:latin typeface="Arial"/>
              </a:rPr>
              <a:t>step</a:t>
            </a:r>
            <a:r>
              <a:rPr b="0" lang="en-US" sz="2000" spc="-1" strike="noStrike">
                <a:latin typeface="Arial"/>
              </a:rPr>
              <a:t>s. </a:t>
            </a:r>
            <a:r>
              <a:rPr b="0" lang="en-US" sz="2000" spc="-1" strike="noStrike">
                <a:latin typeface="Arial"/>
              </a:rPr>
              <a:t>Four </a:t>
            </a:r>
            <a:r>
              <a:rPr b="0" lang="en-US" sz="2000" spc="-1" strike="noStrike">
                <a:latin typeface="Arial"/>
              </a:rPr>
              <a:t>cand</a:t>
            </a:r>
            <a:r>
              <a:rPr b="0" lang="en-US" sz="2000" spc="-1" strike="noStrike">
                <a:latin typeface="Arial"/>
              </a:rPr>
              <a:t>idate </a:t>
            </a:r>
            <a:r>
              <a:rPr b="0" lang="en-US" sz="2000" spc="-1" strike="noStrike">
                <a:latin typeface="Arial"/>
              </a:rPr>
              <a:t>metri</a:t>
            </a:r>
            <a:r>
              <a:rPr b="0" lang="en-US" sz="2000" spc="-1" strike="noStrike">
                <a:latin typeface="Arial"/>
              </a:rPr>
              <a:t>cs. </a:t>
            </a:r>
            <a:r>
              <a:rPr b="0" lang="en-US" sz="2000" spc="-1" strike="noStrike">
                <a:latin typeface="Arial"/>
              </a:rPr>
              <a:t>DTW </a:t>
            </a:r>
            <a:r>
              <a:rPr b="0" lang="en-US" sz="2000" spc="-1" strike="noStrike">
                <a:latin typeface="Arial"/>
              </a:rPr>
              <a:t>align</a:t>
            </a:r>
            <a:r>
              <a:rPr b="0" lang="en-US" sz="2000" spc="-1" strike="noStrike">
                <a:latin typeface="Arial"/>
              </a:rPr>
              <a:t>s in </a:t>
            </a:r>
            <a:r>
              <a:rPr b="0" lang="en-US" sz="2000" spc="-1" strike="noStrike">
                <a:latin typeface="Arial"/>
              </a:rPr>
              <a:t>time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forgi</a:t>
            </a:r>
            <a:r>
              <a:rPr b="0" lang="en-US" sz="2000" spc="-1" strike="noStrike">
                <a:latin typeface="Arial"/>
              </a:rPr>
              <a:t>ves </a:t>
            </a:r>
            <a:r>
              <a:rPr b="0" lang="en-US" sz="2000" spc="-1" strike="noStrike">
                <a:latin typeface="Arial"/>
              </a:rPr>
              <a:t>pace</a:t>
            </a:r>
            <a:r>
              <a:rPr b="0" lang="en-US" sz="2000" spc="-1" strike="noStrike">
                <a:latin typeface="Arial"/>
              </a:rPr>
              <a:t>. OT </a:t>
            </a:r>
            <a:r>
              <a:rPr b="0" lang="en-US" sz="2000" spc="-1" strike="noStrike">
                <a:latin typeface="Arial"/>
              </a:rPr>
              <a:t>matc</a:t>
            </a:r>
            <a:r>
              <a:rPr b="0" lang="en-US" sz="2000" spc="-1" strike="noStrike">
                <a:latin typeface="Arial"/>
              </a:rPr>
              <a:t>hes </a:t>
            </a:r>
            <a:r>
              <a:rPr b="0" lang="en-US" sz="2000" spc="-1" strike="noStrike">
                <a:latin typeface="Arial"/>
              </a:rPr>
              <a:t>wayp</a:t>
            </a:r>
            <a:r>
              <a:rPr b="0" lang="en-US" sz="2000" spc="-1" strike="noStrike">
                <a:latin typeface="Arial"/>
              </a:rPr>
              <a:t>oint </a:t>
            </a:r>
            <a:r>
              <a:rPr b="0" lang="en-US" sz="2000" spc="-1" strike="noStrike">
                <a:latin typeface="Arial"/>
              </a:rPr>
              <a:t>distri</a:t>
            </a:r>
            <a:r>
              <a:rPr b="0" lang="en-US" sz="2000" spc="-1" strike="noStrike">
                <a:latin typeface="Arial"/>
              </a:rPr>
              <a:t>butio</a:t>
            </a:r>
            <a:r>
              <a:rPr b="0" lang="en-US" sz="2000" spc="-1" strike="noStrike">
                <a:latin typeface="Arial"/>
              </a:rPr>
              <a:t>ns, a </a:t>
            </a:r>
            <a:r>
              <a:rPr b="0" lang="en-US" sz="2000" spc="-1" strike="noStrike">
                <a:latin typeface="Arial"/>
              </a:rPr>
              <a:t>true </a:t>
            </a:r>
            <a:r>
              <a:rPr b="0" lang="en-US" sz="2000" spc="-1" strike="noStrike">
                <a:latin typeface="Arial"/>
              </a:rPr>
              <a:t>metri</a:t>
            </a:r>
            <a:r>
              <a:rPr b="0" lang="en-US" sz="2000" spc="-1" strike="noStrike">
                <a:latin typeface="Arial"/>
              </a:rPr>
              <a:t>c. </a:t>
            </a:r>
            <a:r>
              <a:rPr b="0" lang="en-US" sz="2000" spc="-1" strike="noStrike">
                <a:latin typeface="Arial"/>
              </a:rPr>
              <a:t>Cosi</a:t>
            </a:r>
            <a:r>
              <a:rPr b="0" lang="en-US" sz="2000" spc="-1" strike="noStrike">
                <a:latin typeface="Arial"/>
              </a:rPr>
              <a:t>ne is </a:t>
            </a:r>
            <a:r>
              <a:rPr b="0" lang="en-US" sz="2000" spc="-1" strike="noStrike">
                <a:latin typeface="Arial"/>
              </a:rPr>
              <a:t>chea</a:t>
            </a:r>
            <a:r>
              <a:rPr b="0" lang="en-US" sz="2000" spc="-1" strike="noStrike">
                <a:latin typeface="Arial"/>
              </a:rPr>
              <a:t>p </a:t>
            </a:r>
            <a:r>
              <a:rPr b="0" lang="en-US" sz="2000" spc="-1" strike="noStrike">
                <a:latin typeface="Arial"/>
              </a:rPr>
              <a:t>direc</a:t>
            </a:r>
            <a:r>
              <a:rPr b="0" lang="en-US" sz="2000" spc="-1" strike="noStrike">
                <a:latin typeface="Arial"/>
              </a:rPr>
              <a:t>tiona</a:t>
            </a:r>
            <a:r>
              <a:rPr b="0" lang="en-US" sz="2000" spc="-1" strike="noStrike">
                <a:latin typeface="Arial"/>
              </a:rPr>
              <a:t>l </a:t>
            </a:r>
            <a:r>
              <a:rPr b="0" lang="en-US" sz="2000" spc="-1" strike="noStrike">
                <a:latin typeface="Arial"/>
              </a:rPr>
              <a:t>agre</a:t>
            </a:r>
            <a:r>
              <a:rPr b="0" lang="en-US" sz="2000" spc="-1" strike="noStrike">
                <a:latin typeface="Arial"/>
              </a:rPr>
              <a:t>eme</a:t>
            </a:r>
            <a:r>
              <a:rPr b="0" lang="en-US" sz="2000" spc="-1" strike="noStrike">
                <a:latin typeface="Arial"/>
              </a:rPr>
              <a:t>nt, </a:t>
            </a:r>
            <a:r>
              <a:rPr b="0" lang="en-US" sz="2000" spc="-1" strike="noStrike">
                <a:latin typeface="Arial"/>
              </a:rPr>
              <a:t>mag</a:t>
            </a:r>
            <a:r>
              <a:rPr b="0" lang="en-US" sz="2000" spc="-1" strike="noStrike">
                <a:latin typeface="Arial"/>
              </a:rPr>
              <a:t>nitud</a:t>
            </a:r>
            <a:r>
              <a:rPr b="0" lang="en-US" sz="2000" spc="-1" strike="noStrike">
                <a:latin typeface="Arial"/>
              </a:rPr>
              <a:t>e-</a:t>
            </a:r>
            <a:r>
              <a:rPr b="0" lang="en-US" sz="2000" spc="-1" strike="noStrike">
                <a:latin typeface="Arial"/>
              </a:rPr>
              <a:t>blind</a:t>
            </a:r>
            <a:r>
              <a:rPr b="0" lang="en-US" sz="2000" spc="-1" strike="noStrike">
                <a:latin typeface="Arial"/>
              </a:rPr>
              <a:t>, so </a:t>
            </a:r>
            <a:r>
              <a:rPr b="0" lang="en-US" sz="2000" spc="-1" strike="noStrike">
                <a:latin typeface="Arial"/>
              </a:rPr>
              <a:t>only </a:t>
            </a:r>
            <a:r>
              <a:rPr b="0" lang="en-US" sz="2000" spc="-1" strike="noStrike">
                <a:latin typeface="Arial"/>
              </a:rPr>
              <a:t>ever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pani</a:t>
            </a:r>
            <a:r>
              <a:rPr b="0" lang="en-US" sz="2000" spc="-1" strike="noStrike">
                <a:latin typeface="Arial"/>
              </a:rPr>
              <a:t>on. </a:t>
            </a:r>
            <a:r>
              <a:rPr b="0" lang="en-US" sz="2000" spc="-1" strike="noStrike">
                <a:latin typeface="Arial"/>
              </a:rPr>
              <a:t>NLL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prob</a:t>
            </a:r>
            <a:r>
              <a:rPr b="0" lang="en-US" sz="2000" spc="-1" strike="noStrike">
                <a:latin typeface="Arial"/>
              </a:rPr>
              <a:t>abilis</a:t>
            </a:r>
            <a:r>
              <a:rPr b="0" lang="en-US" sz="2000" spc="-1" strike="noStrike">
                <a:latin typeface="Arial"/>
              </a:rPr>
              <a:t>tic </a:t>
            </a:r>
            <a:r>
              <a:rPr b="0" lang="en-US" sz="2000" spc="-1" strike="noStrike">
                <a:latin typeface="Arial"/>
              </a:rPr>
              <a:t>one, </a:t>
            </a:r>
            <a:r>
              <a:rPr b="0" lang="en-US" sz="2000" spc="-1" strike="noStrike">
                <a:latin typeface="Arial"/>
              </a:rPr>
              <a:t>but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surro</a:t>
            </a:r>
            <a:r>
              <a:rPr b="0" lang="en-US" sz="2000" spc="-1" strike="noStrike">
                <a:latin typeface="Arial"/>
              </a:rPr>
              <a:t>gate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archi</a:t>
            </a:r>
            <a:r>
              <a:rPr b="0" lang="en-US" sz="2000" spc="-1" strike="noStrike">
                <a:latin typeface="Arial"/>
              </a:rPr>
              <a:t>tectu</a:t>
            </a:r>
            <a:r>
              <a:rPr b="0" lang="en-US" sz="2000" spc="-1" strike="noStrike">
                <a:latin typeface="Arial"/>
              </a:rPr>
              <a:t>re-</a:t>
            </a:r>
            <a:r>
              <a:rPr b="0" lang="en-US" sz="2000" spc="-1" strike="noStrike">
                <a:latin typeface="Arial"/>
              </a:rPr>
              <a:t>depe</a:t>
            </a:r>
            <a:r>
              <a:rPr b="0" lang="en-US" sz="2000" spc="-1" strike="noStrike">
                <a:latin typeface="Arial"/>
              </a:rPr>
              <a:t>nden</a:t>
            </a:r>
            <a:r>
              <a:rPr b="0" lang="en-US" sz="2000" spc="-1" strike="noStrike">
                <a:latin typeface="Arial"/>
              </a:rPr>
              <a:t>t — </a:t>
            </a:r>
            <a:r>
              <a:rPr b="0" lang="en-US" sz="2000" spc="-1" strike="noStrike">
                <a:latin typeface="Arial"/>
              </a:rPr>
              <a:t>reme</a:t>
            </a:r>
            <a:r>
              <a:rPr b="0" lang="en-US" sz="2000" spc="-1" strike="noStrike">
                <a:latin typeface="Arial"/>
              </a:rPr>
              <a:t>mber </a:t>
            </a:r>
            <a:r>
              <a:rPr b="0" lang="en-US" sz="2000" spc="-1" strike="noStrike">
                <a:latin typeface="Arial"/>
              </a:rPr>
              <a:t>that, </a:t>
            </a:r>
            <a:r>
              <a:rPr b="0" lang="en-US" sz="2000" spc="-1" strike="noStrike">
                <a:latin typeface="Arial"/>
              </a:rPr>
              <a:t>it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back </a:t>
            </a:r>
            <a:r>
              <a:rPr b="0" lang="en-US" sz="2000" spc="-1" strike="noStrike">
                <a:latin typeface="Arial"/>
              </a:rPr>
              <a:t>in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resul</a:t>
            </a:r>
            <a:r>
              <a:rPr b="0" lang="en-US" sz="2000" spc="-1" strike="noStrike">
                <a:latin typeface="Arial"/>
              </a:rPr>
              <a:t>ts. </a:t>
            </a:r>
            <a:r>
              <a:rPr b="0" lang="en-US" sz="2000" spc="-1" strike="noStrike">
                <a:latin typeface="Arial"/>
              </a:rPr>
              <a:t>L1/L</a:t>
            </a:r>
            <a:r>
              <a:rPr b="0" lang="en-US" sz="2000" spc="-1" strike="noStrike">
                <a:latin typeface="Arial"/>
              </a:rPr>
              <a:t>2 are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base</a:t>
            </a:r>
            <a:r>
              <a:rPr b="0" lang="en-US" sz="2000" spc="-1" strike="noStrike">
                <a:latin typeface="Arial"/>
              </a:rPr>
              <a:t>line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geo</a:t>
            </a:r>
            <a:r>
              <a:rPr b="0" lang="en-US" sz="2000" spc="-1" strike="noStrike">
                <a:latin typeface="Arial"/>
              </a:rPr>
              <a:t>metri</a:t>
            </a:r>
            <a:r>
              <a:rPr b="0" lang="en-US" sz="2000" spc="-1" strike="noStrike">
                <a:latin typeface="Arial"/>
              </a:rPr>
              <a:t>c </a:t>
            </a:r>
            <a:r>
              <a:rPr b="0" lang="en-US" sz="2000" spc="-1" strike="noStrike">
                <a:latin typeface="Arial"/>
              </a:rPr>
              <a:t>metri</a:t>
            </a:r>
            <a:r>
              <a:rPr b="0" lang="en-US" sz="2000" spc="-1" strike="noStrike">
                <a:latin typeface="Arial"/>
              </a:rPr>
              <a:t>cs </a:t>
            </a:r>
            <a:r>
              <a:rPr b="0" lang="en-US" sz="2000" spc="-1" strike="noStrike">
                <a:latin typeface="Arial"/>
              </a:rPr>
              <a:t>must </a:t>
            </a:r>
            <a:r>
              <a:rPr b="0" lang="en-US" sz="2000" spc="-1" strike="noStrike">
                <a:latin typeface="Arial"/>
              </a:rPr>
              <a:t>beat. </a:t>
            </a:r>
            <a:r>
              <a:rPr b="0" lang="en-US" sz="2000" spc="-1" strike="noStrike">
                <a:latin typeface="Arial"/>
              </a:rPr>
              <a:t>[~1:2</a:t>
            </a:r>
            <a:r>
              <a:rPr b="0" lang="en-US" sz="2000" spc="-1" strike="noStrike">
                <a:latin typeface="Arial"/>
              </a:rPr>
              <a:t>0]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5E087A-4529-42AE-9A3E-37CAE23651F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met</a:t>
            </a:r>
            <a:r>
              <a:rPr b="0" lang="en-US" sz="2000" spc="-1" strike="noStrike">
                <a:latin typeface="Arial"/>
              </a:rPr>
              <a:t>hod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thre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step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appli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iden</a:t>
            </a:r>
            <a:r>
              <a:rPr b="0" lang="en-US" sz="2000" spc="-1" strike="noStrike">
                <a:latin typeface="Arial"/>
              </a:rPr>
              <a:t>ticall</a:t>
            </a:r>
            <a:r>
              <a:rPr b="0" lang="en-US" sz="2000" spc="-1" strike="noStrike">
                <a:latin typeface="Arial"/>
              </a:rPr>
              <a:t>y to </a:t>
            </a:r>
            <a:r>
              <a:rPr b="0" lang="en-US" sz="2000" spc="-1" strike="noStrike">
                <a:latin typeface="Arial"/>
              </a:rPr>
              <a:t>ever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chec</a:t>
            </a:r>
            <a:r>
              <a:rPr b="0" lang="en-US" sz="2000" spc="-1" strike="noStrike">
                <a:latin typeface="Arial"/>
              </a:rPr>
              <a:t>kpoi</a:t>
            </a:r>
            <a:r>
              <a:rPr b="0" lang="en-US" sz="2000" spc="-1" strike="noStrike">
                <a:latin typeface="Arial"/>
              </a:rPr>
              <a:t>nt. </a:t>
            </a:r>
            <a:r>
              <a:rPr b="0" lang="en-US" sz="2000" spc="-1" strike="noStrike">
                <a:latin typeface="Arial"/>
              </a:rPr>
              <a:t>One</a:t>
            </a:r>
            <a:r>
              <a:rPr b="0" lang="en-US" sz="2000" spc="-1" strike="noStrike">
                <a:latin typeface="Arial"/>
              </a:rPr>
              <a:t>: </a:t>
            </a:r>
            <a:r>
              <a:rPr b="0" lang="en-US" sz="2000" spc="-1" strike="noStrike">
                <a:latin typeface="Arial"/>
              </a:rPr>
              <a:t>scor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eac</a:t>
            </a:r>
            <a:r>
              <a:rPr b="0" lang="en-US" sz="2000" spc="-1" strike="noStrike">
                <a:latin typeface="Arial"/>
              </a:rPr>
              <a:t>h </a:t>
            </a:r>
            <a:r>
              <a:rPr b="0" lang="en-US" sz="2000" spc="-1" strike="noStrike">
                <a:latin typeface="Arial"/>
              </a:rPr>
              <a:t>chec</a:t>
            </a:r>
            <a:r>
              <a:rPr b="0" lang="en-US" sz="2000" spc="-1" strike="noStrike">
                <a:latin typeface="Arial"/>
              </a:rPr>
              <a:t>kpoi</a:t>
            </a:r>
            <a:r>
              <a:rPr b="0" lang="en-US" sz="2000" spc="-1" strike="noStrike">
                <a:latin typeface="Arial"/>
              </a:rPr>
              <a:t>nt </a:t>
            </a:r>
            <a:r>
              <a:rPr b="0" lang="en-US" sz="2000" spc="-1" strike="noStrike">
                <a:latin typeface="Arial"/>
              </a:rPr>
              <a:t>with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metr</a:t>
            </a:r>
            <a:r>
              <a:rPr b="0" lang="en-US" sz="2000" spc="-1" strike="noStrike">
                <a:latin typeface="Arial"/>
              </a:rPr>
              <a:t>ic on </a:t>
            </a:r>
            <a:r>
              <a:rPr b="0" lang="en-US" sz="2000" spc="-1" strike="noStrike">
                <a:latin typeface="Arial"/>
              </a:rPr>
              <a:t>held</a:t>
            </a:r>
            <a:r>
              <a:rPr b="0" lang="en-US" sz="2000" spc="-1" strike="noStrike">
                <a:latin typeface="Arial"/>
              </a:rPr>
              <a:t>-out </a:t>
            </a:r>
            <a:r>
              <a:rPr b="0" lang="en-US" sz="2000" spc="-1" strike="noStrike">
                <a:latin typeface="Arial"/>
              </a:rPr>
              <a:t>data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Two: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earl</a:t>
            </a:r>
            <a:r>
              <a:rPr b="0" lang="en-US" sz="2000" spc="-1" strike="noStrike">
                <a:latin typeface="Arial"/>
              </a:rPr>
              <a:t>y-</a:t>
            </a:r>
            <a:r>
              <a:rPr b="0" lang="en-US" sz="2000" spc="-1" strike="noStrike">
                <a:latin typeface="Arial"/>
              </a:rPr>
              <a:t>stop</a:t>
            </a:r>
            <a:r>
              <a:rPr b="0" lang="en-US" sz="2000" spc="-1" strike="noStrike">
                <a:latin typeface="Arial"/>
              </a:rPr>
              <a:t>ping </a:t>
            </a:r>
            <a:r>
              <a:rPr b="0" lang="en-US" sz="2000" spc="-1" strike="noStrike">
                <a:latin typeface="Arial"/>
              </a:rPr>
              <a:t>rule </a:t>
            </a:r>
            <a:r>
              <a:rPr b="0" lang="en-US" sz="2000" spc="-1" strike="noStrike">
                <a:latin typeface="Arial"/>
              </a:rPr>
              <a:t>turn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curv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into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singl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choi</a:t>
            </a:r>
            <a:r>
              <a:rPr b="0" lang="en-US" sz="2000" spc="-1" strike="noStrike">
                <a:latin typeface="Arial"/>
              </a:rPr>
              <a:t>ce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earli</a:t>
            </a:r>
            <a:r>
              <a:rPr b="0" lang="en-US" sz="2000" spc="-1" strike="noStrike">
                <a:latin typeface="Arial"/>
              </a:rPr>
              <a:t>est </a:t>
            </a:r>
            <a:r>
              <a:rPr b="0" lang="en-US" sz="2000" spc="-1" strike="noStrike">
                <a:latin typeface="Arial"/>
              </a:rPr>
              <a:t>chec</a:t>
            </a:r>
            <a:r>
              <a:rPr b="0" lang="en-US" sz="2000" spc="-1" strike="noStrike">
                <a:latin typeface="Arial"/>
              </a:rPr>
              <a:t>kpoi</a:t>
            </a:r>
            <a:r>
              <a:rPr b="0" lang="en-US" sz="2000" spc="-1" strike="noStrike">
                <a:latin typeface="Arial"/>
              </a:rPr>
              <a:t>nt </a:t>
            </a:r>
            <a:r>
              <a:rPr b="0" lang="en-US" sz="2000" spc="-1" strike="noStrike">
                <a:latin typeface="Arial"/>
              </a:rPr>
              <a:t>withi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1%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best </a:t>
            </a:r>
            <a:r>
              <a:rPr b="0" lang="en-US" sz="2000" spc="-1" strike="noStrike">
                <a:latin typeface="Arial"/>
              </a:rPr>
              <a:t>valu</a:t>
            </a:r>
            <a:r>
              <a:rPr b="0" lang="en-US" sz="2000" spc="-1" strike="noStrike">
                <a:latin typeface="Arial"/>
              </a:rPr>
              <a:t>e, </a:t>
            </a:r>
            <a:r>
              <a:rPr b="0" lang="en-US" sz="2000" spc="-1" strike="noStrike">
                <a:latin typeface="Arial"/>
              </a:rPr>
              <a:t>so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don't </a:t>
            </a:r>
            <a:r>
              <a:rPr b="0" lang="en-US" sz="2000" spc="-1" strike="noStrike">
                <a:latin typeface="Arial"/>
              </a:rPr>
              <a:t>chas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one </a:t>
            </a:r>
            <a:r>
              <a:rPr b="0" lang="en-US" sz="2000" spc="-1" strike="noStrike">
                <a:latin typeface="Arial"/>
              </a:rPr>
              <a:t>nois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mini</a:t>
            </a:r>
            <a:r>
              <a:rPr b="0" lang="en-US" sz="2000" spc="-1" strike="noStrike">
                <a:latin typeface="Arial"/>
              </a:rPr>
              <a:t>mu</a:t>
            </a:r>
            <a:r>
              <a:rPr b="0" lang="en-US" sz="2000" spc="-1" strike="noStrike">
                <a:latin typeface="Arial"/>
              </a:rPr>
              <a:t>m. </a:t>
            </a:r>
            <a:r>
              <a:rPr b="0" lang="en-US" sz="2000" spc="-1" strike="noStrike">
                <a:latin typeface="Arial"/>
              </a:rPr>
              <a:t>Thre</a:t>
            </a:r>
            <a:r>
              <a:rPr b="0" lang="en-US" sz="2000" spc="-1" strike="noStrike">
                <a:latin typeface="Arial"/>
              </a:rPr>
              <a:t>e: </a:t>
            </a:r>
            <a:r>
              <a:rPr b="0" lang="en-US" sz="2000" spc="-1" strike="noStrike">
                <a:latin typeface="Arial"/>
              </a:rPr>
              <a:t>judg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eac</a:t>
            </a:r>
            <a:r>
              <a:rPr b="0" lang="en-US" sz="2000" spc="-1" strike="noStrike">
                <a:latin typeface="Arial"/>
              </a:rPr>
              <a:t>h </a:t>
            </a:r>
            <a:r>
              <a:rPr b="0" lang="en-US" sz="2000" spc="-1" strike="noStrike">
                <a:latin typeface="Arial"/>
              </a:rPr>
              <a:t>metr</a:t>
            </a:r>
            <a:r>
              <a:rPr b="0" lang="en-US" sz="2000" spc="-1" strike="noStrike">
                <a:latin typeface="Arial"/>
              </a:rPr>
              <a:t>ic </a:t>
            </a:r>
            <a:r>
              <a:rPr b="0" lang="en-US" sz="2000" spc="-1" strike="noStrike">
                <a:latin typeface="Arial"/>
              </a:rPr>
              <a:t>agai</a:t>
            </a:r>
            <a:r>
              <a:rPr b="0" lang="en-US" sz="2000" spc="-1" strike="noStrike">
                <a:latin typeface="Arial"/>
              </a:rPr>
              <a:t>nst </a:t>
            </a:r>
            <a:r>
              <a:rPr b="0" lang="en-US" sz="2000" spc="-1" strike="noStrike">
                <a:latin typeface="Arial"/>
              </a:rPr>
              <a:t>true </a:t>
            </a:r>
            <a:r>
              <a:rPr b="0" lang="en-US" sz="2000" spc="-1" strike="noStrike">
                <a:latin typeface="Arial"/>
              </a:rPr>
              <a:t>succ</a:t>
            </a:r>
            <a:r>
              <a:rPr b="0" lang="en-US" sz="2000" spc="-1" strike="noStrike">
                <a:latin typeface="Arial"/>
              </a:rPr>
              <a:t>ess </a:t>
            </a:r>
            <a:r>
              <a:rPr b="0" lang="en-US" sz="2000" spc="-1" strike="noStrike">
                <a:latin typeface="Arial"/>
              </a:rPr>
              <a:t>by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num</a:t>
            </a:r>
            <a:r>
              <a:rPr b="0" lang="en-US" sz="2000" spc="-1" strike="noStrike">
                <a:latin typeface="Arial"/>
              </a:rPr>
              <a:t>bers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Spe</a:t>
            </a:r>
            <a:r>
              <a:rPr b="0" lang="en-US" sz="2000" spc="-1" strike="noStrike">
                <a:latin typeface="Arial"/>
              </a:rPr>
              <a:t>arm</a:t>
            </a:r>
            <a:r>
              <a:rPr b="0" lang="en-US" sz="2000" spc="-1" strike="noStrike">
                <a:latin typeface="Arial"/>
              </a:rPr>
              <a:t>an </a:t>
            </a:r>
            <a:r>
              <a:rPr b="0" lang="en-US" sz="2000" spc="-1" strike="noStrike">
                <a:latin typeface="Arial"/>
              </a:rPr>
              <a:t>rho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rank</a:t>
            </a:r>
            <a:r>
              <a:rPr b="0" lang="en-US" sz="2000" spc="-1" strike="noStrike">
                <a:latin typeface="Arial"/>
              </a:rPr>
              <a:t>ing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regr</a:t>
            </a:r>
            <a:r>
              <a:rPr b="0" lang="en-US" sz="2000" spc="-1" strike="noStrike">
                <a:latin typeface="Arial"/>
              </a:rPr>
              <a:t>et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succ</a:t>
            </a:r>
            <a:r>
              <a:rPr b="0" lang="en-US" sz="2000" spc="-1" strike="noStrike">
                <a:latin typeface="Arial"/>
              </a:rPr>
              <a:t>ess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gav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up. </a:t>
            </a:r>
            <a:r>
              <a:rPr b="0" lang="en-US" sz="2000" spc="-1" strike="noStrike">
                <a:latin typeface="Arial"/>
              </a:rPr>
              <a:t>High </a:t>
            </a:r>
            <a:r>
              <a:rPr b="0" lang="en-US" sz="2000" spc="-1" strike="noStrike">
                <a:latin typeface="Arial"/>
              </a:rPr>
              <a:t>rho, </a:t>
            </a:r>
            <a:r>
              <a:rPr b="0" lang="en-US" sz="2000" spc="-1" strike="noStrike">
                <a:latin typeface="Arial"/>
              </a:rPr>
              <a:t>low </a:t>
            </a:r>
            <a:r>
              <a:rPr b="0" lang="en-US" sz="2000" spc="-1" strike="noStrike">
                <a:latin typeface="Arial"/>
              </a:rPr>
              <a:t>regr</a:t>
            </a:r>
            <a:r>
              <a:rPr b="0" lang="en-US" sz="2000" spc="-1" strike="noStrike">
                <a:latin typeface="Arial"/>
              </a:rPr>
              <a:t>et is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goo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metr</a:t>
            </a:r>
            <a:r>
              <a:rPr b="0" lang="en-US" sz="2000" spc="-1" strike="noStrike">
                <a:latin typeface="Arial"/>
              </a:rPr>
              <a:t>ic. </a:t>
            </a:r>
            <a:r>
              <a:rPr b="0" lang="en-US" sz="2000" spc="-1" strike="noStrike">
                <a:latin typeface="Arial"/>
              </a:rPr>
              <a:t>[~1:</a:t>
            </a:r>
            <a:r>
              <a:rPr b="0" lang="en-US" sz="2000" spc="-1" strike="noStrike">
                <a:latin typeface="Arial"/>
              </a:rPr>
              <a:t>10]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7BD5513-1989-4C70-A0DB-1CB076CB5E0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I organised </a:t>
            </a:r>
            <a:r>
              <a:rPr b="0" lang="en-US" sz="2000" spc="-1" strike="noStrike">
                <a:latin typeface="Arial"/>
              </a:rPr>
              <a:t>the study </a:t>
            </a:r>
            <a:r>
              <a:rPr b="0" lang="en-US" sz="2000" spc="-1" strike="noStrike">
                <a:latin typeface="Arial"/>
              </a:rPr>
              <a:t>as four </a:t>
            </a:r>
            <a:r>
              <a:rPr b="0" lang="en-US" sz="2000" spc="-1" strike="noStrike">
                <a:latin typeface="Arial"/>
              </a:rPr>
              <a:t>research </a:t>
            </a:r>
            <a:r>
              <a:rPr b="0" lang="en-US" sz="2000" spc="-1" strike="noStrike">
                <a:latin typeface="Arial"/>
              </a:rPr>
              <a:t>questions, </a:t>
            </a:r>
            <a:r>
              <a:rPr b="0" lang="en-US" sz="2000" spc="-1" strike="noStrike">
                <a:latin typeface="Arial"/>
              </a:rPr>
              <a:t>each a </a:t>
            </a:r>
            <a:r>
              <a:rPr b="0" lang="en-US" sz="2000" spc="-1" strike="noStrike">
                <a:latin typeface="Arial"/>
              </a:rPr>
              <a:t>preconditio</a:t>
            </a:r>
            <a:r>
              <a:rPr b="0" lang="en-US" sz="2000" spc="-1" strike="noStrike">
                <a:latin typeface="Arial"/>
              </a:rPr>
              <a:t>n for the </a:t>
            </a:r>
            <a:r>
              <a:rPr b="0" lang="en-US" sz="2000" spc="-1" strike="noStrike">
                <a:latin typeface="Arial"/>
              </a:rPr>
              <a:t>next. RQ1: </a:t>
            </a:r>
            <a:r>
              <a:rPr b="0" lang="en-US" sz="2000" spc="-1" strike="noStrike">
                <a:latin typeface="Arial"/>
              </a:rPr>
              <a:t>do the </a:t>
            </a:r>
            <a:r>
              <a:rPr b="0" lang="en-US" sz="2000" spc="-1" strike="noStrike">
                <a:latin typeface="Arial"/>
              </a:rPr>
              <a:t>metrics </a:t>
            </a:r>
            <a:r>
              <a:rPr b="0" lang="en-US" sz="2000" spc="-1" strike="noStrike">
                <a:latin typeface="Arial"/>
              </a:rPr>
              <a:t>carry any </a:t>
            </a:r>
            <a:r>
              <a:rPr b="0" lang="en-US" sz="2000" spc="-1" strike="noStrike">
                <a:latin typeface="Arial"/>
              </a:rPr>
              <a:t>task </a:t>
            </a:r>
            <a:r>
              <a:rPr b="0" lang="en-US" sz="2000" spc="-1" strike="noStrike">
                <a:latin typeface="Arial"/>
              </a:rPr>
              <a:t>information </a:t>
            </a:r>
            <a:r>
              <a:rPr b="0" lang="en-US" sz="2000" spc="-1" strike="noStrike">
                <a:latin typeface="Arial"/>
              </a:rPr>
              <a:t>at all — a </a:t>
            </a:r>
            <a:r>
              <a:rPr b="0" lang="en-US" sz="2000" spc="-1" strike="noStrike">
                <a:latin typeface="Arial"/>
              </a:rPr>
              <a:t>sanity </a:t>
            </a:r>
            <a:r>
              <a:rPr b="0" lang="en-US" sz="2000" spc="-1" strike="noStrike">
                <a:latin typeface="Arial"/>
              </a:rPr>
              <a:t>check </a:t>
            </a:r>
            <a:r>
              <a:rPr b="0" lang="en-US" sz="2000" spc="-1" strike="noStrike">
                <a:latin typeface="Arial"/>
              </a:rPr>
              <a:t>before </a:t>
            </a:r>
            <a:r>
              <a:rPr b="0" lang="en-US" sz="2000" spc="-1" strike="noStrike">
                <a:latin typeface="Arial"/>
              </a:rPr>
              <a:t>anything </a:t>
            </a:r>
            <a:r>
              <a:rPr b="0" lang="en-US" sz="2000" spc="-1" strike="noStrike">
                <a:latin typeface="Arial"/>
              </a:rPr>
              <a:t>else. RQ2, </a:t>
            </a:r>
            <a:r>
              <a:rPr b="0" lang="en-US" sz="2000" spc="-1" strike="noStrike">
                <a:latin typeface="Arial"/>
              </a:rPr>
              <a:t>the heart: </a:t>
            </a:r>
            <a:r>
              <a:rPr b="0" lang="en-US" sz="2000" spc="-1" strike="noStrike">
                <a:latin typeface="Arial"/>
              </a:rPr>
              <a:t>do they </a:t>
            </a:r>
            <a:r>
              <a:rPr b="0" lang="en-US" sz="2000" spc="-1" strike="noStrike">
                <a:latin typeface="Arial"/>
              </a:rPr>
              <a:t>predict </a:t>
            </a:r>
            <a:r>
              <a:rPr b="0" lang="en-US" sz="2000" spc="-1" strike="noStrike">
                <a:latin typeface="Arial"/>
              </a:rPr>
              <a:t>success, </a:t>
            </a:r>
            <a:r>
              <a:rPr b="0" lang="en-US" sz="2000" spc="-1" strike="noStrike">
                <a:latin typeface="Arial"/>
              </a:rPr>
              <a:t>across </a:t>
            </a:r>
            <a:r>
              <a:rPr b="0" lang="en-US" sz="2000" spc="-1" strike="noStrike">
                <a:latin typeface="Arial"/>
              </a:rPr>
              <a:t>architectur</a:t>
            </a:r>
            <a:r>
              <a:rPr b="0" lang="en-US" sz="2000" spc="-1" strike="noStrike">
                <a:latin typeface="Arial"/>
              </a:rPr>
              <a:t>es and </a:t>
            </a:r>
            <a:r>
              <a:rPr b="0" lang="en-US" sz="2000" spc="-1" strike="noStrike">
                <a:latin typeface="Arial"/>
              </a:rPr>
              <a:t>data sizes. </a:t>
            </a:r>
            <a:r>
              <a:rPr b="0" lang="en-US" sz="2000" spc="-1" strike="noStrike">
                <a:latin typeface="Arial"/>
              </a:rPr>
              <a:t>RQ3: do </a:t>
            </a:r>
            <a:r>
              <a:rPr b="0" lang="en-US" sz="2000" spc="-1" strike="noStrike">
                <a:latin typeface="Arial"/>
              </a:rPr>
              <a:t>they still </a:t>
            </a:r>
            <a:r>
              <a:rPr b="0" lang="en-US" sz="2000" spc="-1" strike="noStrike">
                <a:latin typeface="Arial"/>
              </a:rPr>
              <a:t>work in the </a:t>
            </a:r>
            <a:r>
              <a:rPr b="0" lang="en-US" sz="2000" spc="-1" strike="noStrike">
                <a:latin typeface="Arial"/>
              </a:rPr>
              <a:t>hard </a:t>
            </a:r>
            <a:r>
              <a:rPr b="0" lang="en-US" sz="2000" spc="-1" strike="noStrike">
                <a:latin typeface="Arial"/>
              </a:rPr>
              <a:t>converged </a:t>
            </a:r>
            <a:r>
              <a:rPr b="0" lang="en-US" sz="2000" spc="-1" strike="noStrike">
                <a:latin typeface="Arial"/>
              </a:rPr>
              <a:t>regime, </a:t>
            </a:r>
            <a:r>
              <a:rPr b="0" lang="en-US" sz="2000" spc="-1" strike="noStrike">
                <a:latin typeface="Arial"/>
              </a:rPr>
              <a:t>and can </a:t>
            </a:r>
            <a:r>
              <a:rPr b="0" lang="en-US" sz="2000" spc="-1" strike="noStrike">
                <a:latin typeface="Arial"/>
              </a:rPr>
              <a:t>they catch </a:t>
            </a:r>
            <a:r>
              <a:rPr b="0" lang="en-US" sz="2000" spc="-1" strike="noStrike">
                <a:latin typeface="Arial"/>
              </a:rPr>
              <a:t>overtrainin</a:t>
            </a:r>
            <a:r>
              <a:rPr b="0" lang="en-US" sz="2000" spc="-1" strike="noStrike">
                <a:latin typeface="Arial"/>
              </a:rPr>
              <a:t>g. RQ4: </a:t>
            </a:r>
            <a:r>
              <a:rPr b="0" lang="en-US" sz="2000" spc="-1" strike="noStrike">
                <a:latin typeface="Arial"/>
              </a:rPr>
              <a:t>with tiny </a:t>
            </a:r>
            <a:r>
              <a:rPr b="0" lang="en-US" sz="2000" spc="-1" strike="noStrike">
                <a:latin typeface="Arial"/>
              </a:rPr>
              <a:t>evaluation </a:t>
            </a:r>
            <a:r>
              <a:rPr b="0" lang="en-US" sz="2000" spc="-1" strike="noStrike">
                <a:latin typeface="Arial"/>
              </a:rPr>
              <a:t>budgets,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differences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statistically </a:t>
            </a:r>
            <a:r>
              <a:rPr b="0" lang="en-US" sz="2000" spc="-1" strike="noStrike">
                <a:latin typeface="Arial"/>
              </a:rPr>
              <a:t>real. I'll </a:t>
            </a:r>
            <a:r>
              <a:rPr b="0" lang="en-US" sz="2000" spc="-1" strike="noStrike">
                <a:latin typeface="Arial"/>
              </a:rPr>
              <a:t>answer </a:t>
            </a:r>
            <a:r>
              <a:rPr b="0" lang="en-US" sz="2000" spc="-1" strike="noStrike">
                <a:latin typeface="Arial"/>
              </a:rPr>
              <a:t>them in </a:t>
            </a:r>
            <a:r>
              <a:rPr b="0" lang="en-US" sz="2000" spc="-1" strike="noStrike">
                <a:latin typeface="Arial"/>
              </a:rPr>
              <a:t>order. </a:t>
            </a:r>
            <a:r>
              <a:rPr b="0" lang="en-US" sz="2000" spc="-1" strike="noStrike">
                <a:latin typeface="Arial"/>
              </a:rPr>
              <a:t>[~1:00]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B8A69E-C02D-4241-B18E-9A6DCB2C387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Setup. </a:t>
            </a:r>
            <a:r>
              <a:rPr b="0" lang="en-US" sz="2000" spc="-1" strike="noStrike">
                <a:latin typeface="Arial"/>
              </a:rPr>
              <a:t>Thre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archi</a:t>
            </a:r>
            <a:r>
              <a:rPr b="0" lang="en-US" sz="2000" spc="-1" strike="noStrike">
                <a:latin typeface="Arial"/>
              </a:rPr>
              <a:t>tectu</a:t>
            </a:r>
            <a:r>
              <a:rPr b="0" lang="en-US" sz="2000" spc="-1" strike="noStrike">
                <a:latin typeface="Arial"/>
              </a:rPr>
              <a:t>res </a:t>
            </a:r>
            <a:r>
              <a:rPr b="0" lang="en-US" sz="2000" spc="-1" strike="noStrike">
                <a:latin typeface="Arial"/>
              </a:rPr>
              <a:t>span</a:t>
            </a:r>
            <a:r>
              <a:rPr b="0" lang="en-US" sz="2000" spc="-1" strike="noStrike">
                <a:latin typeface="Arial"/>
              </a:rPr>
              <a:t>ning </a:t>
            </a:r>
            <a:r>
              <a:rPr b="0" lang="en-US" sz="2000" spc="-1" strike="noStrike">
                <a:latin typeface="Arial"/>
              </a:rPr>
              <a:t>both </a:t>
            </a:r>
            <a:r>
              <a:rPr b="0" lang="en-US" sz="2000" spc="-1" strike="noStrike">
                <a:latin typeface="Arial"/>
              </a:rPr>
              <a:t>para</a:t>
            </a:r>
            <a:r>
              <a:rPr b="0" lang="en-US" sz="2000" spc="-1" strike="noStrike">
                <a:latin typeface="Arial"/>
              </a:rPr>
              <a:t>digm</a:t>
            </a:r>
            <a:r>
              <a:rPr b="0" lang="en-US" sz="2000" spc="-1" strike="noStrike">
                <a:latin typeface="Arial"/>
              </a:rPr>
              <a:t>s: </a:t>
            </a:r>
            <a:r>
              <a:rPr b="0" lang="en-US" sz="2000" spc="-1" strike="noStrike">
                <a:latin typeface="Arial"/>
              </a:rPr>
              <a:t>Ope</a:t>
            </a:r>
            <a:r>
              <a:rPr b="0" lang="en-US" sz="2000" spc="-1" strike="noStrike">
                <a:latin typeface="Arial"/>
              </a:rPr>
              <a:t>nVL</a:t>
            </a:r>
            <a:r>
              <a:rPr b="0" lang="en-US" sz="2000" spc="-1" strike="noStrike">
                <a:latin typeface="Arial"/>
              </a:rPr>
              <a:t>A is </a:t>
            </a:r>
            <a:r>
              <a:rPr b="0" lang="en-US" sz="2000" spc="-1" strike="noStrike">
                <a:latin typeface="Arial"/>
              </a:rPr>
              <a:t>discr</a:t>
            </a:r>
            <a:r>
              <a:rPr b="0" lang="en-US" sz="2000" spc="-1" strike="noStrike">
                <a:latin typeface="Arial"/>
              </a:rPr>
              <a:t>ete-</a:t>
            </a:r>
            <a:r>
              <a:rPr b="0" lang="en-US" sz="2000" spc="-1" strike="noStrike">
                <a:latin typeface="Arial"/>
              </a:rPr>
              <a:t>toke</a:t>
            </a:r>
            <a:r>
              <a:rPr b="0" lang="en-US" sz="2000" spc="-1" strike="noStrike">
                <a:latin typeface="Arial"/>
              </a:rPr>
              <a:t>n — </a:t>
            </a:r>
            <a:r>
              <a:rPr b="0" lang="en-US" sz="2000" spc="-1" strike="noStrike">
                <a:latin typeface="Arial"/>
              </a:rPr>
              <a:t>impo</a:t>
            </a:r>
            <a:r>
              <a:rPr b="0" lang="en-US" sz="2000" spc="-1" strike="noStrike">
                <a:latin typeface="Arial"/>
              </a:rPr>
              <a:t>rtantl</a:t>
            </a:r>
            <a:r>
              <a:rPr b="0" lang="en-US" sz="2000" spc="-1" strike="noStrike">
                <a:latin typeface="Arial"/>
              </a:rPr>
              <a:t>y its </a:t>
            </a:r>
            <a:r>
              <a:rPr b="0" lang="en-US" sz="2000" spc="-1" strike="noStrike">
                <a:latin typeface="Arial"/>
              </a:rPr>
              <a:t>NLL </a:t>
            </a:r>
            <a:r>
              <a:rPr b="0" lang="en-US" sz="2000" spc="-1" strike="noStrike">
                <a:latin typeface="Arial"/>
              </a:rPr>
              <a:t>is a </a:t>
            </a:r>
            <a:r>
              <a:rPr b="0" lang="en-US" sz="2000" spc="-1" strike="noStrike">
                <a:latin typeface="Arial"/>
              </a:rPr>
              <a:t>real </a:t>
            </a:r>
            <a:r>
              <a:rPr b="0" lang="en-US" sz="2000" spc="-1" strike="noStrike">
                <a:latin typeface="Arial"/>
              </a:rPr>
              <a:t>likeli</a:t>
            </a:r>
            <a:r>
              <a:rPr b="0" lang="en-US" sz="2000" spc="-1" strike="noStrike">
                <a:latin typeface="Arial"/>
              </a:rPr>
              <a:t>hood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Smol</a:t>
            </a:r>
            <a:r>
              <a:rPr b="0" lang="en-US" sz="2000" spc="-1" strike="noStrike">
                <a:latin typeface="Arial"/>
              </a:rPr>
              <a:t>VLA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pi-</a:t>
            </a:r>
            <a:r>
              <a:rPr b="0" lang="en-US" sz="2000" spc="-1" strike="noStrike">
                <a:latin typeface="Arial"/>
              </a:rPr>
              <a:t>0.5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flow-</a:t>
            </a:r>
            <a:r>
              <a:rPr b="0" lang="en-US" sz="2000" spc="-1" strike="noStrike">
                <a:latin typeface="Arial"/>
              </a:rPr>
              <a:t>matc</a:t>
            </a:r>
            <a:r>
              <a:rPr b="0" lang="en-US" sz="2000" spc="-1" strike="noStrike">
                <a:latin typeface="Arial"/>
              </a:rPr>
              <a:t>hing. </a:t>
            </a:r>
            <a:r>
              <a:rPr b="0" lang="en-US" sz="2000" spc="-1" strike="noStrike">
                <a:latin typeface="Arial"/>
              </a:rPr>
              <a:t>Five </a:t>
            </a:r>
            <a:r>
              <a:rPr b="0" lang="en-US" sz="2000" spc="-1" strike="noStrike">
                <a:latin typeface="Arial"/>
              </a:rPr>
              <a:t>runs </a:t>
            </a:r>
            <a:r>
              <a:rPr b="0" lang="en-US" sz="2000" spc="-1" strike="noStrike">
                <a:latin typeface="Arial"/>
              </a:rPr>
              <a:t>cros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archi</a:t>
            </a:r>
            <a:r>
              <a:rPr b="0" lang="en-US" sz="2000" spc="-1" strike="noStrike">
                <a:latin typeface="Arial"/>
              </a:rPr>
              <a:t>tectu</a:t>
            </a:r>
            <a:r>
              <a:rPr b="0" lang="en-US" sz="2000" spc="-1" strike="noStrike">
                <a:latin typeface="Arial"/>
              </a:rPr>
              <a:t>re </a:t>
            </a:r>
            <a:r>
              <a:rPr b="0" lang="en-US" sz="2000" spc="-1" strike="noStrike">
                <a:latin typeface="Arial"/>
              </a:rPr>
              <a:t>with </a:t>
            </a:r>
            <a:r>
              <a:rPr b="0" lang="en-US" sz="2000" spc="-1" strike="noStrike">
                <a:latin typeface="Arial"/>
              </a:rPr>
              <a:t>data </a:t>
            </a:r>
            <a:r>
              <a:rPr b="0" lang="en-US" sz="2000" spc="-1" strike="noStrike">
                <a:latin typeface="Arial"/>
              </a:rPr>
              <a:t>size, </a:t>
            </a:r>
            <a:r>
              <a:rPr b="0" lang="en-US" sz="2000" spc="-1" strike="noStrike">
                <a:latin typeface="Arial"/>
              </a:rPr>
              <a:t>plus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delib</a:t>
            </a:r>
            <a:r>
              <a:rPr b="0" lang="en-US" sz="2000" spc="-1" strike="noStrike">
                <a:latin typeface="Arial"/>
              </a:rPr>
              <a:t>erate </a:t>
            </a:r>
            <a:r>
              <a:rPr b="0" lang="en-US" sz="2000" spc="-1" strike="noStrike">
                <a:latin typeface="Arial"/>
              </a:rPr>
              <a:t>pi-</a:t>
            </a:r>
            <a:r>
              <a:rPr b="0" lang="en-US" sz="2000" spc="-1" strike="noStrike">
                <a:latin typeface="Arial"/>
              </a:rPr>
              <a:t>0.5 </a:t>
            </a:r>
            <a:r>
              <a:rPr b="0" lang="en-US" sz="2000" spc="-1" strike="noStrike">
                <a:latin typeface="Arial"/>
              </a:rPr>
              <a:t>overt</a:t>
            </a:r>
            <a:r>
              <a:rPr b="0" lang="en-US" sz="2000" spc="-1" strike="noStrike">
                <a:latin typeface="Arial"/>
              </a:rPr>
              <a:t>raini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stres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run. </a:t>
            </a:r>
            <a:r>
              <a:rPr b="0" lang="en-US" sz="2000" spc="-1" strike="noStrike">
                <a:latin typeface="Arial"/>
              </a:rPr>
              <a:t>Benc</a:t>
            </a:r>
            <a:r>
              <a:rPr b="0" lang="en-US" sz="2000" spc="-1" strike="noStrike">
                <a:latin typeface="Arial"/>
              </a:rPr>
              <a:t>hmar</a:t>
            </a:r>
            <a:r>
              <a:rPr b="0" lang="en-US" sz="2000" spc="-1" strike="noStrike">
                <a:latin typeface="Arial"/>
              </a:rPr>
              <a:t>k is </a:t>
            </a:r>
            <a:r>
              <a:rPr b="0" lang="en-US" sz="2000" spc="-1" strike="noStrike">
                <a:latin typeface="Arial"/>
              </a:rPr>
              <a:t>LIBE</a:t>
            </a:r>
            <a:r>
              <a:rPr b="0" lang="en-US" sz="2000" spc="-1" strike="noStrike">
                <a:latin typeface="Arial"/>
              </a:rPr>
              <a:t>RO-</a:t>
            </a:r>
            <a:r>
              <a:rPr b="0" lang="en-US" sz="2000" spc="-1" strike="noStrike">
                <a:latin typeface="Arial"/>
              </a:rPr>
              <a:t>Goal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en-US" sz="2000" spc="-1" strike="noStrike">
                <a:latin typeface="Arial"/>
              </a:rPr>
              <a:t>chos</a:t>
            </a:r>
            <a:r>
              <a:rPr b="0" lang="en-US" sz="2000" spc="-1" strike="noStrike">
                <a:latin typeface="Arial"/>
              </a:rPr>
              <a:t>en </a:t>
            </a:r>
            <a:r>
              <a:rPr b="0" lang="en-US" sz="2000" spc="-1" strike="noStrike">
                <a:latin typeface="Arial"/>
              </a:rPr>
              <a:t>beca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varyi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only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instr</a:t>
            </a:r>
            <a:r>
              <a:rPr b="0" lang="en-US" sz="2000" spc="-1" strike="noStrike">
                <a:latin typeface="Arial"/>
              </a:rPr>
              <a:t>uctio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give</a:t>
            </a:r>
            <a:r>
              <a:rPr b="0" lang="en-US" sz="2000" spc="-1" strike="noStrike">
                <a:latin typeface="Arial"/>
              </a:rPr>
              <a:t>s the </a:t>
            </a:r>
            <a:r>
              <a:rPr b="0" lang="en-US" sz="2000" spc="-1" strike="noStrike">
                <a:latin typeface="Arial"/>
              </a:rPr>
              <a:t>most </a:t>
            </a:r>
            <a:r>
              <a:rPr b="0" lang="en-US" sz="2000" spc="-1" strike="noStrike">
                <a:latin typeface="Arial"/>
              </a:rPr>
              <a:t>actio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diver</a:t>
            </a:r>
            <a:r>
              <a:rPr b="0" lang="en-US" sz="2000" spc="-1" strike="noStrike">
                <a:latin typeface="Arial"/>
              </a:rPr>
              <a:t>sity. </a:t>
            </a:r>
            <a:r>
              <a:rPr b="0" lang="en-US" sz="2000" spc="-1" strike="noStrike">
                <a:latin typeface="Arial"/>
              </a:rPr>
              <a:t>Truth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100-</a:t>
            </a:r>
            <a:r>
              <a:rPr b="0" lang="en-US" sz="2000" spc="-1" strike="noStrike">
                <a:latin typeface="Arial"/>
              </a:rPr>
              <a:t>epis</a:t>
            </a:r>
            <a:r>
              <a:rPr b="0" lang="en-US" sz="2000" spc="-1" strike="noStrike">
                <a:latin typeface="Arial"/>
              </a:rPr>
              <a:t>ode </a:t>
            </a:r>
            <a:r>
              <a:rPr b="0" lang="en-US" sz="2000" spc="-1" strike="noStrike">
                <a:latin typeface="Arial"/>
              </a:rPr>
              <a:t>succ</a:t>
            </a:r>
            <a:r>
              <a:rPr b="0" lang="en-US" sz="2000" spc="-1" strike="noStrike">
                <a:latin typeface="Arial"/>
              </a:rPr>
              <a:t>ess, </a:t>
            </a:r>
            <a:r>
              <a:rPr b="0" lang="en-US" sz="2000" spc="-1" strike="noStrike">
                <a:latin typeface="Arial"/>
              </a:rPr>
              <a:t>but </a:t>
            </a:r>
            <a:r>
              <a:rPr b="0" lang="en-US" sz="2000" spc="-1" strike="noStrike">
                <a:latin typeface="Arial"/>
              </a:rPr>
              <a:t>spar</a:t>
            </a:r>
            <a:r>
              <a:rPr b="0" lang="en-US" sz="2000" spc="-1" strike="noStrike">
                <a:latin typeface="Arial"/>
              </a:rPr>
              <a:t>se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nois</a:t>
            </a:r>
            <a:r>
              <a:rPr b="0" lang="en-US" sz="2000" spc="-1" strike="noStrike">
                <a:latin typeface="Arial"/>
              </a:rPr>
              <a:t>y —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spar</a:t>
            </a:r>
            <a:r>
              <a:rPr b="0" lang="en-US" sz="2000" spc="-1" strike="noStrike">
                <a:latin typeface="Arial"/>
              </a:rPr>
              <a:t>sity </a:t>
            </a:r>
            <a:r>
              <a:rPr b="0" lang="en-US" sz="2000" spc="-1" strike="noStrike">
                <a:latin typeface="Arial"/>
              </a:rPr>
              <a:t>drive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RQ4.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dagg</a:t>
            </a:r>
            <a:r>
              <a:rPr b="0" lang="en-US" sz="2000" spc="-1" strike="noStrike">
                <a:latin typeface="Arial"/>
              </a:rPr>
              <a:t>er </a:t>
            </a:r>
            <a:r>
              <a:rPr b="0" lang="en-US" sz="2000" spc="-1" strike="noStrike">
                <a:latin typeface="Arial"/>
              </a:rPr>
              <a:t>note: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pi-</a:t>
            </a:r>
            <a:r>
              <a:rPr b="0" lang="en-US" sz="2000" spc="-1" strike="noStrike">
                <a:latin typeface="Arial"/>
              </a:rPr>
              <a:t>0.5 </a:t>
            </a:r>
            <a:r>
              <a:rPr b="0" lang="en-US" sz="2000" spc="-1" strike="noStrike">
                <a:latin typeface="Arial"/>
              </a:rPr>
              <a:t>rows 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differ</a:t>
            </a:r>
            <a:r>
              <a:rPr b="0" lang="en-US" sz="2000" spc="-1" strike="noStrike">
                <a:latin typeface="Arial"/>
              </a:rPr>
              <a:t>ent </a:t>
            </a:r>
            <a:r>
              <a:rPr b="0" lang="en-US" sz="2000" spc="-1" strike="noStrike">
                <a:latin typeface="Arial"/>
              </a:rPr>
              <a:t>horiz</a:t>
            </a:r>
            <a:r>
              <a:rPr b="0" lang="en-US" sz="2000" spc="-1" strike="noStrike">
                <a:latin typeface="Arial"/>
              </a:rPr>
              <a:t>ons, </a:t>
            </a:r>
            <a:r>
              <a:rPr b="0" lang="en-US" sz="2000" spc="-1" strike="noStrike">
                <a:latin typeface="Arial"/>
              </a:rPr>
              <a:t>so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pare </a:t>
            </a:r>
            <a:r>
              <a:rPr b="0" lang="en-US" sz="2000" spc="-1" strike="noStrike">
                <a:latin typeface="Arial"/>
              </a:rPr>
              <a:t>ranki</a:t>
            </a:r>
            <a:r>
              <a:rPr b="0" lang="en-US" sz="2000" spc="-1" strike="noStrike">
                <a:latin typeface="Arial"/>
              </a:rPr>
              <a:t>ngs </a:t>
            </a:r>
            <a:r>
              <a:rPr b="0" lang="en-US" sz="2000" spc="-1" strike="noStrike">
                <a:latin typeface="Arial"/>
              </a:rPr>
              <a:t>withi</a:t>
            </a:r>
            <a:r>
              <a:rPr b="0" lang="en-US" sz="2000" spc="-1" strike="noStrike">
                <a:latin typeface="Arial"/>
              </a:rPr>
              <a:t>n a </a:t>
            </a:r>
            <a:r>
              <a:rPr b="0" lang="en-US" sz="2000" spc="-1" strike="noStrike">
                <a:latin typeface="Arial"/>
              </a:rPr>
              <a:t>row, </a:t>
            </a:r>
            <a:r>
              <a:rPr b="0" lang="en-US" sz="2000" spc="-1" strike="noStrike">
                <a:latin typeface="Arial"/>
              </a:rPr>
              <a:t>not </a:t>
            </a:r>
            <a:r>
              <a:rPr b="0" lang="en-US" sz="2000" spc="-1" strike="noStrike">
                <a:latin typeface="Arial"/>
              </a:rPr>
              <a:t>abso</a:t>
            </a:r>
            <a:r>
              <a:rPr b="0" lang="en-US" sz="2000" spc="-1" strike="noStrike">
                <a:latin typeface="Arial"/>
              </a:rPr>
              <a:t>lute </a:t>
            </a:r>
            <a:r>
              <a:rPr b="0" lang="en-US" sz="2000" spc="-1" strike="noStrike">
                <a:latin typeface="Arial"/>
              </a:rPr>
              <a:t>level</a:t>
            </a:r>
            <a:r>
              <a:rPr b="0" lang="en-US" sz="2000" spc="-1" strike="noStrike">
                <a:latin typeface="Arial"/>
              </a:rPr>
              <a:t>s. </a:t>
            </a:r>
            <a:r>
              <a:rPr b="0" lang="en-US" sz="2000" spc="-1" strike="noStrike">
                <a:latin typeface="Arial"/>
              </a:rPr>
              <a:t>[~1:2</a:t>
            </a:r>
            <a:r>
              <a:rPr b="0" lang="en-US" sz="2000" spc="-1" strike="noStrike">
                <a:latin typeface="Arial"/>
              </a:rPr>
              <a:t>0]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B0DA56-6AE8-4C2B-A7DD-F018D4A85F1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RQ1,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sanit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chec</a:t>
            </a:r>
            <a:r>
              <a:rPr b="0" lang="en-US" sz="2000" spc="-1" strike="noStrike">
                <a:latin typeface="Arial"/>
              </a:rPr>
              <a:t>k. </a:t>
            </a:r>
            <a:r>
              <a:rPr b="0" lang="en-US" sz="2000" spc="-1" strike="noStrike">
                <a:latin typeface="Arial"/>
              </a:rPr>
              <a:t>Can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metr</a:t>
            </a:r>
            <a:r>
              <a:rPr b="0" lang="en-US" sz="2000" spc="-1" strike="noStrike">
                <a:latin typeface="Arial"/>
              </a:rPr>
              <a:t>ic </a:t>
            </a:r>
            <a:r>
              <a:rPr b="0" lang="en-US" sz="2000" spc="-1" strike="noStrike">
                <a:latin typeface="Arial"/>
              </a:rPr>
              <a:t>tell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dem</a:t>
            </a:r>
            <a:r>
              <a:rPr b="0" lang="en-US" sz="2000" spc="-1" strike="noStrike">
                <a:latin typeface="Arial"/>
              </a:rPr>
              <a:t>os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sam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task </a:t>
            </a:r>
            <a:r>
              <a:rPr b="0" lang="en-US" sz="2000" spc="-1" strike="noStrike">
                <a:latin typeface="Arial"/>
              </a:rPr>
              <a:t>from </a:t>
            </a:r>
            <a:r>
              <a:rPr b="0" lang="en-US" sz="2000" spc="-1" strike="noStrike">
                <a:latin typeface="Arial"/>
              </a:rPr>
              <a:t>diffe</a:t>
            </a:r>
            <a:r>
              <a:rPr b="0" lang="en-US" sz="2000" spc="-1" strike="noStrike">
                <a:latin typeface="Arial"/>
              </a:rPr>
              <a:t>rent </a:t>
            </a:r>
            <a:r>
              <a:rPr b="0" lang="en-US" sz="2000" spc="-1" strike="noStrike">
                <a:latin typeface="Arial"/>
              </a:rPr>
              <a:t>task</a:t>
            </a:r>
            <a:r>
              <a:rPr b="0" lang="en-US" sz="2000" spc="-1" strike="noStrike">
                <a:latin typeface="Arial"/>
              </a:rPr>
              <a:t>s,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grou</a:t>
            </a:r>
            <a:r>
              <a:rPr b="0" lang="en-US" sz="2000" spc="-1" strike="noStrike">
                <a:latin typeface="Arial"/>
              </a:rPr>
              <a:t>nd </a:t>
            </a:r>
            <a:r>
              <a:rPr b="0" lang="en-US" sz="2000" spc="-1" strike="noStrike">
                <a:latin typeface="Arial"/>
              </a:rPr>
              <a:t>truth </a:t>
            </a:r>
            <a:r>
              <a:rPr b="0" lang="en-US" sz="2000" spc="-1" strike="noStrike">
                <a:latin typeface="Arial"/>
              </a:rPr>
              <a:t>alon</a:t>
            </a:r>
            <a:r>
              <a:rPr b="0" lang="en-US" sz="2000" spc="-1" strike="noStrike">
                <a:latin typeface="Arial"/>
              </a:rPr>
              <a:t>e?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singl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50-</a:t>
            </a:r>
            <a:r>
              <a:rPr b="0" lang="en-US" sz="2000" spc="-1" strike="noStrike">
                <a:latin typeface="Arial"/>
              </a:rPr>
              <a:t>step </a:t>
            </a:r>
            <a:r>
              <a:rPr b="0" lang="en-US" sz="2000" spc="-1" strike="noStrike">
                <a:latin typeface="Arial"/>
              </a:rPr>
              <a:t>chu</a:t>
            </a:r>
            <a:r>
              <a:rPr b="0" lang="en-US" sz="2000" spc="-1" strike="noStrike">
                <a:latin typeface="Arial"/>
              </a:rPr>
              <a:t>nk, </a:t>
            </a:r>
            <a:r>
              <a:rPr b="0" lang="en-US" sz="2000" spc="-1" strike="noStrike">
                <a:latin typeface="Arial"/>
              </a:rPr>
              <a:t>bare</a:t>
            </a:r>
            <a:r>
              <a:rPr b="0" lang="en-US" sz="2000" spc="-1" strike="noStrike">
                <a:latin typeface="Arial"/>
              </a:rPr>
              <a:t>ly — </a:t>
            </a:r>
            <a:r>
              <a:rPr b="0" lang="en-US" sz="2000" spc="-1" strike="noStrike">
                <a:latin typeface="Arial"/>
              </a:rPr>
              <a:t>AUR</a:t>
            </a:r>
            <a:r>
              <a:rPr b="0" lang="en-US" sz="2000" spc="-1" strike="noStrike">
                <a:latin typeface="Arial"/>
              </a:rPr>
              <a:t>OC </a:t>
            </a:r>
            <a:r>
              <a:rPr b="0" lang="en-US" sz="2000" spc="-1" strike="noStrike">
                <a:latin typeface="Arial"/>
              </a:rPr>
              <a:t>0.65</a:t>
            </a:r>
            <a:r>
              <a:rPr b="0" lang="en-US" sz="2000" spc="-1" strike="noStrike">
                <a:latin typeface="Arial"/>
              </a:rPr>
              <a:t>-</a:t>
            </a:r>
            <a:r>
              <a:rPr b="0" lang="en-US" sz="2000" spc="-1" strike="noStrike">
                <a:latin typeface="Arial"/>
              </a:rPr>
              <a:t>0.69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en-US" sz="2000" spc="-1" strike="noStrike">
                <a:latin typeface="Arial"/>
              </a:rPr>
              <a:t>bec</a:t>
            </a:r>
            <a:r>
              <a:rPr b="0" lang="en-US" sz="2000" spc="-1" strike="noStrike">
                <a:latin typeface="Arial"/>
              </a:rPr>
              <a:t>aus</a:t>
            </a:r>
            <a:r>
              <a:rPr b="0" lang="en-US" sz="2000" spc="-1" strike="noStrike">
                <a:latin typeface="Arial"/>
              </a:rPr>
              <a:t>e all </a:t>
            </a:r>
            <a:r>
              <a:rPr b="0" lang="en-US" sz="2000" spc="-1" strike="noStrike">
                <a:latin typeface="Arial"/>
              </a:rPr>
              <a:t>LIB</a:t>
            </a:r>
            <a:r>
              <a:rPr b="0" lang="en-US" sz="2000" spc="-1" strike="noStrike">
                <a:latin typeface="Arial"/>
              </a:rPr>
              <a:t>ERO </a:t>
            </a:r>
            <a:r>
              <a:rPr b="0" lang="en-US" sz="2000" spc="-1" strike="noStrike">
                <a:latin typeface="Arial"/>
              </a:rPr>
              <a:t>task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reac</a:t>
            </a:r>
            <a:r>
              <a:rPr b="0" lang="en-US" sz="2000" spc="-1" strike="noStrike">
                <a:latin typeface="Arial"/>
              </a:rPr>
              <a:t>h, </a:t>
            </a:r>
            <a:r>
              <a:rPr b="0" lang="en-US" sz="2000" spc="-1" strike="noStrike">
                <a:latin typeface="Arial"/>
              </a:rPr>
              <a:t>gras</a:t>
            </a:r>
            <a:r>
              <a:rPr b="0" lang="en-US" sz="2000" spc="-1" strike="noStrike">
                <a:latin typeface="Arial"/>
              </a:rPr>
              <a:t>p, </a:t>
            </a:r>
            <a:r>
              <a:rPr b="0" lang="en-US" sz="2000" spc="-1" strike="noStrike">
                <a:latin typeface="Arial"/>
              </a:rPr>
              <a:t>tran</a:t>
            </a:r>
            <a:r>
              <a:rPr b="0" lang="en-US" sz="2000" spc="-1" strike="noStrike">
                <a:latin typeface="Arial"/>
              </a:rPr>
              <a:t>spor</a:t>
            </a:r>
            <a:r>
              <a:rPr b="0" lang="en-US" sz="2000" spc="-1" strike="noStrike">
                <a:latin typeface="Arial"/>
              </a:rPr>
              <a:t>t. </a:t>
            </a:r>
            <a:r>
              <a:rPr b="0" lang="en-US" sz="2000" spc="-1" strike="noStrike">
                <a:latin typeface="Arial"/>
              </a:rPr>
              <a:t>But </a:t>
            </a:r>
            <a:r>
              <a:rPr b="0" lang="en-US" sz="2000" spc="-1" strike="noStrike">
                <a:latin typeface="Arial"/>
              </a:rPr>
              <a:t>aggr</a:t>
            </a:r>
            <a:r>
              <a:rPr b="0" lang="en-US" sz="2000" spc="-1" strike="noStrike">
                <a:latin typeface="Arial"/>
              </a:rPr>
              <a:t>egat</a:t>
            </a:r>
            <a:r>
              <a:rPr b="0" lang="en-US" sz="2000" spc="-1" strike="noStrike">
                <a:latin typeface="Arial"/>
              </a:rPr>
              <a:t>e a </a:t>
            </a:r>
            <a:r>
              <a:rPr b="0" lang="en-US" sz="2000" spc="-1" strike="noStrike">
                <a:latin typeface="Arial"/>
              </a:rPr>
              <a:t>whol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traje</a:t>
            </a:r>
            <a:r>
              <a:rPr b="0" lang="en-US" sz="2000" spc="-1" strike="noStrike">
                <a:latin typeface="Arial"/>
              </a:rPr>
              <a:t>ctor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pha</a:t>
            </a:r>
            <a:r>
              <a:rPr b="0" lang="en-US" sz="2000" spc="-1" strike="noStrike">
                <a:latin typeface="Arial"/>
              </a:rPr>
              <a:t>se-</a:t>
            </a:r>
            <a:r>
              <a:rPr b="0" lang="en-US" sz="2000" spc="-1" strike="noStrike">
                <a:latin typeface="Arial"/>
              </a:rPr>
              <a:t>align</a:t>
            </a:r>
            <a:r>
              <a:rPr b="0" lang="en-US" sz="2000" spc="-1" strike="noStrike">
                <a:latin typeface="Arial"/>
              </a:rPr>
              <a:t>ed,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ever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metr</a:t>
            </a:r>
            <a:r>
              <a:rPr b="0" lang="en-US" sz="2000" spc="-1" strike="noStrike">
                <a:latin typeface="Arial"/>
              </a:rPr>
              <a:t>ic </a:t>
            </a:r>
            <a:r>
              <a:rPr b="0" lang="en-US" sz="2000" spc="-1" strike="noStrike">
                <a:latin typeface="Arial"/>
              </a:rPr>
              <a:t>jump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abo</a:t>
            </a:r>
            <a:r>
              <a:rPr b="0" lang="en-US" sz="2000" spc="-1" strike="noStrike">
                <a:latin typeface="Arial"/>
              </a:rPr>
              <a:t>ve </a:t>
            </a:r>
            <a:r>
              <a:rPr b="0" lang="en-US" sz="2000" spc="-1" strike="noStrike">
                <a:latin typeface="Arial"/>
              </a:rPr>
              <a:t>0.90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Cruc</a:t>
            </a:r>
            <a:r>
              <a:rPr b="0" lang="en-US" sz="2000" spc="-1" strike="noStrike">
                <a:latin typeface="Arial"/>
              </a:rPr>
              <a:t>ially </a:t>
            </a:r>
            <a:r>
              <a:rPr b="0" lang="en-US" sz="2000" spc="-1" strike="noStrike">
                <a:latin typeface="Arial"/>
              </a:rPr>
              <a:t>it's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pha</a:t>
            </a:r>
            <a:r>
              <a:rPr b="0" lang="en-US" sz="2000" spc="-1" strike="noStrike">
                <a:latin typeface="Arial"/>
              </a:rPr>
              <a:t>se </a:t>
            </a:r>
            <a:r>
              <a:rPr b="0" lang="en-US" sz="2000" spc="-1" strike="noStrike">
                <a:latin typeface="Arial"/>
              </a:rPr>
              <a:t>align</a:t>
            </a:r>
            <a:r>
              <a:rPr b="0" lang="en-US" sz="2000" spc="-1" strike="noStrike">
                <a:latin typeface="Arial"/>
              </a:rPr>
              <a:t>men</a:t>
            </a:r>
            <a:r>
              <a:rPr b="0" lang="en-US" sz="2000" spc="-1" strike="noStrike">
                <a:latin typeface="Arial"/>
              </a:rPr>
              <a:t>t, </a:t>
            </a:r>
            <a:r>
              <a:rPr b="0" lang="en-US" sz="2000" spc="-1" strike="noStrike">
                <a:latin typeface="Arial"/>
              </a:rPr>
              <a:t>not </a:t>
            </a:r>
            <a:r>
              <a:rPr b="0" lang="en-US" sz="2000" spc="-1" strike="noStrike">
                <a:latin typeface="Arial"/>
              </a:rPr>
              <a:t>just </a:t>
            </a:r>
            <a:r>
              <a:rPr b="0" lang="en-US" sz="2000" spc="-1" strike="noStrike">
                <a:latin typeface="Arial"/>
              </a:rPr>
              <a:t>aver</a:t>
            </a:r>
            <a:r>
              <a:rPr b="0" lang="en-US" sz="2000" spc="-1" strike="noStrike">
                <a:latin typeface="Arial"/>
              </a:rPr>
              <a:t>agin</a:t>
            </a:r>
            <a:r>
              <a:rPr b="0" lang="en-US" sz="2000" spc="-1" strike="noStrike">
                <a:latin typeface="Arial"/>
              </a:rPr>
              <a:t>g </a:t>
            </a:r>
            <a:r>
              <a:rPr b="0" lang="en-US" sz="2000" spc="-1" strike="noStrike">
                <a:latin typeface="Arial"/>
              </a:rPr>
              <a:t>awa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nois</a:t>
            </a:r>
            <a:r>
              <a:rPr b="0" lang="en-US" sz="2000" spc="-1" strike="noStrike">
                <a:latin typeface="Arial"/>
              </a:rPr>
              <a:t>e — </a:t>
            </a:r>
            <a:r>
              <a:rPr b="0" lang="en-US" sz="2000" spc="-1" strike="noStrike">
                <a:latin typeface="Arial"/>
              </a:rPr>
              <a:t>DT</a:t>
            </a:r>
            <a:r>
              <a:rPr b="0" lang="en-US" sz="2000" spc="-1" strike="noStrike">
                <a:latin typeface="Arial"/>
              </a:rPr>
              <a:t>W's </a:t>
            </a:r>
            <a:r>
              <a:rPr b="0" lang="en-US" sz="2000" spc="-1" strike="noStrike">
                <a:latin typeface="Arial"/>
              </a:rPr>
              <a:t>withi</a:t>
            </a:r>
            <a:r>
              <a:rPr b="0" lang="en-US" sz="2000" spc="-1" strike="noStrike">
                <a:latin typeface="Arial"/>
              </a:rPr>
              <a:t>n-</a:t>
            </a:r>
            <a:r>
              <a:rPr b="0" lang="en-US" sz="2000" spc="-1" strike="noStrike">
                <a:latin typeface="Arial"/>
              </a:rPr>
              <a:t>task </a:t>
            </a:r>
            <a:r>
              <a:rPr b="0" lang="en-US" sz="2000" spc="-1" strike="noStrike">
                <a:latin typeface="Arial"/>
              </a:rPr>
              <a:t>dista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colla</a:t>
            </a:r>
            <a:r>
              <a:rPr b="0" lang="en-US" sz="2000" spc="-1" strike="noStrike">
                <a:latin typeface="Arial"/>
              </a:rPr>
              <a:t>pses </a:t>
            </a:r>
            <a:r>
              <a:rPr b="0" lang="en-US" sz="2000" spc="-1" strike="noStrike">
                <a:latin typeface="Arial"/>
              </a:rPr>
              <a:t>whil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acro</a:t>
            </a:r>
            <a:r>
              <a:rPr b="0" lang="en-US" sz="2000" spc="-1" strike="noStrike">
                <a:latin typeface="Arial"/>
              </a:rPr>
              <a:t>ss-</a:t>
            </a:r>
            <a:r>
              <a:rPr b="0" lang="en-US" sz="2000" spc="-1" strike="noStrike">
                <a:latin typeface="Arial"/>
              </a:rPr>
              <a:t>task </a:t>
            </a:r>
            <a:r>
              <a:rPr b="0" lang="en-US" sz="2000" spc="-1" strike="noStrike">
                <a:latin typeface="Arial"/>
              </a:rPr>
              <a:t>bare</a:t>
            </a:r>
            <a:r>
              <a:rPr b="0" lang="en-US" sz="2000" spc="-1" strike="noStrike">
                <a:latin typeface="Arial"/>
              </a:rPr>
              <a:t>ly </a:t>
            </a:r>
            <a:r>
              <a:rPr b="0" lang="en-US" sz="2000" spc="-1" strike="noStrike">
                <a:latin typeface="Arial"/>
              </a:rPr>
              <a:t>mov</a:t>
            </a:r>
            <a:r>
              <a:rPr b="0" lang="en-US" sz="2000" spc="-1" strike="noStrike">
                <a:latin typeface="Arial"/>
              </a:rPr>
              <a:t>es. </a:t>
            </a:r>
            <a:r>
              <a:rPr b="0" lang="en-US" sz="2000" spc="-1" strike="noStrike">
                <a:latin typeface="Arial"/>
              </a:rPr>
              <a:t>All </a:t>
            </a:r>
            <a:r>
              <a:rPr b="0" lang="en-US" sz="2000" spc="-1" strike="noStrike">
                <a:latin typeface="Arial"/>
              </a:rPr>
              <a:t>five </a:t>
            </a:r>
            <a:r>
              <a:rPr b="0" lang="en-US" sz="2000" spc="-1" strike="noStrike">
                <a:latin typeface="Arial"/>
              </a:rPr>
              <a:t>pass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why </a:t>
            </a:r>
            <a:r>
              <a:rPr b="0" lang="en-US" sz="2000" spc="-1" strike="noStrike">
                <a:latin typeface="Arial"/>
              </a:rPr>
              <a:t>I 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traje</a:t>
            </a:r>
            <a:r>
              <a:rPr b="0" lang="en-US" sz="2000" spc="-1" strike="noStrike">
                <a:latin typeface="Arial"/>
              </a:rPr>
              <a:t>ctor</a:t>
            </a:r>
            <a:r>
              <a:rPr b="0" lang="en-US" sz="2000" spc="-1" strike="noStrike">
                <a:latin typeface="Arial"/>
              </a:rPr>
              <a:t>y-</a:t>
            </a:r>
            <a:r>
              <a:rPr b="0" lang="en-US" sz="2000" spc="-1" strike="noStrike">
                <a:latin typeface="Arial"/>
              </a:rPr>
              <a:t>level </a:t>
            </a:r>
            <a:r>
              <a:rPr b="0" lang="en-US" sz="2000" spc="-1" strike="noStrike">
                <a:latin typeface="Arial"/>
              </a:rPr>
              <a:t>esti</a:t>
            </a:r>
            <a:r>
              <a:rPr b="0" lang="en-US" sz="2000" spc="-1" strike="noStrike">
                <a:latin typeface="Arial"/>
              </a:rPr>
              <a:t>mat</a:t>
            </a:r>
            <a:r>
              <a:rPr b="0" lang="en-US" sz="2000" spc="-1" strike="noStrike">
                <a:latin typeface="Arial"/>
              </a:rPr>
              <a:t>or </a:t>
            </a:r>
            <a:r>
              <a:rPr b="0" lang="en-US" sz="2000" spc="-1" strike="noStrike">
                <a:latin typeface="Arial"/>
              </a:rPr>
              <a:t>ever</a:t>
            </a:r>
            <a:r>
              <a:rPr b="0" lang="en-US" sz="2000" spc="-1" strike="noStrike">
                <a:latin typeface="Arial"/>
              </a:rPr>
              <a:t>ywh</a:t>
            </a:r>
            <a:r>
              <a:rPr b="0" lang="en-US" sz="2000" spc="-1" strike="noStrike">
                <a:latin typeface="Arial"/>
              </a:rPr>
              <a:t>ere </a:t>
            </a:r>
            <a:r>
              <a:rPr b="0" lang="en-US" sz="2000" spc="-1" strike="noStrike">
                <a:latin typeface="Arial"/>
              </a:rPr>
              <a:t>after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[~1:</a:t>
            </a:r>
            <a:r>
              <a:rPr b="0" lang="en-US" sz="2000" spc="-1" strike="noStrike">
                <a:latin typeface="Arial"/>
              </a:rPr>
              <a:t>10]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D3038B-64B8-4F96-A37A-225A4A96C34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Zooming in </a:t>
            </a:r>
            <a:r>
              <a:rPr b="0" lang="en-US" sz="2000" spc="-1" strike="noStrike">
                <a:latin typeface="Arial"/>
              </a:rPr>
              <a:t>per run. </a:t>
            </a:r>
            <a:r>
              <a:rPr b="0" lang="en-US" sz="2000" spc="-1" strike="noStrike">
                <a:latin typeface="Arial"/>
              </a:rPr>
              <a:t>Two things </a:t>
            </a:r>
            <a:r>
              <a:rPr b="0" lang="en-US" sz="2000" spc="-1" strike="noStrike">
                <a:latin typeface="Arial"/>
              </a:rPr>
              <a:t>to see. </a:t>
            </a:r>
            <a:r>
              <a:rPr b="0" lang="en-US" sz="2000" spc="-1" strike="noStrike">
                <a:latin typeface="Arial"/>
              </a:rPr>
              <a:t>First, the </a:t>
            </a:r>
            <a:r>
              <a:rPr b="0" lang="en-US" sz="2000" spc="-1" strike="noStrike">
                <a:latin typeface="Arial"/>
              </a:rPr>
              <a:t>trajectory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regression </a:t>
            </a:r>
            <a:r>
              <a:rPr b="0" lang="en-US" sz="2000" spc="-1" strike="noStrike">
                <a:latin typeface="Arial"/>
              </a:rPr>
              <a:t>metrics are </a:t>
            </a:r>
            <a:r>
              <a:rPr b="0" lang="en-US" sz="2000" spc="-1" strike="noStrike">
                <a:latin typeface="Arial"/>
              </a:rPr>
              <a:t>interchang</a:t>
            </a:r>
            <a:r>
              <a:rPr b="0" lang="en-US" sz="2000" spc="-1" strike="noStrike">
                <a:latin typeface="Arial"/>
              </a:rPr>
              <a:t>eable — on </a:t>
            </a:r>
            <a:r>
              <a:rPr b="0" lang="en-US" sz="2000" spc="-1" strike="noStrike">
                <a:latin typeface="Arial"/>
              </a:rPr>
              <a:t>OpenVLA-</a:t>
            </a:r>
            <a:r>
              <a:rPr b="0" lang="en-US" sz="2000" spc="-1" strike="noStrike">
                <a:latin typeface="Arial"/>
              </a:rPr>
              <a:t>full, DTW </a:t>
            </a:r>
            <a:r>
              <a:rPr b="0" lang="en-US" sz="2000" spc="-1" strike="noStrike">
                <a:latin typeface="Arial"/>
              </a:rPr>
              <a:t>and L2 </a:t>
            </a:r>
            <a:r>
              <a:rPr b="0" lang="en-US" sz="2000" spc="-1" strike="noStrike">
                <a:latin typeface="Arial"/>
              </a:rPr>
              <a:t>literally </a:t>
            </a:r>
            <a:r>
              <a:rPr b="0" lang="en-US" sz="2000" spc="-1" strike="noStrike">
                <a:latin typeface="Arial"/>
              </a:rPr>
              <a:t>select the </a:t>
            </a:r>
            <a:r>
              <a:rPr b="0" lang="en-US" sz="2000" spc="-1" strike="noStrike">
                <a:latin typeface="Arial"/>
              </a:rPr>
              <a:t>same </a:t>
            </a:r>
            <a:r>
              <a:rPr b="0" lang="en-US" sz="2000" spc="-1" strike="noStrike">
                <a:latin typeface="Arial"/>
              </a:rPr>
              <a:t>checkpoint, </a:t>
            </a:r>
            <a:r>
              <a:rPr b="0" lang="en-US" sz="2000" spc="-1" strike="noStrike">
                <a:latin typeface="Arial"/>
              </a:rPr>
              <a:t>21499, </a:t>
            </a:r>
            <a:r>
              <a:rPr b="0" lang="en-US" sz="2000" spc="-1" strike="noStrike">
                <a:latin typeface="Arial"/>
              </a:rPr>
              <a:t>same rho, </a:t>
            </a:r>
            <a:r>
              <a:rPr b="0" lang="en-US" sz="2000" spc="-1" strike="noStrike">
                <a:latin typeface="Arial"/>
              </a:rPr>
              <a:t>zero regret. </a:t>
            </a:r>
            <a:r>
              <a:rPr b="0" lang="en-US" sz="2000" spc="-1" strike="noStrike">
                <a:latin typeface="Arial"/>
              </a:rPr>
              <a:t>So this is a </a:t>
            </a:r>
            <a:r>
              <a:rPr b="0" lang="en-US" sz="2000" spc="-1" strike="noStrike">
                <a:latin typeface="Arial"/>
              </a:rPr>
              <a:t>family of </a:t>
            </a:r>
            <a:r>
              <a:rPr b="0" lang="en-US" sz="2000" spc="-1" strike="noStrike">
                <a:latin typeface="Arial"/>
              </a:rPr>
              <a:t>comparabl</a:t>
            </a:r>
            <a:r>
              <a:rPr b="0" lang="en-US" sz="2000" spc="-1" strike="noStrike">
                <a:latin typeface="Arial"/>
              </a:rPr>
              <a:t>e choices, </a:t>
            </a:r>
            <a:r>
              <a:rPr b="0" lang="en-US" sz="2000" spc="-1" strike="noStrike">
                <a:latin typeface="Arial"/>
              </a:rPr>
              <a:t>not a strict </a:t>
            </a:r>
            <a:r>
              <a:rPr b="0" lang="en-US" sz="2000" spc="-1" strike="noStrike">
                <a:latin typeface="Arial"/>
              </a:rPr>
              <a:t>winner. </a:t>
            </a:r>
            <a:r>
              <a:rPr b="0" lang="en-US" sz="2000" spc="-1" strike="noStrike">
                <a:latin typeface="Arial"/>
              </a:rPr>
              <a:t>Second, </a:t>
            </a:r>
            <a:r>
              <a:rPr b="0" lang="en-US" sz="2000" spc="-1" strike="noStrike">
                <a:latin typeface="Arial"/>
              </a:rPr>
              <a:t>look at the </a:t>
            </a:r>
            <a:r>
              <a:rPr b="0" lang="en-US" sz="2000" spc="-1" strike="noStrike">
                <a:latin typeface="Arial"/>
              </a:rPr>
              <a:t>highlighted </a:t>
            </a:r>
            <a:r>
              <a:rPr b="0" lang="en-US" sz="2000" spc="-1" strike="noStrike">
                <a:latin typeface="Arial"/>
              </a:rPr>
              <a:t>NLL/FM </a:t>
            </a:r>
            <a:r>
              <a:rPr b="0" lang="en-US" sz="2000" spc="-1" strike="noStrike">
                <a:latin typeface="Arial"/>
              </a:rPr>
              <a:t>row: strong </a:t>
            </a:r>
            <a:r>
              <a:rPr b="0" lang="en-US" sz="2000" spc="-1" strike="noStrike">
                <a:latin typeface="Arial"/>
              </a:rPr>
              <a:t>on the blue </a:t>
            </a:r>
            <a:r>
              <a:rPr b="0" lang="en-US" sz="2000" spc="-1" strike="noStrike">
                <a:latin typeface="Arial"/>
              </a:rPr>
              <a:t>discrete-</a:t>
            </a:r>
            <a:r>
              <a:rPr b="0" lang="en-US" sz="2000" spc="-1" strike="noStrike">
                <a:latin typeface="Arial"/>
              </a:rPr>
              <a:t>token </a:t>
            </a:r>
            <a:r>
              <a:rPr b="0" lang="en-US" sz="2000" spc="-1" strike="noStrike">
                <a:latin typeface="Arial"/>
              </a:rPr>
              <a:t>table, but </a:t>
            </a:r>
            <a:r>
              <a:rPr b="0" lang="en-US" sz="2000" spc="-1" strike="noStrike">
                <a:latin typeface="Arial"/>
              </a:rPr>
              <a:t>drops to </a:t>
            </a:r>
            <a:r>
              <a:rPr b="0" lang="en-US" sz="2000" spc="-1" strike="noStrike">
                <a:latin typeface="Arial"/>
              </a:rPr>
              <a:t>0.46 and </a:t>
            </a:r>
            <a:r>
              <a:rPr b="0" lang="en-US" sz="2000" spc="-1" strike="noStrike">
                <a:latin typeface="Arial"/>
              </a:rPr>
              <a:t>even </a:t>
            </a:r>
            <a:r>
              <a:rPr b="0" lang="en-US" sz="2000" spc="-1" strike="noStrike">
                <a:latin typeface="Arial"/>
              </a:rPr>
              <a:t>negative </a:t>
            </a:r>
            <a:r>
              <a:rPr b="0" lang="en-US" sz="2000" spc="-1" strike="noStrike">
                <a:latin typeface="Arial"/>
              </a:rPr>
              <a:t>on the </a:t>
            </a:r>
            <a:r>
              <a:rPr b="0" lang="en-US" sz="2000" spc="-1" strike="noStrike">
                <a:latin typeface="Arial"/>
              </a:rPr>
              <a:t>flow-</a:t>
            </a:r>
            <a:r>
              <a:rPr b="0" lang="en-US" sz="2000" spc="-1" strike="noStrike">
                <a:latin typeface="Arial"/>
              </a:rPr>
              <a:t>matching </a:t>
            </a:r>
            <a:r>
              <a:rPr b="0" lang="en-US" sz="2000" spc="-1" strike="noStrike">
                <a:latin typeface="Arial"/>
              </a:rPr>
              <a:t>tables.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architectur</a:t>
            </a:r>
            <a:r>
              <a:rPr b="0" lang="en-US" sz="2000" spc="-1" strike="noStrike">
                <a:latin typeface="Arial"/>
              </a:rPr>
              <a:t>e split is </a:t>
            </a:r>
            <a:r>
              <a:rPr b="0" lang="en-US" sz="2000" spc="-1" strike="noStrike">
                <a:latin typeface="Arial"/>
              </a:rPr>
              <a:t>the RQ4 </a:t>
            </a:r>
            <a:r>
              <a:rPr b="0" lang="en-US" sz="2000" spc="-1" strike="noStrike">
                <a:latin typeface="Arial"/>
              </a:rPr>
              <a:t>story. </a:t>
            </a:r>
            <a:r>
              <a:rPr b="0" lang="en-US" sz="2000" spc="-1" strike="noStrike">
                <a:latin typeface="Arial"/>
              </a:rPr>
              <a:t>[~1:15]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B29A66E-4A6B-4C56-856B-10C7313C4C9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Zoomi</a:t>
            </a:r>
            <a:r>
              <a:rPr b="0" lang="en-US" sz="2000" spc="-1" strike="noStrike">
                <a:latin typeface="Arial"/>
              </a:rPr>
              <a:t>ng in </a:t>
            </a:r>
            <a:r>
              <a:rPr b="0" lang="en-US" sz="2000" spc="-1" strike="noStrike">
                <a:latin typeface="Arial"/>
              </a:rPr>
              <a:t>per </a:t>
            </a:r>
            <a:r>
              <a:rPr b="0" lang="en-US" sz="2000" spc="-1" strike="noStrike">
                <a:latin typeface="Arial"/>
              </a:rPr>
              <a:t>run.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thing</a:t>
            </a:r>
            <a:r>
              <a:rPr b="0" lang="en-US" sz="2000" spc="-1" strike="noStrike">
                <a:latin typeface="Arial"/>
              </a:rPr>
              <a:t>s to </a:t>
            </a:r>
            <a:r>
              <a:rPr b="0" lang="en-US" sz="2000" spc="-1" strike="noStrike">
                <a:latin typeface="Arial"/>
              </a:rPr>
              <a:t>see. </a:t>
            </a:r>
            <a:r>
              <a:rPr b="0" lang="en-US" sz="2000" spc="-1" strike="noStrike">
                <a:latin typeface="Arial"/>
              </a:rPr>
              <a:t>First,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traje</a:t>
            </a:r>
            <a:r>
              <a:rPr b="0" lang="en-US" sz="2000" spc="-1" strike="noStrike">
                <a:latin typeface="Arial"/>
              </a:rPr>
              <a:t>ctory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regre</a:t>
            </a:r>
            <a:r>
              <a:rPr b="0" lang="en-US" sz="2000" spc="-1" strike="noStrike">
                <a:latin typeface="Arial"/>
              </a:rPr>
              <a:t>ssio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metri</a:t>
            </a:r>
            <a:r>
              <a:rPr b="0" lang="en-US" sz="2000" spc="-1" strike="noStrike">
                <a:latin typeface="Arial"/>
              </a:rPr>
              <a:t>cs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inter</a:t>
            </a:r>
            <a:r>
              <a:rPr b="0" lang="en-US" sz="2000" spc="-1" strike="noStrike">
                <a:latin typeface="Arial"/>
              </a:rPr>
              <a:t>chan</a:t>
            </a:r>
            <a:r>
              <a:rPr b="0" lang="en-US" sz="2000" spc="-1" strike="noStrike">
                <a:latin typeface="Arial"/>
              </a:rPr>
              <a:t>geab</a:t>
            </a:r>
            <a:r>
              <a:rPr b="0" lang="en-US" sz="2000" spc="-1" strike="noStrike">
                <a:latin typeface="Arial"/>
              </a:rPr>
              <a:t>le —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Ope</a:t>
            </a:r>
            <a:r>
              <a:rPr b="0" lang="en-US" sz="2000" spc="-1" strike="noStrike">
                <a:latin typeface="Arial"/>
              </a:rPr>
              <a:t>nVL</a:t>
            </a:r>
            <a:r>
              <a:rPr b="0" lang="en-US" sz="2000" spc="-1" strike="noStrike">
                <a:latin typeface="Arial"/>
              </a:rPr>
              <a:t>A-</a:t>
            </a:r>
            <a:r>
              <a:rPr b="0" lang="en-US" sz="2000" spc="-1" strike="noStrike">
                <a:latin typeface="Arial"/>
              </a:rPr>
              <a:t>full, </a:t>
            </a:r>
            <a:r>
              <a:rPr b="0" lang="en-US" sz="2000" spc="-1" strike="noStrike">
                <a:latin typeface="Arial"/>
              </a:rPr>
              <a:t>DTW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L2 </a:t>
            </a:r>
            <a:r>
              <a:rPr b="0" lang="en-US" sz="2000" spc="-1" strike="noStrike">
                <a:latin typeface="Arial"/>
              </a:rPr>
              <a:t>litera</a:t>
            </a:r>
            <a:r>
              <a:rPr b="0" lang="en-US" sz="2000" spc="-1" strike="noStrike">
                <a:latin typeface="Arial"/>
              </a:rPr>
              <a:t>lly </a:t>
            </a:r>
            <a:r>
              <a:rPr b="0" lang="en-US" sz="2000" spc="-1" strike="noStrike">
                <a:latin typeface="Arial"/>
              </a:rPr>
              <a:t>sele</a:t>
            </a:r>
            <a:r>
              <a:rPr b="0" lang="en-US" sz="2000" spc="-1" strike="noStrike">
                <a:latin typeface="Arial"/>
              </a:rPr>
              <a:t>ct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sam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chec</a:t>
            </a:r>
            <a:r>
              <a:rPr b="0" lang="en-US" sz="2000" spc="-1" strike="noStrike">
                <a:latin typeface="Arial"/>
              </a:rPr>
              <a:t>kpoi</a:t>
            </a:r>
            <a:r>
              <a:rPr b="0" lang="en-US" sz="2000" spc="-1" strike="noStrike">
                <a:latin typeface="Arial"/>
              </a:rPr>
              <a:t>nt, </a:t>
            </a:r>
            <a:r>
              <a:rPr b="0" lang="en-US" sz="2000" spc="-1" strike="noStrike">
                <a:latin typeface="Arial"/>
              </a:rPr>
              <a:t>2149</a:t>
            </a:r>
            <a:r>
              <a:rPr b="0" lang="en-US" sz="2000" spc="-1" strike="noStrike">
                <a:latin typeface="Arial"/>
              </a:rPr>
              <a:t>9, </a:t>
            </a:r>
            <a:r>
              <a:rPr b="0" lang="en-US" sz="2000" spc="-1" strike="noStrike">
                <a:latin typeface="Arial"/>
              </a:rPr>
              <a:t>sam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rho, </a:t>
            </a:r>
            <a:r>
              <a:rPr b="0" lang="en-US" sz="2000" spc="-1" strike="noStrike">
                <a:latin typeface="Arial"/>
              </a:rPr>
              <a:t>zero </a:t>
            </a:r>
            <a:r>
              <a:rPr b="0" lang="en-US" sz="2000" spc="-1" strike="noStrike">
                <a:latin typeface="Arial"/>
              </a:rPr>
              <a:t>regre</a:t>
            </a:r>
            <a:r>
              <a:rPr b="0" lang="en-US" sz="2000" spc="-1" strike="noStrike">
                <a:latin typeface="Arial"/>
              </a:rPr>
              <a:t>t. So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is a </a:t>
            </a:r>
            <a:r>
              <a:rPr b="0" lang="en-US" sz="2000" spc="-1" strike="noStrike">
                <a:latin typeface="Arial"/>
              </a:rPr>
              <a:t>famil</a:t>
            </a:r>
            <a:r>
              <a:rPr b="0" lang="en-US" sz="2000" spc="-1" strike="noStrike">
                <a:latin typeface="Arial"/>
              </a:rPr>
              <a:t>y of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para</a:t>
            </a:r>
            <a:r>
              <a:rPr b="0" lang="en-US" sz="2000" spc="-1" strike="noStrike">
                <a:latin typeface="Arial"/>
              </a:rPr>
              <a:t>ble </a:t>
            </a:r>
            <a:r>
              <a:rPr b="0" lang="en-US" sz="2000" spc="-1" strike="noStrike">
                <a:latin typeface="Arial"/>
              </a:rPr>
              <a:t>choi</a:t>
            </a:r>
            <a:r>
              <a:rPr b="0" lang="en-US" sz="2000" spc="-1" strike="noStrike">
                <a:latin typeface="Arial"/>
              </a:rPr>
              <a:t>ces, </a:t>
            </a:r>
            <a:r>
              <a:rPr b="0" lang="en-US" sz="2000" spc="-1" strike="noStrike">
                <a:latin typeface="Arial"/>
              </a:rPr>
              <a:t>not a </a:t>
            </a:r>
            <a:r>
              <a:rPr b="0" lang="en-US" sz="2000" spc="-1" strike="noStrike">
                <a:latin typeface="Arial"/>
              </a:rPr>
              <a:t>strict </a:t>
            </a:r>
            <a:r>
              <a:rPr b="0" lang="en-US" sz="2000" spc="-1" strike="noStrike">
                <a:latin typeface="Arial"/>
              </a:rPr>
              <a:t>winn</a:t>
            </a:r>
            <a:r>
              <a:rPr b="0" lang="en-US" sz="2000" spc="-1" strike="noStrike">
                <a:latin typeface="Arial"/>
              </a:rPr>
              <a:t>er. </a:t>
            </a:r>
            <a:r>
              <a:rPr b="0" lang="en-US" sz="2000" spc="-1" strike="noStrike">
                <a:latin typeface="Arial"/>
              </a:rPr>
              <a:t>Seco</a:t>
            </a:r>
            <a:r>
              <a:rPr b="0" lang="en-US" sz="2000" spc="-1" strike="noStrike">
                <a:latin typeface="Arial"/>
              </a:rPr>
              <a:t>nd, </a:t>
            </a:r>
            <a:r>
              <a:rPr b="0" lang="en-US" sz="2000" spc="-1" strike="noStrike">
                <a:latin typeface="Arial"/>
              </a:rPr>
              <a:t>look </a:t>
            </a:r>
            <a:r>
              <a:rPr b="0" lang="en-US" sz="2000" spc="-1" strike="noStrike">
                <a:latin typeface="Arial"/>
              </a:rPr>
              <a:t>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highli</a:t>
            </a:r>
            <a:r>
              <a:rPr b="0" lang="en-US" sz="2000" spc="-1" strike="noStrike">
                <a:latin typeface="Arial"/>
              </a:rPr>
              <a:t>ghte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NLL/</a:t>
            </a:r>
            <a:r>
              <a:rPr b="0" lang="en-US" sz="2000" spc="-1" strike="noStrike">
                <a:latin typeface="Arial"/>
              </a:rPr>
              <a:t>FM </a:t>
            </a:r>
            <a:r>
              <a:rPr b="0" lang="en-US" sz="2000" spc="-1" strike="noStrike">
                <a:latin typeface="Arial"/>
              </a:rPr>
              <a:t>row: </a:t>
            </a:r>
            <a:r>
              <a:rPr b="0" lang="en-US" sz="2000" spc="-1" strike="noStrike">
                <a:latin typeface="Arial"/>
              </a:rPr>
              <a:t>stron</a:t>
            </a:r>
            <a:r>
              <a:rPr b="0" lang="en-US" sz="2000" spc="-1" strike="noStrike">
                <a:latin typeface="Arial"/>
              </a:rPr>
              <a:t>g 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blue </a:t>
            </a:r>
            <a:r>
              <a:rPr b="0" lang="en-US" sz="2000" spc="-1" strike="noStrike">
                <a:latin typeface="Arial"/>
              </a:rPr>
              <a:t>discr</a:t>
            </a:r>
            <a:r>
              <a:rPr b="0" lang="en-US" sz="2000" spc="-1" strike="noStrike">
                <a:latin typeface="Arial"/>
              </a:rPr>
              <a:t>ete-</a:t>
            </a:r>
            <a:r>
              <a:rPr b="0" lang="en-US" sz="2000" spc="-1" strike="noStrike">
                <a:latin typeface="Arial"/>
              </a:rPr>
              <a:t>toke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table</a:t>
            </a:r>
            <a:r>
              <a:rPr b="0" lang="en-US" sz="2000" spc="-1" strike="noStrike">
                <a:latin typeface="Arial"/>
              </a:rPr>
              <a:t>, but </a:t>
            </a:r>
            <a:r>
              <a:rPr b="0" lang="en-US" sz="2000" spc="-1" strike="noStrike">
                <a:latin typeface="Arial"/>
              </a:rPr>
              <a:t>drop</a:t>
            </a:r>
            <a:r>
              <a:rPr b="0" lang="en-US" sz="2000" spc="-1" strike="noStrike">
                <a:latin typeface="Arial"/>
              </a:rPr>
              <a:t>s to </a:t>
            </a:r>
            <a:r>
              <a:rPr b="0" lang="en-US" sz="2000" spc="-1" strike="noStrike">
                <a:latin typeface="Arial"/>
              </a:rPr>
              <a:t>0.46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even </a:t>
            </a:r>
            <a:r>
              <a:rPr b="0" lang="en-US" sz="2000" spc="-1" strike="noStrike">
                <a:latin typeface="Arial"/>
              </a:rPr>
              <a:t>nega</a:t>
            </a:r>
            <a:r>
              <a:rPr b="0" lang="en-US" sz="2000" spc="-1" strike="noStrike">
                <a:latin typeface="Arial"/>
              </a:rPr>
              <a:t>tive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flow-</a:t>
            </a:r>
            <a:r>
              <a:rPr b="0" lang="en-US" sz="2000" spc="-1" strike="noStrike">
                <a:latin typeface="Arial"/>
              </a:rPr>
              <a:t>matc</a:t>
            </a:r>
            <a:r>
              <a:rPr b="0" lang="en-US" sz="2000" spc="-1" strike="noStrike">
                <a:latin typeface="Arial"/>
              </a:rPr>
              <a:t>hing </a:t>
            </a:r>
            <a:r>
              <a:rPr b="0" lang="en-US" sz="2000" spc="-1" strike="noStrike">
                <a:latin typeface="Arial"/>
              </a:rPr>
              <a:t>table</a:t>
            </a:r>
            <a:r>
              <a:rPr b="0" lang="en-US" sz="2000" spc="-1" strike="noStrike">
                <a:latin typeface="Arial"/>
              </a:rPr>
              <a:t>s.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archi</a:t>
            </a:r>
            <a:r>
              <a:rPr b="0" lang="en-US" sz="2000" spc="-1" strike="noStrike">
                <a:latin typeface="Arial"/>
              </a:rPr>
              <a:t>tectu</a:t>
            </a:r>
            <a:r>
              <a:rPr b="0" lang="en-US" sz="2000" spc="-1" strike="noStrike">
                <a:latin typeface="Arial"/>
              </a:rPr>
              <a:t>re </a:t>
            </a:r>
            <a:r>
              <a:rPr b="0" lang="en-US" sz="2000" spc="-1" strike="noStrike">
                <a:latin typeface="Arial"/>
              </a:rPr>
              <a:t>split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RQ4 </a:t>
            </a:r>
            <a:r>
              <a:rPr b="0" lang="en-US" sz="2000" spc="-1" strike="noStrike">
                <a:latin typeface="Arial"/>
              </a:rPr>
              <a:t>story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[~1:1</a:t>
            </a:r>
            <a:r>
              <a:rPr b="0" lang="en-US" sz="2000" spc="-1" strike="noStrike">
                <a:latin typeface="Arial"/>
              </a:rPr>
              <a:t>5]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ED1FF1-525C-4414-B8A2-76756531348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Zoomi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in </a:t>
            </a:r>
            <a:r>
              <a:rPr b="0" lang="en-US" sz="2000" spc="-1" strike="noStrike">
                <a:latin typeface="Arial"/>
              </a:rPr>
              <a:t>per </a:t>
            </a:r>
            <a:r>
              <a:rPr b="0" lang="en-US" sz="2000" spc="-1" strike="noStrike">
                <a:latin typeface="Arial"/>
              </a:rPr>
              <a:t>run.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thin</a:t>
            </a:r>
            <a:r>
              <a:rPr b="0" lang="en-US" sz="2000" spc="-1" strike="noStrike">
                <a:latin typeface="Arial"/>
              </a:rPr>
              <a:t>gs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see. </a:t>
            </a:r>
            <a:r>
              <a:rPr b="0" lang="en-US" sz="2000" spc="-1" strike="noStrike">
                <a:latin typeface="Arial"/>
              </a:rPr>
              <a:t>First</a:t>
            </a:r>
            <a:r>
              <a:rPr b="0" lang="en-US" sz="2000" spc="-1" strike="noStrike">
                <a:latin typeface="Arial"/>
              </a:rPr>
              <a:t>, the </a:t>
            </a:r>
            <a:r>
              <a:rPr b="0" lang="en-US" sz="2000" spc="-1" strike="noStrike">
                <a:latin typeface="Arial"/>
              </a:rPr>
              <a:t>traje</a:t>
            </a:r>
            <a:r>
              <a:rPr b="0" lang="en-US" sz="2000" spc="-1" strike="noStrike">
                <a:latin typeface="Arial"/>
              </a:rPr>
              <a:t>ctor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regr</a:t>
            </a:r>
            <a:r>
              <a:rPr b="0" lang="en-US" sz="2000" spc="-1" strike="noStrike">
                <a:latin typeface="Arial"/>
              </a:rPr>
              <a:t>essi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metr</a:t>
            </a:r>
            <a:r>
              <a:rPr b="0" lang="en-US" sz="2000" spc="-1" strike="noStrike">
                <a:latin typeface="Arial"/>
              </a:rPr>
              <a:t>ics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inter</a:t>
            </a:r>
            <a:r>
              <a:rPr b="0" lang="en-US" sz="2000" spc="-1" strike="noStrike">
                <a:latin typeface="Arial"/>
              </a:rPr>
              <a:t>cha</a:t>
            </a:r>
            <a:r>
              <a:rPr b="0" lang="en-US" sz="2000" spc="-1" strike="noStrike">
                <a:latin typeface="Arial"/>
              </a:rPr>
              <a:t>nge</a:t>
            </a:r>
            <a:r>
              <a:rPr b="0" lang="en-US" sz="2000" spc="-1" strike="noStrike">
                <a:latin typeface="Arial"/>
              </a:rPr>
              <a:t>able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Ope</a:t>
            </a:r>
            <a:r>
              <a:rPr b="0" lang="en-US" sz="2000" spc="-1" strike="noStrike">
                <a:latin typeface="Arial"/>
              </a:rPr>
              <a:t>nVL</a:t>
            </a:r>
            <a:r>
              <a:rPr b="0" lang="en-US" sz="2000" spc="-1" strike="noStrike">
                <a:latin typeface="Arial"/>
              </a:rPr>
              <a:t>A-</a:t>
            </a:r>
            <a:r>
              <a:rPr b="0" lang="en-US" sz="2000" spc="-1" strike="noStrike">
                <a:latin typeface="Arial"/>
              </a:rPr>
              <a:t>full, </a:t>
            </a:r>
            <a:r>
              <a:rPr b="0" lang="en-US" sz="2000" spc="-1" strike="noStrike">
                <a:latin typeface="Arial"/>
              </a:rPr>
              <a:t>DT</a:t>
            </a:r>
            <a:r>
              <a:rPr b="0" lang="en-US" sz="2000" spc="-1" strike="noStrike">
                <a:latin typeface="Arial"/>
              </a:rPr>
              <a:t>W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L2 </a:t>
            </a:r>
            <a:r>
              <a:rPr b="0" lang="en-US" sz="2000" spc="-1" strike="noStrike">
                <a:latin typeface="Arial"/>
              </a:rPr>
              <a:t>liter</a:t>
            </a:r>
            <a:r>
              <a:rPr b="0" lang="en-US" sz="2000" spc="-1" strike="noStrike">
                <a:latin typeface="Arial"/>
              </a:rPr>
              <a:t>ally </a:t>
            </a:r>
            <a:r>
              <a:rPr b="0" lang="en-US" sz="2000" spc="-1" strike="noStrike">
                <a:latin typeface="Arial"/>
              </a:rPr>
              <a:t>sele</a:t>
            </a:r>
            <a:r>
              <a:rPr b="0" lang="en-US" sz="2000" spc="-1" strike="noStrike">
                <a:latin typeface="Arial"/>
              </a:rPr>
              <a:t>ct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sam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chec</a:t>
            </a:r>
            <a:r>
              <a:rPr b="0" lang="en-US" sz="2000" spc="-1" strike="noStrike">
                <a:latin typeface="Arial"/>
              </a:rPr>
              <a:t>kpoi</a:t>
            </a:r>
            <a:r>
              <a:rPr b="0" lang="en-US" sz="2000" spc="-1" strike="noStrike">
                <a:latin typeface="Arial"/>
              </a:rPr>
              <a:t>nt, </a:t>
            </a:r>
            <a:r>
              <a:rPr b="0" lang="en-US" sz="2000" spc="-1" strike="noStrike">
                <a:latin typeface="Arial"/>
              </a:rPr>
              <a:t>214</a:t>
            </a:r>
            <a:r>
              <a:rPr b="0" lang="en-US" sz="2000" spc="-1" strike="noStrike">
                <a:latin typeface="Arial"/>
              </a:rPr>
              <a:t>99, </a:t>
            </a:r>
            <a:r>
              <a:rPr b="0" lang="en-US" sz="2000" spc="-1" strike="noStrike">
                <a:latin typeface="Arial"/>
              </a:rPr>
              <a:t>sam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rho, </a:t>
            </a:r>
            <a:r>
              <a:rPr b="0" lang="en-US" sz="2000" spc="-1" strike="noStrike">
                <a:latin typeface="Arial"/>
              </a:rPr>
              <a:t>zero </a:t>
            </a:r>
            <a:r>
              <a:rPr b="0" lang="en-US" sz="2000" spc="-1" strike="noStrike">
                <a:latin typeface="Arial"/>
              </a:rPr>
              <a:t>regr</a:t>
            </a:r>
            <a:r>
              <a:rPr b="0" lang="en-US" sz="2000" spc="-1" strike="noStrike">
                <a:latin typeface="Arial"/>
              </a:rPr>
              <a:t>et. </a:t>
            </a:r>
            <a:r>
              <a:rPr b="0" lang="en-US" sz="2000" spc="-1" strike="noStrike">
                <a:latin typeface="Arial"/>
              </a:rPr>
              <a:t>So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is a </a:t>
            </a:r>
            <a:r>
              <a:rPr b="0" lang="en-US" sz="2000" spc="-1" strike="noStrike">
                <a:latin typeface="Arial"/>
              </a:rPr>
              <a:t>famil</a:t>
            </a:r>
            <a:r>
              <a:rPr b="0" lang="en-US" sz="2000" spc="-1" strike="noStrike">
                <a:latin typeface="Arial"/>
              </a:rPr>
              <a:t>y of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para</a:t>
            </a:r>
            <a:r>
              <a:rPr b="0" lang="en-US" sz="2000" spc="-1" strike="noStrike">
                <a:latin typeface="Arial"/>
              </a:rPr>
              <a:t>ble </a:t>
            </a:r>
            <a:r>
              <a:rPr b="0" lang="en-US" sz="2000" spc="-1" strike="noStrike">
                <a:latin typeface="Arial"/>
              </a:rPr>
              <a:t>choi</a:t>
            </a:r>
            <a:r>
              <a:rPr b="0" lang="en-US" sz="2000" spc="-1" strike="noStrike">
                <a:latin typeface="Arial"/>
              </a:rPr>
              <a:t>ces, </a:t>
            </a:r>
            <a:r>
              <a:rPr b="0" lang="en-US" sz="2000" spc="-1" strike="noStrike">
                <a:latin typeface="Arial"/>
              </a:rPr>
              <a:t>not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stric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winn</a:t>
            </a:r>
            <a:r>
              <a:rPr b="0" lang="en-US" sz="2000" spc="-1" strike="noStrike">
                <a:latin typeface="Arial"/>
              </a:rPr>
              <a:t>er. </a:t>
            </a:r>
            <a:r>
              <a:rPr b="0" lang="en-US" sz="2000" spc="-1" strike="noStrike">
                <a:latin typeface="Arial"/>
              </a:rPr>
              <a:t>Sec</a:t>
            </a:r>
            <a:r>
              <a:rPr b="0" lang="en-US" sz="2000" spc="-1" strike="noStrike">
                <a:latin typeface="Arial"/>
              </a:rPr>
              <a:t>ond, </a:t>
            </a:r>
            <a:r>
              <a:rPr b="0" lang="en-US" sz="2000" spc="-1" strike="noStrike">
                <a:latin typeface="Arial"/>
              </a:rPr>
              <a:t>look </a:t>
            </a:r>
            <a:r>
              <a:rPr b="0" lang="en-US" sz="2000" spc="-1" strike="noStrike">
                <a:latin typeface="Arial"/>
              </a:rPr>
              <a:t>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highl</a:t>
            </a:r>
            <a:r>
              <a:rPr b="0" lang="en-US" sz="2000" spc="-1" strike="noStrike">
                <a:latin typeface="Arial"/>
              </a:rPr>
              <a:t>ight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NLL/</a:t>
            </a:r>
            <a:r>
              <a:rPr b="0" lang="en-US" sz="2000" spc="-1" strike="noStrike">
                <a:latin typeface="Arial"/>
              </a:rPr>
              <a:t>FM </a:t>
            </a:r>
            <a:r>
              <a:rPr b="0" lang="en-US" sz="2000" spc="-1" strike="noStrike">
                <a:latin typeface="Arial"/>
              </a:rPr>
              <a:t>row: </a:t>
            </a:r>
            <a:r>
              <a:rPr b="0" lang="en-US" sz="2000" spc="-1" strike="noStrike">
                <a:latin typeface="Arial"/>
              </a:rPr>
              <a:t>stro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blue </a:t>
            </a:r>
            <a:r>
              <a:rPr b="0" lang="en-US" sz="2000" spc="-1" strike="noStrike">
                <a:latin typeface="Arial"/>
              </a:rPr>
              <a:t>discr</a:t>
            </a:r>
            <a:r>
              <a:rPr b="0" lang="en-US" sz="2000" spc="-1" strike="noStrike">
                <a:latin typeface="Arial"/>
              </a:rPr>
              <a:t>ete-</a:t>
            </a:r>
            <a:r>
              <a:rPr b="0" lang="en-US" sz="2000" spc="-1" strike="noStrike">
                <a:latin typeface="Arial"/>
              </a:rPr>
              <a:t>toke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tabl</a:t>
            </a:r>
            <a:r>
              <a:rPr b="0" lang="en-US" sz="2000" spc="-1" strike="noStrike">
                <a:latin typeface="Arial"/>
              </a:rPr>
              <a:t>e, </a:t>
            </a:r>
            <a:r>
              <a:rPr b="0" lang="en-US" sz="2000" spc="-1" strike="noStrike">
                <a:latin typeface="Arial"/>
              </a:rPr>
              <a:t>but </a:t>
            </a:r>
            <a:r>
              <a:rPr b="0" lang="en-US" sz="2000" spc="-1" strike="noStrike">
                <a:latin typeface="Arial"/>
              </a:rPr>
              <a:t>drop</a:t>
            </a:r>
            <a:r>
              <a:rPr b="0" lang="en-US" sz="2000" spc="-1" strike="noStrike">
                <a:latin typeface="Arial"/>
              </a:rPr>
              <a:t>s to </a:t>
            </a:r>
            <a:r>
              <a:rPr b="0" lang="en-US" sz="2000" spc="-1" strike="noStrike">
                <a:latin typeface="Arial"/>
              </a:rPr>
              <a:t>0.46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eve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neg</a:t>
            </a:r>
            <a:r>
              <a:rPr b="0" lang="en-US" sz="2000" spc="-1" strike="noStrike">
                <a:latin typeface="Arial"/>
              </a:rPr>
              <a:t>ative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flow-</a:t>
            </a:r>
            <a:r>
              <a:rPr b="0" lang="en-US" sz="2000" spc="-1" strike="noStrike">
                <a:latin typeface="Arial"/>
              </a:rPr>
              <a:t>mat</a:t>
            </a:r>
            <a:r>
              <a:rPr b="0" lang="en-US" sz="2000" spc="-1" strike="noStrike">
                <a:latin typeface="Arial"/>
              </a:rPr>
              <a:t>chin</a:t>
            </a:r>
            <a:r>
              <a:rPr b="0" lang="en-US" sz="2000" spc="-1" strike="noStrike">
                <a:latin typeface="Arial"/>
              </a:rPr>
              <a:t>g </a:t>
            </a:r>
            <a:r>
              <a:rPr b="0" lang="en-US" sz="2000" spc="-1" strike="noStrike">
                <a:latin typeface="Arial"/>
              </a:rPr>
              <a:t>tabl</a:t>
            </a:r>
            <a:r>
              <a:rPr b="0" lang="en-US" sz="2000" spc="-1" strike="noStrike">
                <a:latin typeface="Arial"/>
              </a:rPr>
              <a:t>es.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arch</a:t>
            </a:r>
            <a:r>
              <a:rPr b="0" lang="en-US" sz="2000" spc="-1" strike="noStrike">
                <a:latin typeface="Arial"/>
              </a:rPr>
              <a:t>itect</a:t>
            </a:r>
            <a:r>
              <a:rPr b="0" lang="en-US" sz="2000" spc="-1" strike="noStrike">
                <a:latin typeface="Arial"/>
              </a:rPr>
              <a:t>ure </a:t>
            </a:r>
            <a:r>
              <a:rPr b="0" lang="en-US" sz="2000" spc="-1" strike="noStrike">
                <a:latin typeface="Arial"/>
              </a:rPr>
              <a:t>split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RQ4 </a:t>
            </a:r>
            <a:r>
              <a:rPr b="0" lang="en-US" sz="2000" spc="-1" strike="noStrike">
                <a:latin typeface="Arial"/>
              </a:rPr>
              <a:t>story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[~1:</a:t>
            </a:r>
            <a:r>
              <a:rPr b="0" lang="en-US" sz="2000" spc="-1" strike="noStrike">
                <a:latin typeface="Arial"/>
              </a:rPr>
              <a:t>15]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6C24C4-46A7-445F-9EE0-25FB9E7EE75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RQ2, the </a:t>
            </a:r>
            <a:r>
              <a:rPr b="0" lang="en-US" sz="2000" spc="-1" strike="noStrike">
                <a:latin typeface="Arial"/>
              </a:rPr>
              <a:t>headline. </a:t>
            </a:r>
            <a:r>
              <a:rPr b="0" lang="en-US" sz="2000" spc="-1" strike="noStrike">
                <a:latin typeface="Arial"/>
              </a:rPr>
              <a:t>Left: </a:t>
            </a:r>
            <a:r>
              <a:rPr b="0" lang="en-US" sz="2000" spc="-1" strike="noStrike">
                <a:latin typeface="Arial"/>
              </a:rPr>
              <a:t>Spearman </a:t>
            </a:r>
            <a:r>
              <a:rPr b="0" lang="en-US" sz="2000" spc="-1" strike="noStrike">
                <a:latin typeface="Arial"/>
              </a:rPr>
              <a:t>rho of </a:t>
            </a:r>
            <a:r>
              <a:rPr b="0" lang="en-US" sz="2000" spc="-1" strike="noStrike">
                <a:latin typeface="Arial"/>
              </a:rPr>
              <a:t>every </a:t>
            </a:r>
            <a:r>
              <a:rPr b="0" lang="en-US" sz="2000" spc="-1" strike="noStrike">
                <a:latin typeface="Arial"/>
              </a:rPr>
              <a:t>metric with </a:t>
            </a:r>
            <a:r>
              <a:rPr b="0" lang="en-US" sz="2000" spc="-1" strike="noStrike">
                <a:latin typeface="Arial"/>
              </a:rPr>
              <a:t>success, </a:t>
            </a:r>
            <a:r>
              <a:rPr b="0" lang="en-US" sz="2000" spc="-1" strike="noStrike">
                <a:latin typeface="Arial"/>
              </a:rPr>
              <a:t>per run. </a:t>
            </a:r>
            <a:r>
              <a:rPr b="0" lang="en-US" sz="2000" spc="-1" strike="noStrike">
                <a:latin typeface="Arial"/>
              </a:rPr>
              <a:t>Right: the </a:t>
            </a:r>
            <a:r>
              <a:rPr b="0" lang="en-US" sz="2000" spc="-1" strike="noStrike">
                <a:latin typeface="Arial"/>
              </a:rPr>
              <a:t>success </a:t>
            </a:r>
            <a:r>
              <a:rPr b="0" lang="en-US" sz="2000" spc="-1" strike="noStrike">
                <a:latin typeface="Arial"/>
              </a:rPr>
              <a:t>curves.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trajectory </a:t>
            </a:r>
            <a:r>
              <a:rPr b="0" lang="en-US" sz="2000" spc="-1" strike="noStrike">
                <a:latin typeface="Arial"/>
              </a:rPr>
              <a:t>metrics — </a:t>
            </a:r>
            <a:r>
              <a:rPr b="0" lang="en-US" sz="2000" spc="-1" strike="noStrike">
                <a:latin typeface="Arial"/>
              </a:rPr>
              <a:t>DTW, OT, </a:t>
            </a:r>
            <a:r>
              <a:rPr b="0" lang="en-US" sz="2000" spc="-1" strike="noStrike">
                <a:latin typeface="Arial"/>
              </a:rPr>
              <a:t>cosine — </a:t>
            </a:r>
            <a:r>
              <a:rPr b="0" lang="en-US" sz="2000" spc="-1" strike="noStrike">
                <a:latin typeface="Arial"/>
              </a:rPr>
              <a:t>and the </a:t>
            </a:r>
            <a:r>
              <a:rPr b="0" lang="en-US" sz="2000" spc="-1" strike="noStrike">
                <a:latin typeface="Arial"/>
              </a:rPr>
              <a:t>L1/L2 </a:t>
            </a:r>
            <a:r>
              <a:rPr b="0" lang="en-US" sz="2000" spc="-1" strike="noStrike">
                <a:latin typeface="Arial"/>
              </a:rPr>
              <a:t>baselines </a:t>
            </a:r>
            <a:r>
              <a:rPr b="0" lang="en-US" sz="2000" spc="-1" strike="noStrike">
                <a:latin typeface="Arial"/>
              </a:rPr>
              <a:t>are positive </a:t>
            </a:r>
            <a:r>
              <a:rPr b="0" lang="en-US" sz="2000" spc="-1" strike="noStrike">
                <a:latin typeface="Arial"/>
              </a:rPr>
              <a:t>in every </a:t>
            </a:r>
            <a:r>
              <a:rPr b="0" lang="en-US" sz="2000" spc="-1" strike="noStrike">
                <a:latin typeface="Arial"/>
              </a:rPr>
              <a:t>single run, </a:t>
            </a:r>
            <a:r>
              <a:rPr b="0" lang="en-US" sz="2000" spc="-1" strike="noStrike">
                <a:latin typeface="Arial"/>
              </a:rPr>
              <a:t>across </a:t>
            </a:r>
            <a:r>
              <a:rPr b="0" lang="en-US" sz="2000" spc="-1" strike="noStrike">
                <a:latin typeface="Arial"/>
              </a:rPr>
              <a:t>discrete-</a:t>
            </a:r>
            <a:r>
              <a:rPr b="0" lang="en-US" sz="2000" spc="-1" strike="noStrike">
                <a:latin typeface="Arial"/>
              </a:rPr>
              <a:t>token and </a:t>
            </a:r>
            <a:r>
              <a:rPr b="0" lang="en-US" sz="2000" spc="-1" strike="noStrike">
                <a:latin typeface="Arial"/>
              </a:rPr>
              <a:t>flow-</a:t>
            </a:r>
            <a:r>
              <a:rPr b="0" lang="en-US" sz="2000" spc="-1" strike="noStrike">
                <a:latin typeface="Arial"/>
              </a:rPr>
              <a:t>matching, </a:t>
            </a:r>
            <a:r>
              <a:rPr b="0" lang="en-US" sz="2000" spc="-1" strike="noStrike">
                <a:latin typeface="Arial"/>
              </a:rPr>
              <a:t>across 150 </a:t>
            </a:r>
            <a:r>
              <a:rPr b="0" lang="en-US" sz="2000" spc="-1" strike="noStrike">
                <a:latin typeface="Arial"/>
              </a:rPr>
              <a:t>and full </a:t>
            </a:r>
            <a:r>
              <a:rPr b="0" lang="en-US" sz="2000" spc="-1" strike="noStrike">
                <a:latin typeface="Arial"/>
              </a:rPr>
              <a:t>data. DTW </a:t>
            </a:r>
            <a:r>
              <a:rPr b="0" lang="en-US" sz="2000" spc="-1" strike="noStrike">
                <a:latin typeface="Arial"/>
              </a:rPr>
              <a:t>specifically</a:t>
            </a:r>
            <a:r>
              <a:rPr b="0" lang="en-US" sz="2000" spc="-1" strike="noStrike">
                <a:latin typeface="Arial"/>
              </a:rPr>
              <a:t>: 0.47 to </a:t>
            </a:r>
            <a:r>
              <a:rPr b="0" lang="en-US" sz="2000" spc="-1" strike="noStrike">
                <a:latin typeface="Arial"/>
              </a:rPr>
              <a:t>0.90, never </a:t>
            </a:r>
            <a:r>
              <a:rPr b="0" lang="en-US" sz="2000" spc="-1" strike="noStrike">
                <a:latin typeface="Arial"/>
              </a:rPr>
              <a:t>negative, </a:t>
            </a:r>
            <a:r>
              <a:rPr b="0" lang="en-US" sz="2000" spc="-1" strike="noStrike">
                <a:latin typeface="Arial"/>
              </a:rPr>
              <a:t>regret </a:t>
            </a:r>
            <a:r>
              <a:rPr b="0" lang="en-US" sz="2000" spc="-1" strike="noStrike">
                <a:latin typeface="Arial"/>
              </a:rPr>
              <a:t>never </a:t>
            </a:r>
            <a:r>
              <a:rPr b="0" lang="en-US" sz="2000" spc="-1" strike="noStrike">
                <a:latin typeface="Arial"/>
              </a:rPr>
              <a:t>above 0.17 </a:t>
            </a:r>
            <a:r>
              <a:rPr b="0" lang="en-US" sz="2000" spc="-1" strike="noStrike">
                <a:latin typeface="Arial"/>
              </a:rPr>
              <a:t>— the most </a:t>
            </a:r>
            <a:r>
              <a:rPr b="0" lang="en-US" sz="2000" spc="-1" strike="noStrike">
                <a:latin typeface="Arial"/>
              </a:rPr>
              <a:t>consistent </a:t>
            </a:r>
            <a:r>
              <a:rPr b="0" lang="en-US" sz="2000" spc="-1" strike="noStrike">
                <a:latin typeface="Arial"/>
              </a:rPr>
              <a:t>default. </a:t>
            </a:r>
            <a:r>
              <a:rPr b="0" lang="en-US" sz="2000" spc="-1" strike="noStrike">
                <a:latin typeface="Arial"/>
              </a:rPr>
              <a:t>The one </a:t>
            </a:r>
            <a:r>
              <a:rPr b="0" lang="en-US" sz="2000" spc="-1" strike="noStrike">
                <a:latin typeface="Arial"/>
              </a:rPr>
              <a:t>family that </a:t>
            </a:r>
            <a:r>
              <a:rPr b="0" lang="en-US" sz="2000" spc="-1" strike="noStrike">
                <a:latin typeface="Arial"/>
              </a:rPr>
              <a:t>behaves </a:t>
            </a:r>
            <a:r>
              <a:rPr b="0" lang="en-US" sz="2000" spc="-1" strike="noStrike">
                <a:latin typeface="Arial"/>
              </a:rPr>
              <a:t>differently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likelihood </a:t>
            </a:r>
            <a:r>
              <a:rPr b="0" lang="en-US" sz="2000" spc="-1" strike="noStrike">
                <a:latin typeface="Arial"/>
              </a:rPr>
              <a:t>— hold that </a:t>
            </a:r>
            <a:r>
              <a:rPr b="0" lang="en-US" sz="2000" spc="-1" strike="noStrike">
                <a:latin typeface="Arial"/>
              </a:rPr>
              <a:t>thought for </a:t>
            </a:r>
            <a:r>
              <a:rPr b="0" lang="en-US" sz="2000" spc="-1" strike="noStrike">
                <a:latin typeface="Arial"/>
              </a:rPr>
              <a:t>RQ4. </a:t>
            </a:r>
            <a:r>
              <a:rPr b="0" lang="en-US" sz="2000" spc="-1" strike="noStrike">
                <a:latin typeface="Arial"/>
              </a:rPr>
              <a:t>[~1:05]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D44F8B2-92AB-4912-A139-6D82178D06B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Zoomi</a:t>
            </a:r>
            <a:r>
              <a:rPr b="0" lang="en-US" sz="2000" spc="-1" strike="noStrike">
                <a:latin typeface="Arial"/>
              </a:rPr>
              <a:t>ng in </a:t>
            </a:r>
            <a:r>
              <a:rPr b="0" lang="en-US" sz="2000" spc="-1" strike="noStrike">
                <a:latin typeface="Arial"/>
              </a:rPr>
              <a:t>per </a:t>
            </a:r>
            <a:r>
              <a:rPr b="0" lang="en-US" sz="2000" spc="-1" strike="noStrike">
                <a:latin typeface="Arial"/>
              </a:rPr>
              <a:t>run.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thing</a:t>
            </a:r>
            <a:r>
              <a:rPr b="0" lang="en-US" sz="2000" spc="-1" strike="noStrike">
                <a:latin typeface="Arial"/>
              </a:rPr>
              <a:t>s to </a:t>
            </a:r>
            <a:r>
              <a:rPr b="0" lang="en-US" sz="2000" spc="-1" strike="noStrike">
                <a:latin typeface="Arial"/>
              </a:rPr>
              <a:t>see. </a:t>
            </a:r>
            <a:r>
              <a:rPr b="0" lang="en-US" sz="2000" spc="-1" strike="noStrike">
                <a:latin typeface="Arial"/>
              </a:rPr>
              <a:t>First,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traje</a:t>
            </a:r>
            <a:r>
              <a:rPr b="0" lang="en-US" sz="2000" spc="-1" strike="noStrike">
                <a:latin typeface="Arial"/>
              </a:rPr>
              <a:t>ctory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regre</a:t>
            </a:r>
            <a:r>
              <a:rPr b="0" lang="en-US" sz="2000" spc="-1" strike="noStrike">
                <a:latin typeface="Arial"/>
              </a:rPr>
              <a:t>ssio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metri</a:t>
            </a:r>
            <a:r>
              <a:rPr b="0" lang="en-US" sz="2000" spc="-1" strike="noStrike">
                <a:latin typeface="Arial"/>
              </a:rPr>
              <a:t>cs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inter</a:t>
            </a:r>
            <a:r>
              <a:rPr b="0" lang="en-US" sz="2000" spc="-1" strike="noStrike">
                <a:latin typeface="Arial"/>
              </a:rPr>
              <a:t>chan</a:t>
            </a:r>
            <a:r>
              <a:rPr b="0" lang="en-US" sz="2000" spc="-1" strike="noStrike">
                <a:latin typeface="Arial"/>
              </a:rPr>
              <a:t>geab</a:t>
            </a:r>
            <a:r>
              <a:rPr b="0" lang="en-US" sz="2000" spc="-1" strike="noStrike">
                <a:latin typeface="Arial"/>
              </a:rPr>
              <a:t>le —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Ope</a:t>
            </a:r>
            <a:r>
              <a:rPr b="0" lang="en-US" sz="2000" spc="-1" strike="noStrike">
                <a:latin typeface="Arial"/>
              </a:rPr>
              <a:t>nVL</a:t>
            </a:r>
            <a:r>
              <a:rPr b="0" lang="en-US" sz="2000" spc="-1" strike="noStrike">
                <a:latin typeface="Arial"/>
              </a:rPr>
              <a:t>A-</a:t>
            </a:r>
            <a:r>
              <a:rPr b="0" lang="en-US" sz="2000" spc="-1" strike="noStrike">
                <a:latin typeface="Arial"/>
              </a:rPr>
              <a:t>full, </a:t>
            </a:r>
            <a:r>
              <a:rPr b="0" lang="en-US" sz="2000" spc="-1" strike="noStrike">
                <a:latin typeface="Arial"/>
              </a:rPr>
              <a:t>DTW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L2 </a:t>
            </a:r>
            <a:r>
              <a:rPr b="0" lang="en-US" sz="2000" spc="-1" strike="noStrike">
                <a:latin typeface="Arial"/>
              </a:rPr>
              <a:t>litera</a:t>
            </a:r>
            <a:r>
              <a:rPr b="0" lang="en-US" sz="2000" spc="-1" strike="noStrike">
                <a:latin typeface="Arial"/>
              </a:rPr>
              <a:t>lly </a:t>
            </a:r>
            <a:r>
              <a:rPr b="0" lang="en-US" sz="2000" spc="-1" strike="noStrike">
                <a:latin typeface="Arial"/>
              </a:rPr>
              <a:t>sele</a:t>
            </a:r>
            <a:r>
              <a:rPr b="0" lang="en-US" sz="2000" spc="-1" strike="noStrike">
                <a:latin typeface="Arial"/>
              </a:rPr>
              <a:t>ct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sam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chec</a:t>
            </a:r>
            <a:r>
              <a:rPr b="0" lang="en-US" sz="2000" spc="-1" strike="noStrike">
                <a:latin typeface="Arial"/>
              </a:rPr>
              <a:t>kpoi</a:t>
            </a:r>
            <a:r>
              <a:rPr b="0" lang="en-US" sz="2000" spc="-1" strike="noStrike">
                <a:latin typeface="Arial"/>
              </a:rPr>
              <a:t>nt, </a:t>
            </a:r>
            <a:r>
              <a:rPr b="0" lang="en-US" sz="2000" spc="-1" strike="noStrike">
                <a:latin typeface="Arial"/>
              </a:rPr>
              <a:t>2149</a:t>
            </a:r>
            <a:r>
              <a:rPr b="0" lang="en-US" sz="2000" spc="-1" strike="noStrike">
                <a:latin typeface="Arial"/>
              </a:rPr>
              <a:t>9, </a:t>
            </a:r>
            <a:r>
              <a:rPr b="0" lang="en-US" sz="2000" spc="-1" strike="noStrike">
                <a:latin typeface="Arial"/>
              </a:rPr>
              <a:t>sam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rho, </a:t>
            </a:r>
            <a:r>
              <a:rPr b="0" lang="en-US" sz="2000" spc="-1" strike="noStrike">
                <a:latin typeface="Arial"/>
              </a:rPr>
              <a:t>zero </a:t>
            </a:r>
            <a:r>
              <a:rPr b="0" lang="en-US" sz="2000" spc="-1" strike="noStrike">
                <a:latin typeface="Arial"/>
              </a:rPr>
              <a:t>regre</a:t>
            </a:r>
            <a:r>
              <a:rPr b="0" lang="en-US" sz="2000" spc="-1" strike="noStrike">
                <a:latin typeface="Arial"/>
              </a:rPr>
              <a:t>t. So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is a </a:t>
            </a:r>
            <a:r>
              <a:rPr b="0" lang="en-US" sz="2000" spc="-1" strike="noStrike">
                <a:latin typeface="Arial"/>
              </a:rPr>
              <a:t>famil</a:t>
            </a:r>
            <a:r>
              <a:rPr b="0" lang="en-US" sz="2000" spc="-1" strike="noStrike">
                <a:latin typeface="Arial"/>
              </a:rPr>
              <a:t>y of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para</a:t>
            </a:r>
            <a:r>
              <a:rPr b="0" lang="en-US" sz="2000" spc="-1" strike="noStrike">
                <a:latin typeface="Arial"/>
              </a:rPr>
              <a:t>ble </a:t>
            </a:r>
            <a:r>
              <a:rPr b="0" lang="en-US" sz="2000" spc="-1" strike="noStrike">
                <a:latin typeface="Arial"/>
              </a:rPr>
              <a:t>choi</a:t>
            </a:r>
            <a:r>
              <a:rPr b="0" lang="en-US" sz="2000" spc="-1" strike="noStrike">
                <a:latin typeface="Arial"/>
              </a:rPr>
              <a:t>ces, </a:t>
            </a:r>
            <a:r>
              <a:rPr b="0" lang="en-US" sz="2000" spc="-1" strike="noStrike">
                <a:latin typeface="Arial"/>
              </a:rPr>
              <a:t>not a </a:t>
            </a:r>
            <a:r>
              <a:rPr b="0" lang="en-US" sz="2000" spc="-1" strike="noStrike">
                <a:latin typeface="Arial"/>
              </a:rPr>
              <a:t>strict </a:t>
            </a:r>
            <a:r>
              <a:rPr b="0" lang="en-US" sz="2000" spc="-1" strike="noStrike">
                <a:latin typeface="Arial"/>
              </a:rPr>
              <a:t>winn</a:t>
            </a:r>
            <a:r>
              <a:rPr b="0" lang="en-US" sz="2000" spc="-1" strike="noStrike">
                <a:latin typeface="Arial"/>
              </a:rPr>
              <a:t>er. </a:t>
            </a:r>
            <a:r>
              <a:rPr b="0" lang="en-US" sz="2000" spc="-1" strike="noStrike">
                <a:latin typeface="Arial"/>
              </a:rPr>
              <a:t>Seco</a:t>
            </a:r>
            <a:r>
              <a:rPr b="0" lang="en-US" sz="2000" spc="-1" strike="noStrike">
                <a:latin typeface="Arial"/>
              </a:rPr>
              <a:t>nd, </a:t>
            </a:r>
            <a:r>
              <a:rPr b="0" lang="en-US" sz="2000" spc="-1" strike="noStrike">
                <a:latin typeface="Arial"/>
              </a:rPr>
              <a:t>look </a:t>
            </a:r>
            <a:r>
              <a:rPr b="0" lang="en-US" sz="2000" spc="-1" strike="noStrike">
                <a:latin typeface="Arial"/>
              </a:rPr>
              <a:t>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highli</a:t>
            </a:r>
            <a:r>
              <a:rPr b="0" lang="en-US" sz="2000" spc="-1" strike="noStrike">
                <a:latin typeface="Arial"/>
              </a:rPr>
              <a:t>ghte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NLL/</a:t>
            </a:r>
            <a:r>
              <a:rPr b="0" lang="en-US" sz="2000" spc="-1" strike="noStrike">
                <a:latin typeface="Arial"/>
              </a:rPr>
              <a:t>FM </a:t>
            </a:r>
            <a:r>
              <a:rPr b="0" lang="en-US" sz="2000" spc="-1" strike="noStrike">
                <a:latin typeface="Arial"/>
              </a:rPr>
              <a:t>row: </a:t>
            </a:r>
            <a:r>
              <a:rPr b="0" lang="en-US" sz="2000" spc="-1" strike="noStrike">
                <a:latin typeface="Arial"/>
              </a:rPr>
              <a:t>stron</a:t>
            </a:r>
            <a:r>
              <a:rPr b="0" lang="en-US" sz="2000" spc="-1" strike="noStrike">
                <a:latin typeface="Arial"/>
              </a:rPr>
              <a:t>g 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blue </a:t>
            </a:r>
            <a:r>
              <a:rPr b="0" lang="en-US" sz="2000" spc="-1" strike="noStrike">
                <a:latin typeface="Arial"/>
              </a:rPr>
              <a:t>discr</a:t>
            </a:r>
            <a:r>
              <a:rPr b="0" lang="en-US" sz="2000" spc="-1" strike="noStrike">
                <a:latin typeface="Arial"/>
              </a:rPr>
              <a:t>ete-</a:t>
            </a:r>
            <a:r>
              <a:rPr b="0" lang="en-US" sz="2000" spc="-1" strike="noStrike">
                <a:latin typeface="Arial"/>
              </a:rPr>
              <a:t>toke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table</a:t>
            </a:r>
            <a:r>
              <a:rPr b="0" lang="en-US" sz="2000" spc="-1" strike="noStrike">
                <a:latin typeface="Arial"/>
              </a:rPr>
              <a:t>, but </a:t>
            </a:r>
            <a:r>
              <a:rPr b="0" lang="en-US" sz="2000" spc="-1" strike="noStrike">
                <a:latin typeface="Arial"/>
              </a:rPr>
              <a:t>drop</a:t>
            </a:r>
            <a:r>
              <a:rPr b="0" lang="en-US" sz="2000" spc="-1" strike="noStrike">
                <a:latin typeface="Arial"/>
              </a:rPr>
              <a:t>s to </a:t>
            </a:r>
            <a:r>
              <a:rPr b="0" lang="en-US" sz="2000" spc="-1" strike="noStrike">
                <a:latin typeface="Arial"/>
              </a:rPr>
              <a:t>0.46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even </a:t>
            </a:r>
            <a:r>
              <a:rPr b="0" lang="en-US" sz="2000" spc="-1" strike="noStrike">
                <a:latin typeface="Arial"/>
              </a:rPr>
              <a:t>nega</a:t>
            </a:r>
            <a:r>
              <a:rPr b="0" lang="en-US" sz="2000" spc="-1" strike="noStrike">
                <a:latin typeface="Arial"/>
              </a:rPr>
              <a:t>tive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flow-</a:t>
            </a:r>
            <a:r>
              <a:rPr b="0" lang="en-US" sz="2000" spc="-1" strike="noStrike">
                <a:latin typeface="Arial"/>
              </a:rPr>
              <a:t>matc</a:t>
            </a:r>
            <a:r>
              <a:rPr b="0" lang="en-US" sz="2000" spc="-1" strike="noStrike">
                <a:latin typeface="Arial"/>
              </a:rPr>
              <a:t>hing </a:t>
            </a:r>
            <a:r>
              <a:rPr b="0" lang="en-US" sz="2000" spc="-1" strike="noStrike">
                <a:latin typeface="Arial"/>
              </a:rPr>
              <a:t>table</a:t>
            </a:r>
            <a:r>
              <a:rPr b="0" lang="en-US" sz="2000" spc="-1" strike="noStrike">
                <a:latin typeface="Arial"/>
              </a:rPr>
              <a:t>s.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archi</a:t>
            </a:r>
            <a:r>
              <a:rPr b="0" lang="en-US" sz="2000" spc="-1" strike="noStrike">
                <a:latin typeface="Arial"/>
              </a:rPr>
              <a:t>tectu</a:t>
            </a:r>
            <a:r>
              <a:rPr b="0" lang="en-US" sz="2000" spc="-1" strike="noStrike">
                <a:latin typeface="Arial"/>
              </a:rPr>
              <a:t>re </a:t>
            </a:r>
            <a:r>
              <a:rPr b="0" lang="en-US" sz="2000" spc="-1" strike="noStrike">
                <a:latin typeface="Arial"/>
              </a:rPr>
              <a:t>split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RQ4 </a:t>
            </a:r>
            <a:r>
              <a:rPr b="0" lang="en-US" sz="2000" spc="-1" strike="noStrike">
                <a:latin typeface="Arial"/>
              </a:rPr>
              <a:t>story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[~1:1</a:t>
            </a:r>
            <a:r>
              <a:rPr b="0" lang="en-US" sz="2000" spc="-1" strike="noStrike">
                <a:latin typeface="Arial"/>
              </a:rPr>
              <a:t>5]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DEE9CA-4EDA-4789-B276-32BCF406DF9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RQ3: </a:t>
            </a:r>
            <a:r>
              <a:rPr b="0" lang="en-US" sz="2000" spc="-1" strike="noStrike">
                <a:latin typeface="Arial"/>
              </a:rPr>
              <a:t>is it </a:t>
            </a:r>
            <a:r>
              <a:rPr b="0" lang="en-US" sz="2000" spc="-1" strike="noStrike">
                <a:latin typeface="Arial"/>
              </a:rPr>
              <a:t>actu</a:t>
            </a:r>
            <a:r>
              <a:rPr b="0" lang="en-US" sz="2000" spc="-1" strike="noStrike">
                <a:latin typeface="Arial"/>
              </a:rPr>
              <a:t>ally </a:t>
            </a:r>
            <a:r>
              <a:rPr b="0" lang="en-US" sz="2000" spc="-1" strike="noStrike">
                <a:latin typeface="Arial"/>
              </a:rPr>
              <a:t>usa</a:t>
            </a:r>
            <a:r>
              <a:rPr b="0" lang="en-US" sz="2000" spc="-1" strike="noStrike">
                <a:latin typeface="Arial"/>
              </a:rPr>
              <a:t>ble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stop</a:t>
            </a:r>
            <a:r>
              <a:rPr b="0" lang="en-US" sz="2000" spc="-1" strike="noStrike">
                <a:latin typeface="Arial"/>
              </a:rPr>
              <a:t>ping</a:t>
            </a:r>
            <a:r>
              <a:rPr b="0" lang="en-US" sz="2000" spc="-1" strike="noStrike">
                <a:latin typeface="Arial"/>
              </a:rPr>
              <a:t>? </a:t>
            </a:r>
            <a:r>
              <a:rPr b="0" lang="en-US" sz="2000" spc="-1" strike="noStrike">
                <a:latin typeface="Arial"/>
              </a:rPr>
              <a:t>Split </a:t>
            </a:r>
            <a:r>
              <a:rPr b="0" lang="en-US" sz="2000" spc="-1" strike="noStrike">
                <a:latin typeface="Arial"/>
              </a:rPr>
              <a:t>eac</a:t>
            </a:r>
            <a:r>
              <a:rPr b="0" lang="en-US" sz="2000" spc="-1" strike="noStrike">
                <a:latin typeface="Arial"/>
              </a:rPr>
              <a:t>h </a:t>
            </a:r>
            <a:r>
              <a:rPr b="0" lang="en-US" sz="2000" spc="-1" strike="noStrike">
                <a:latin typeface="Arial"/>
              </a:rPr>
              <a:t>run </a:t>
            </a:r>
            <a:r>
              <a:rPr b="0" lang="en-US" sz="2000" spc="-1" strike="noStrike">
                <a:latin typeface="Arial"/>
              </a:rPr>
              <a:t>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kne</a:t>
            </a:r>
            <a:r>
              <a:rPr b="0" lang="en-US" sz="2000" spc="-1" strike="noStrike">
                <a:latin typeface="Arial"/>
              </a:rPr>
              <a:t>e — </a:t>
            </a:r>
            <a:r>
              <a:rPr b="0" lang="en-US" sz="2000" spc="-1" strike="noStrike">
                <a:latin typeface="Arial"/>
              </a:rPr>
              <a:t>wher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DT</a:t>
            </a:r>
            <a:r>
              <a:rPr b="0" lang="en-US" sz="2000" spc="-1" strike="noStrike">
                <a:latin typeface="Arial"/>
              </a:rPr>
              <a:t>W </a:t>
            </a:r>
            <a:r>
              <a:rPr b="0" lang="en-US" sz="2000" spc="-1" strike="noStrike">
                <a:latin typeface="Arial"/>
              </a:rPr>
              <a:t>has </a:t>
            </a:r>
            <a:r>
              <a:rPr b="0" lang="en-US" sz="2000" spc="-1" strike="noStrike">
                <a:latin typeface="Arial"/>
              </a:rPr>
              <a:t>don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90%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its </a:t>
            </a:r>
            <a:r>
              <a:rPr b="0" lang="en-US" sz="2000" spc="-1" strike="noStrike">
                <a:latin typeface="Arial"/>
              </a:rPr>
              <a:t>desc</a:t>
            </a:r>
            <a:r>
              <a:rPr b="0" lang="en-US" sz="2000" spc="-1" strike="noStrike">
                <a:latin typeface="Arial"/>
              </a:rPr>
              <a:t>ent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reco</a:t>
            </a:r>
            <a:r>
              <a:rPr b="0" lang="en-US" sz="2000" spc="-1" strike="noStrike">
                <a:latin typeface="Arial"/>
              </a:rPr>
              <a:t>mpu</a:t>
            </a:r>
            <a:r>
              <a:rPr b="0" lang="en-US" sz="2000" spc="-1" strike="noStrike">
                <a:latin typeface="Arial"/>
              </a:rPr>
              <a:t>te </a:t>
            </a:r>
            <a:r>
              <a:rPr b="0" lang="en-US" sz="2000" spc="-1" strike="noStrike">
                <a:latin typeface="Arial"/>
              </a:rPr>
              <a:t>rho </a:t>
            </a:r>
            <a:r>
              <a:rPr b="0" lang="en-US" sz="2000" spc="-1" strike="noStrike">
                <a:latin typeface="Arial"/>
              </a:rPr>
              <a:t>befo</a:t>
            </a:r>
            <a:r>
              <a:rPr b="0" lang="en-US" sz="2000" spc="-1" strike="noStrike">
                <a:latin typeface="Arial"/>
              </a:rPr>
              <a:t>re </a:t>
            </a:r>
            <a:r>
              <a:rPr b="0" lang="en-US" sz="2000" spc="-1" strike="noStrike">
                <a:latin typeface="Arial"/>
              </a:rPr>
              <a:t>vs </a:t>
            </a:r>
            <a:r>
              <a:rPr b="0" lang="en-US" sz="2000" spc="-1" strike="noStrike">
                <a:latin typeface="Arial"/>
              </a:rPr>
              <a:t>after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Full-</a:t>
            </a:r>
            <a:r>
              <a:rPr b="0" lang="en-US" sz="2000" spc="-1" strike="noStrike">
                <a:latin typeface="Arial"/>
              </a:rPr>
              <a:t>rang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rho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0.8-</a:t>
            </a:r>
            <a:r>
              <a:rPr b="0" lang="en-US" sz="2000" spc="-1" strike="noStrike">
                <a:latin typeface="Arial"/>
              </a:rPr>
              <a:t>0.9 </a:t>
            </a:r>
            <a:r>
              <a:rPr b="0" lang="en-US" sz="2000" spc="-1" strike="noStrike">
                <a:latin typeface="Arial"/>
              </a:rPr>
              <a:t>ever</a:t>
            </a:r>
            <a:r>
              <a:rPr b="0" lang="en-US" sz="2000" spc="-1" strike="noStrike">
                <a:latin typeface="Arial"/>
              </a:rPr>
              <a:t>ywh</a:t>
            </a:r>
            <a:r>
              <a:rPr b="0" lang="en-US" sz="2000" spc="-1" strike="noStrike">
                <a:latin typeface="Arial"/>
              </a:rPr>
              <a:t>ere, </a:t>
            </a:r>
            <a:r>
              <a:rPr b="0" lang="en-US" sz="2000" spc="-1" strike="noStrike">
                <a:latin typeface="Arial"/>
              </a:rPr>
              <a:t>so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coar</a:t>
            </a:r>
            <a:r>
              <a:rPr b="0" lang="en-US" sz="2000" spc="-1" strike="noStrike">
                <a:latin typeface="Arial"/>
              </a:rPr>
              <a:t>se </a:t>
            </a:r>
            <a:r>
              <a:rPr b="0" lang="en-US" sz="2000" spc="-1" strike="noStrike">
                <a:latin typeface="Arial"/>
              </a:rPr>
              <a:t>deci</a:t>
            </a:r>
            <a:r>
              <a:rPr b="0" lang="en-US" sz="2000" spc="-1" strike="noStrike">
                <a:latin typeface="Arial"/>
              </a:rPr>
              <a:t>sion </a:t>
            </a:r>
            <a:r>
              <a:rPr b="0" lang="en-US" sz="2000" spc="-1" strike="noStrike">
                <a:latin typeface="Arial"/>
              </a:rPr>
              <a:t>'don'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stop </a:t>
            </a:r>
            <a:r>
              <a:rPr b="0" lang="en-US" sz="2000" spc="-1" strike="noStrike">
                <a:latin typeface="Arial"/>
              </a:rPr>
              <a:t>befo</a:t>
            </a:r>
            <a:r>
              <a:rPr b="0" lang="en-US" sz="2000" spc="-1" strike="noStrike">
                <a:latin typeface="Arial"/>
              </a:rPr>
              <a:t>re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kne</a:t>
            </a:r>
            <a:r>
              <a:rPr b="0" lang="en-US" sz="2000" spc="-1" strike="noStrike">
                <a:latin typeface="Arial"/>
              </a:rPr>
              <a:t>e' is </a:t>
            </a:r>
            <a:r>
              <a:rPr b="0" lang="en-US" sz="2000" spc="-1" strike="noStrike">
                <a:latin typeface="Arial"/>
              </a:rPr>
              <a:t>robu</a:t>
            </a:r>
            <a:r>
              <a:rPr b="0" lang="en-US" sz="2000" spc="-1" strike="noStrike">
                <a:latin typeface="Arial"/>
              </a:rPr>
              <a:t>st. </a:t>
            </a:r>
            <a:r>
              <a:rPr b="0" lang="en-US" sz="2000" spc="-1" strike="noStrike">
                <a:latin typeface="Arial"/>
              </a:rPr>
              <a:t>Insid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plat</a:t>
            </a:r>
            <a:r>
              <a:rPr b="0" lang="en-US" sz="2000" spc="-1" strike="noStrike">
                <a:latin typeface="Arial"/>
              </a:rPr>
              <a:t>eau </a:t>
            </a:r>
            <a:r>
              <a:rPr b="0" lang="en-US" sz="2000" spc="-1" strike="noStrike">
                <a:latin typeface="Arial"/>
              </a:rPr>
              <a:t>it </a:t>
            </a:r>
            <a:r>
              <a:rPr b="0" lang="en-US" sz="2000" spc="-1" strike="noStrike">
                <a:latin typeface="Arial"/>
              </a:rPr>
              <a:t>wea</a:t>
            </a:r>
            <a:r>
              <a:rPr b="0" lang="en-US" sz="2000" spc="-1" strike="noStrike">
                <a:latin typeface="Arial"/>
              </a:rPr>
              <a:t>kens </a:t>
            </a:r>
            <a:r>
              <a:rPr b="0" lang="en-US" sz="2000" spc="-1" strike="noStrike">
                <a:latin typeface="Arial"/>
              </a:rPr>
              <a:t>but </a:t>
            </a:r>
            <a:r>
              <a:rPr b="0" lang="en-US" sz="2000" spc="-1" strike="noStrike">
                <a:latin typeface="Arial"/>
              </a:rPr>
              <a:t>stay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usa</a:t>
            </a:r>
            <a:r>
              <a:rPr b="0" lang="en-US" sz="2000" spc="-1" strike="noStrike">
                <a:latin typeface="Arial"/>
              </a:rPr>
              <a:t>ble, </a:t>
            </a:r>
            <a:r>
              <a:rPr b="0" lang="en-US" sz="2000" spc="-1" strike="noStrike">
                <a:latin typeface="Arial"/>
              </a:rPr>
              <a:t>0.59</a:t>
            </a:r>
            <a:r>
              <a:rPr b="0" lang="en-US" sz="2000" spc="-1" strike="noStrike">
                <a:latin typeface="Arial"/>
              </a:rPr>
              <a:t>+,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four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five.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exce</a:t>
            </a:r>
            <a:r>
              <a:rPr b="0" lang="en-US" sz="2000" spc="-1" strike="noStrike">
                <a:latin typeface="Arial"/>
              </a:rPr>
              <a:t>ptio</a:t>
            </a:r>
            <a:r>
              <a:rPr b="0" lang="en-US" sz="2000" spc="-1" strike="noStrike">
                <a:latin typeface="Arial"/>
              </a:rPr>
              <a:t>n, </a:t>
            </a:r>
            <a:r>
              <a:rPr b="0" lang="en-US" sz="2000" spc="-1" strike="noStrike">
                <a:latin typeface="Arial"/>
              </a:rPr>
              <a:t>pi-</a:t>
            </a:r>
            <a:r>
              <a:rPr b="0" lang="en-US" sz="2000" spc="-1" strike="noStrike">
                <a:latin typeface="Arial"/>
              </a:rPr>
              <a:t>0.5-</a:t>
            </a:r>
            <a:r>
              <a:rPr b="0" lang="en-US" sz="2000" spc="-1" strike="noStrike">
                <a:latin typeface="Arial"/>
              </a:rPr>
              <a:t>150 </a:t>
            </a:r>
            <a:r>
              <a:rPr b="0" lang="en-US" sz="2000" spc="-1" strike="noStrike">
                <a:latin typeface="Arial"/>
              </a:rPr>
              <a:t>in </a:t>
            </a:r>
            <a:r>
              <a:rPr b="0" lang="en-US" sz="2000" spc="-1" strike="noStrike">
                <a:latin typeface="Arial"/>
              </a:rPr>
              <a:t>red, </a:t>
            </a:r>
            <a:r>
              <a:rPr b="0" lang="en-US" sz="2000" spc="-1" strike="noStrike">
                <a:latin typeface="Arial"/>
              </a:rPr>
              <a:t>look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like </a:t>
            </a:r>
            <a:r>
              <a:rPr b="0" lang="en-US" sz="2000" spc="-1" strike="noStrike">
                <a:latin typeface="Arial"/>
              </a:rPr>
              <a:t>over</a:t>
            </a:r>
            <a:r>
              <a:rPr b="0" lang="en-US" sz="2000" spc="-1" strike="noStrike">
                <a:latin typeface="Arial"/>
              </a:rPr>
              <a:t>train</a:t>
            </a:r>
            <a:r>
              <a:rPr b="0" lang="en-US" sz="2000" spc="-1" strike="noStrike">
                <a:latin typeface="Arial"/>
              </a:rPr>
              <a:t>ing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succ</a:t>
            </a:r>
            <a:r>
              <a:rPr b="0" lang="en-US" sz="2000" spc="-1" strike="noStrike">
                <a:latin typeface="Arial"/>
              </a:rPr>
              <a:t>ess </a:t>
            </a:r>
            <a:r>
              <a:rPr b="0" lang="en-US" sz="2000" spc="-1" strike="noStrike">
                <a:latin typeface="Arial"/>
              </a:rPr>
              <a:t>fell </a:t>
            </a:r>
            <a:r>
              <a:rPr b="0" lang="en-US" sz="2000" spc="-1" strike="noStrike">
                <a:latin typeface="Arial"/>
              </a:rPr>
              <a:t>31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23%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but </a:t>
            </a:r>
            <a:r>
              <a:rPr b="0" lang="en-US" sz="2000" spc="-1" strike="noStrike">
                <a:latin typeface="Arial"/>
              </a:rPr>
              <a:t>exte</a:t>
            </a:r>
            <a:r>
              <a:rPr b="0" lang="en-US" sz="2000" spc="-1" strike="noStrike">
                <a:latin typeface="Arial"/>
              </a:rPr>
              <a:t>ndin</a:t>
            </a:r>
            <a:r>
              <a:rPr b="0" lang="en-US" sz="2000" spc="-1" strike="noStrike">
                <a:latin typeface="Arial"/>
              </a:rPr>
              <a:t>g </a:t>
            </a:r>
            <a:r>
              <a:rPr b="0" lang="en-US" sz="2000" spc="-1" strike="noStrike">
                <a:latin typeface="Arial"/>
              </a:rPr>
              <a:t>train</a:t>
            </a:r>
            <a:r>
              <a:rPr b="0" lang="en-US" sz="2000" spc="-1" strike="noStrike">
                <a:latin typeface="Arial"/>
              </a:rPr>
              <a:t>ing </a:t>
            </a:r>
            <a:r>
              <a:rPr b="0" lang="en-US" sz="2000" spc="-1" strike="noStrike">
                <a:latin typeface="Arial"/>
              </a:rPr>
              <a:t>reco</a:t>
            </a:r>
            <a:r>
              <a:rPr b="0" lang="en-US" sz="2000" spc="-1" strike="noStrike">
                <a:latin typeface="Arial"/>
              </a:rPr>
              <a:t>vere</a:t>
            </a:r>
            <a:r>
              <a:rPr b="0" lang="en-US" sz="2000" spc="-1" strike="noStrike">
                <a:latin typeface="Arial"/>
              </a:rPr>
              <a:t>d it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38%</a:t>
            </a:r>
            <a:r>
              <a:rPr b="0" lang="en-US" sz="2000" spc="-1" strike="noStrike">
                <a:latin typeface="Arial"/>
              </a:rPr>
              <a:t>. So </a:t>
            </a:r>
            <a:r>
              <a:rPr b="0" lang="en-US" sz="2000" spc="-1" strike="noStrike">
                <a:latin typeface="Arial"/>
              </a:rPr>
              <a:t>it </a:t>
            </a:r>
            <a:r>
              <a:rPr b="0" lang="en-US" sz="2000" spc="-1" strike="noStrike">
                <a:latin typeface="Arial"/>
              </a:rPr>
              <a:t>was </a:t>
            </a:r>
            <a:r>
              <a:rPr b="0" lang="en-US" sz="2000" spc="-1" strike="noStrike">
                <a:latin typeface="Arial"/>
              </a:rPr>
              <a:t>restr</a:t>
            </a:r>
            <a:r>
              <a:rPr b="0" lang="en-US" sz="2000" spc="-1" strike="noStrike">
                <a:latin typeface="Arial"/>
              </a:rPr>
              <a:t>ictio</a:t>
            </a:r>
            <a:r>
              <a:rPr b="0" lang="en-US" sz="2000" spc="-1" strike="noStrike">
                <a:latin typeface="Arial"/>
              </a:rPr>
              <a:t>n of </a:t>
            </a:r>
            <a:r>
              <a:rPr b="0" lang="en-US" sz="2000" spc="-1" strike="noStrike">
                <a:latin typeface="Arial"/>
              </a:rPr>
              <a:t>rang</a:t>
            </a:r>
            <a:r>
              <a:rPr b="0" lang="en-US" sz="2000" spc="-1" strike="noStrike">
                <a:latin typeface="Arial"/>
              </a:rPr>
              <a:t>e on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nois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low </a:t>
            </a:r>
            <a:r>
              <a:rPr b="0" lang="en-US" sz="2000" spc="-1" strike="noStrike">
                <a:latin typeface="Arial"/>
              </a:rPr>
              <a:t>ceili</a:t>
            </a:r>
            <a:r>
              <a:rPr b="0" lang="en-US" sz="2000" spc="-1" strike="noStrike">
                <a:latin typeface="Arial"/>
              </a:rPr>
              <a:t>ng, </a:t>
            </a:r>
            <a:r>
              <a:rPr b="0" lang="en-US" sz="2000" spc="-1" strike="noStrike">
                <a:latin typeface="Arial"/>
              </a:rPr>
              <a:t>not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real </a:t>
            </a:r>
            <a:r>
              <a:rPr b="0" lang="en-US" sz="2000" spc="-1" strike="noStrike">
                <a:latin typeface="Arial"/>
              </a:rPr>
              <a:t>decli</a:t>
            </a:r>
            <a:r>
              <a:rPr b="0" lang="en-US" sz="2000" spc="-1" strike="noStrike">
                <a:latin typeface="Arial"/>
              </a:rPr>
              <a:t>ne. </a:t>
            </a:r>
            <a:r>
              <a:rPr b="0" lang="en-US" sz="2000" spc="-1" strike="noStrike">
                <a:latin typeface="Arial"/>
              </a:rPr>
              <a:t>[~1:</a:t>
            </a:r>
            <a:r>
              <a:rPr b="0" lang="en-US" sz="2000" spc="-1" strike="noStrike">
                <a:latin typeface="Arial"/>
              </a:rPr>
              <a:t>15]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0220A2-9E5A-4285-8E38-E5C12073D0A1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 point of </a:t>
            </a:r>
            <a:r>
              <a:rPr b="0" lang="en-US" sz="2000" spc="-1" strike="noStrike">
                <a:latin typeface="Arial"/>
              </a:rPr>
              <a:t>intellectual </a:t>
            </a:r>
            <a:r>
              <a:rPr b="0" lang="en-US" sz="2000" spc="-1" strike="noStrike">
                <a:latin typeface="Arial"/>
              </a:rPr>
              <a:t>honesty. </a:t>
            </a:r>
            <a:r>
              <a:rPr b="0" lang="en-US" sz="2000" spc="-1" strike="noStrike">
                <a:latin typeface="Arial"/>
              </a:rPr>
              <a:t>Three runs </a:t>
            </a:r>
            <a:r>
              <a:rPr b="0" lang="en-US" sz="2000" spc="-1" strike="noStrike">
                <a:latin typeface="Arial"/>
              </a:rPr>
              <a:t>were built </a:t>
            </a:r>
            <a:r>
              <a:rPr b="0" lang="en-US" sz="2000" spc="-1" strike="noStrike">
                <a:latin typeface="Arial"/>
              </a:rPr>
              <a:t>to force </a:t>
            </a:r>
            <a:r>
              <a:rPr b="0" lang="en-US" sz="2000" spc="-1" strike="noStrike">
                <a:latin typeface="Arial"/>
              </a:rPr>
              <a:t>overtrainin</a:t>
            </a:r>
            <a:r>
              <a:rPr b="0" lang="en-US" sz="2000" spc="-1" strike="noStrike">
                <a:latin typeface="Arial"/>
              </a:rPr>
              <a:t>g — tiny </a:t>
            </a:r>
            <a:r>
              <a:rPr b="0" lang="en-US" sz="2000" spc="-1" strike="noStrike">
                <a:latin typeface="Arial"/>
              </a:rPr>
              <a:t>data, and </a:t>
            </a:r>
            <a:r>
              <a:rPr b="0" lang="en-US" sz="2000" spc="-1" strike="noStrike">
                <a:latin typeface="Arial"/>
              </a:rPr>
              <a:t>for pi-0.5-</a:t>
            </a:r>
            <a:r>
              <a:rPr b="0" lang="en-US" sz="2000" spc="-1" strike="noStrike">
                <a:latin typeface="Arial"/>
              </a:rPr>
              <a:t>150 an </a:t>
            </a:r>
            <a:r>
              <a:rPr b="0" lang="en-US" sz="2000" spc="-1" strike="noStrike">
                <a:latin typeface="Arial"/>
              </a:rPr>
              <a:t>aggressive </a:t>
            </a:r>
            <a:r>
              <a:rPr b="0" lang="en-US" sz="2000" spc="-1" strike="noStrike">
                <a:latin typeface="Arial"/>
              </a:rPr>
              <a:t>6x learning </a:t>
            </a:r>
            <a:r>
              <a:rPr b="0" lang="en-US" sz="2000" spc="-1" strike="noStrike">
                <a:latin typeface="Arial"/>
              </a:rPr>
              <a:t>rate held </a:t>
            </a:r>
            <a:r>
              <a:rPr b="0" lang="en-US" sz="2000" spc="-1" strike="noStrike">
                <a:latin typeface="Arial"/>
              </a:rPr>
              <a:t>near peak </a:t>
            </a:r>
            <a:r>
              <a:rPr b="0" lang="en-US" sz="2000" spc="-1" strike="noStrike">
                <a:latin typeface="Arial"/>
              </a:rPr>
              <a:t>for 40k </a:t>
            </a:r>
            <a:r>
              <a:rPr b="0" lang="en-US" sz="2000" spc="-1" strike="noStrike">
                <a:latin typeface="Arial"/>
              </a:rPr>
              <a:t>steps. It </a:t>
            </a:r>
            <a:r>
              <a:rPr b="0" lang="en-US" sz="2000" spc="-1" strike="noStrike">
                <a:latin typeface="Arial"/>
              </a:rPr>
              <a:t>still didn't </a:t>
            </a:r>
            <a:r>
              <a:rPr b="0" lang="en-US" sz="2000" spc="-1" strike="noStrike">
                <a:latin typeface="Arial"/>
              </a:rPr>
              <a:t>overtrain: </a:t>
            </a:r>
            <a:r>
              <a:rPr b="0" lang="en-US" sz="2000" spc="-1" strike="noStrike">
                <a:latin typeface="Arial"/>
              </a:rPr>
              <a:t>everything </a:t>
            </a:r>
            <a:r>
              <a:rPr b="0" lang="en-US" sz="2000" spc="-1" strike="noStrike">
                <a:latin typeface="Arial"/>
              </a:rPr>
              <a:t>settled into </a:t>
            </a:r>
            <a:r>
              <a:rPr b="0" lang="en-US" sz="2000" spc="-1" strike="noStrike">
                <a:latin typeface="Arial"/>
              </a:rPr>
              <a:t>a noisy </a:t>
            </a:r>
            <a:r>
              <a:rPr b="0" lang="en-US" sz="2000" spc="-1" strike="noStrike">
                <a:latin typeface="Arial"/>
              </a:rPr>
              <a:t>plateau. So </a:t>
            </a:r>
            <a:r>
              <a:rPr b="0" lang="en-US" sz="2000" spc="-1" strike="noStrike">
                <a:latin typeface="Arial"/>
              </a:rPr>
              <a:t>I can show </a:t>
            </a:r>
            <a:r>
              <a:rPr b="0" lang="en-US" sz="2000" spc="-1" strike="noStrike">
                <a:latin typeface="Arial"/>
              </a:rPr>
              <a:t>the metrics </a:t>
            </a:r>
            <a:r>
              <a:rPr b="0" lang="en-US" sz="2000" spc="-1" strike="noStrike">
                <a:latin typeface="Arial"/>
              </a:rPr>
              <a:t>track the </a:t>
            </a:r>
            <a:r>
              <a:rPr b="0" lang="en-US" sz="2000" spc="-1" strike="noStrike">
                <a:latin typeface="Arial"/>
              </a:rPr>
              <a:t>rise and </a:t>
            </a:r>
            <a:r>
              <a:rPr b="0" lang="en-US" sz="2000" spc="-1" strike="noStrike">
                <a:latin typeface="Arial"/>
              </a:rPr>
              <a:t>plateau, </a:t>
            </a:r>
            <a:r>
              <a:rPr b="0" lang="en-US" sz="2000" spc="-1" strike="noStrike">
                <a:latin typeface="Arial"/>
              </a:rPr>
              <a:t>but I </a:t>
            </a:r>
            <a:r>
              <a:rPr b="0" lang="en-US" sz="2000" spc="-1" strike="noStrike">
                <a:latin typeface="Arial"/>
              </a:rPr>
              <a:t>cannot </a:t>
            </a:r>
            <a:r>
              <a:rPr b="0" lang="en-US" sz="2000" spc="-1" strike="noStrike">
                <a:latin typeface="Arial"/>
              </a:rPr>
              <a:t>show them </a:t>
            </a:r>
            <a:r>
              <a:rPr b="0" lang="en-US" sz="2000" spc="-1" strike="noStrike">
                <a:latin typeface="Arial"/>
              </a:rPr>
              <a:t>catching a </a:t>
            </a:r>
            <a:r>
              <a:rPr b="0" lang="en-US" sz="2000" spc="-1" strike="noStrike">
                <a:latin typeface="Arial"/>
              </a:rPr>
              <a:t>genuine </a:t>
            </a:r>
            <a:r>
              <a:rPr b="0" lang="en-US" sz="2000" spc="-1" strike="noStrike">
                <a:latin typeface="Arial"/>
              </a:rPr>
              <a:t>late </a:t>
            </a:r>
            <a:r>
              <a:rPr b="0" lang="en-US" sz="2000" spc="-1" strike="noStrike">
                <a:latin typeface="Arial"/>
              </a:rPr>
              <a:t>decline, </a:t>
            </a:r>
            <a:r>
              <a:rPr b="0" lang="en-US" sz="2000" spc="-1" strike="noStrike">
                <a:latin typeface="Arial"/>
              </a:rPr>
              <a:t>because I </a:t>
            </a:r>
            <a:r>
              <a:rPr b="0" lang="en-US" sz="2000" spc="-1" strike="noStrike">
                <a:latin typeface="Arial"/>
              </a:rPr>
              <a:t>never </a:t>
            </a:r>
            <a:r>
              <a:rPr b="0" lang="en-US" sz="2000" spc="-1" strike="noStrike">
                <a:latin typeface="Arial"/>
              </a:rPr>
              <a:t>produced </a:t>
            </a:r>
            <a:r>
              <a:rPr b="0" lang="en-US" sz="2000" spc="-1" strike="noStrike">
                <a:latin typeface="Arial"/>
              </a:rPr>
              <a:t>one. That's </a:t>
            </a:r>
            <a:r>
              <a:rPr b="0" lang="en-US" sz="2000" spc="-1" strike="noStrike">
                <a:latin typeface="Arial"/>
              </a:rPr>
              <a:t>a real </a:t>
            </a:r>
            <a:r>
              <a:rPr b="0" lang="en-US" sz="2000" spc="-1" strike="noStrike">
                <a:latin typeface="Arial"/>
              </a:rPr>
              <a:t>limitation </a:t>
            </a:r>
            <a:r>
              <a:rPr b="0" lang="en-US" sz="2000" spc="-1" strike="noStrike">
                <a:latin typeface="Arial"/>
              </a:rPr>
              <a:t>and I'll </a:t>
            </a:r>
            <a:r>
              <a:rPr b="0" lang="en-US" sz="2000" spc="-1" strike="noStrike">
                <a:latin typeface="Arial"/>
              </a:rPr>
              <a:t>return to it. </a:t>
            </a:r>
            <a:r>
              <a:rPr b="0" lang="en-US" sz="2000" spc="-1" strike="noStrike">
                <a:latin typeface="Arial"/>
              </a:rPr>
              <a:t>[~1:00]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BC2F30-4CAE-41EF-A8E2-019B0B94DD5B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RQ4 </a:t>
            </a:r>
            <a:r>
              <a:rPr b="0" lang="en-US" sz="2000" spc="-1" strike="noStrike">
                <a:latin typeface="Arial"/>
              </a:rPr>
              <a:t>keep</a:t>
            </a:r>
            <a:r>
              <a:rPr b="0" lang="en-US" sz="2000" spc="-1" strike="noStrike">
                <a:latin typeface="Arial"/>
              </a:rPr>
              <a:t>s me </a:t>
            </a:r>
            <a:r>
              <a:rPr b="0" lang="en-US" sz="2000" spc="-1" strike="noStrike">
                <a:latin typeface="Arial"/>
              </a:rPr>
              <a:t>hone</a:t>
            </a:r>
            <a:r>
              <a:rPr b="0" lang="en-US" sz="2000" spc="-1" strike="noStrike">
                <a:latin typeface="Arial"/>
              </a:rPr>
              <a:t>st </a:t>
            </a:r>
            <a:r>
              <a:rPr b="0" lang="en-US" sz="2000" spc="-1" strike="noStrike">
                <a:latin typeface="Arial"/>
              </a:rPr>
              <a:t>abou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what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num</a:t>
            </a:r>
            <a:r>
              <a:rPr b="0" lang="en-US" sz="2000" spc="-1" strike="noStrike">
                <a:latin typeface="Arial"/>
              </a:rPr>
              <a:t>bers </a:t>
            </a:r>
            <a:r>
              <a:rPr b="0" lang="en-US" sz="2000" spc="-1" strike="noStrike">
                <a:latin typeface="Arial"/>
              </a:rPr>
              <a:t>supp</a:t>
            </a:r>
            <a:r>
              <a:rPr b="0" lang="en-US" sz="2000" spc="-1" strike="noStrike">
                <a:latin typeface="Arial"/>
              </a:rPr>
              <a:t>ort. </a:t>
            </a:r>
            <a:r>
              <a:rPr b="0" lang="en-US" sz="2000" spc="-1" strike="noStrike">
                <a:latin typeface="Arial"/>
              </a:rPr>
              <a:t>Point </a:t>
            </a:r>
            <a:r>
              <a:rPr b="0" lang="en-US" sz="2000" spc="-1" strike="noStrike">
                <a:latin typeface="Arial"/>
              </a:rPr>
              <a:t>esti</a:t>
            </a:r>
            <a:r>
              <a:rPr b="0" lang="en-US" sz="2000" spc="-1" strike="noStrike">
                <a:latin typeface="Arial"/>
              </a:rPr>
              <a:t>mate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from </a:t>
            </a:r>
            <a:r>
              <a:rPr b="0" lang="en-US" sz="2000" spc="-1" strike="noStrike">
                <a:latin typeface="Arial"/>
              </a:rPr>
              <a:t>as </a:t>
            </a:r>
            <a:r>
              <a:rPr b="0" lang="en-US" sz="2000" spc="-1" strike="noStrike">
                <a:latin typeface="Arial"/>
              </a:rPr>
              <a:t>few </a:t>
            </a:r>
            <a:r>
              <a:rPr b="0" lang="en-US" sz="2000" spc="-1" strike="noStrike">
                <a:latin typeface="Arial"/>
              </a:rPr>
              <a:t>as </a:t>
            </a:r>
            <a:r>
              <a:rPr b="0" lang="en-US" sz="2000" spc="-1" strike="noStrike">
                <a:latin typeface="Arial"/>
              </a:rPr>
              <a:t>11 </a:t>
            </a:r>
            <a:r>
              <a:rPr b="0" lang="en-US" sz="2000" spc="-1" strike="noStrike">
                <a:latin typeface="Arial"/>
              </a:rPr>
              <a:t>eval</a:t>
            </a:r>
            <a:r>
              <a:rPr b="0" lang="en-US" sz="2000" spc="-1" strike="noStrike">
                <a:latin typeface="Arial"/>
              </a:rPr>
              <a:t>uatio</a:t>
            </a:r>
            <a:r>
              <a:rPr b="0" lang="en-US" sz="2000" spc="-1" strike="noStrike">
                <a:latin typeface="Arial"/>
              </a:rPr>
              <a:t>ns, </a:t>
            </a:r>
            <a:r>
              <a:rPr b="0" lang="en-US" sz="2000" spc="-1" strike="noStrike">
                <a:latin typeface="Arial"/>
              </a:rPr>
              <a:t>so I </a:t>
            </a:r>
            <a:r>
              <a:rPr b="0" lang="en-US" sz="2000" spc="-1" strike="noStrike">
                <a:latin typeface="Arial"/>
              </a:rPr>
              <a:t>boot</a:t>
            </a:r>
            <a:r>
              <a:rPr b="0" lang="en-US" sz="2000" spc="-1" strike="noStrike">
                <a:latin typeface="Arial"/>
              </a:rPr>
              <a:t>strap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95% </a:t>
            </a:r>
            <a:r>
              <a:rPr b="0" lang="en-US" sz="2000" spc="-1" strike="noStrike">
                <a:latin typeface="Arial"/>
              </a:rPr>
              <a:t>CI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ever</a:t>
            </a:r>
            <a:r>
              <a:rPr b="0" lang="en-US" sz="2000" spc="-1" strike="noStrike">
                <a:latin typeface="Arial"/>
              </a:rPr>
              <a:t>y rho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paire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differ</a:t>
            </a:r>
            <a:r>
              <a:rPr b="0" lang="en-US" sz="2000" spc="-1" strike="noStrike">
                <a:latin typeface="Arial"/>
              </a:rPr>
              <a:t>ence</a:t>
            </a:r>
            <a:r>
              <a:rPr b="0" lang="en-US" sz="2000" spc="-1" strike="noStrike">
                <a:latin typeface="Arial"/>
              </a:rPr>
              <a:t>s. </a:t>
            </a:r>
            <a:r>
              <a:rPr b="0" lang="en-US" sz="2000" spc="-1" strike="noStrike">
                <a:latin typeface="Arial"/>
              </a:rPr>
              <a:t>What </a:t>
            </a:r>
            <a:r>
              <a:rPr b="0" lang="en-US" sz="2000" spc="-1" strike="noStrike">
                <a:latin typeface="Arial"/>
              </a:rPr>
              <a:t>survi</a:t>
            </a:r>
            <a:r>
              <a:rPr b="0" lang="en-US" sz="2000" spc="-1" strike="noStrike">
                <a:latin typeface="Arial"/>
              </a:rPr>
              <a:t>ves, </a:t>
            </a:r>
            <a:r>
              <a:rPr b="0" lang="en-US" sz="2000" spc="-1" strike="noStrike">
                <a:latin typeface="Arial"/>
              </a:rPr>
              <a:t>left: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archi</a:t>
            </a:r>
            <a:r>
              <a:rPr b="0" lang="en-US" sz="2000" spc="-1" strike="noStrike">
                <a:latin typeface="Arial"/>
              </a:rPr>
              <a:t>tectu</a:t>
            </a:r>
            <a:r>
              <a:rPr b="0" lang="en-US" sz="2000" spc="-1" strike="noStrike">
                <a:latin typeface="Arial"/>
              </a:rPr>
              <a:t>re </a:t>
            </a:r>
            <a:r>
              <a:rPr b="0" lang="en-US" sz="2000" spc="-1" strike="noStrike">
                <a:latin typeface="Arial"/>
              </a:rPr>
              <a:t>split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NLL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real,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well-</a:t>
            </a:r>
            <a:r>
              <a:rPr b="0" lang="en-US" sz="2000" spc="-1" strike="noStrike">
                <a:latin typeface="Arial"/>
              </a:rPr>
              <a:t>pow</a:t>
            </a:r>
            <a:r>
              <a:rPr b="0" lang="en-US" sz="2000" spc="-1" strike="noStrike">
                <a:latin typeface="Arial"/>
              </a:rPr>
              <a:t>ered </a:t>
            </a:r>
            <a:r>
              <a:rPr b="0" lang="en-US" sz="2000" spc="-1" strike="noStrike">
                <a:latin typeface="Arial"/>
              </a:rPr>
              <a:t>pi-</a:t>
            </a:r>
            <a:r>
              <a:rPr b="0" lang="en-US" sz="2000" spc="-1" strike="noStrike">
                <a:latin typeface="Arial"/>
              </a:rPr>
              <a:t>0.5-</a:t>
            </a:r>
            <a:r>
              <a:rPr b="0" lang="en-US" sz="2000" spc="-1" strike="noStrike">
                <a:latin typeface="Arial"/>
              </a:rPr>
              <a:t>full </a:t>
            </a:r>
            <a:r>
              <a:rPr b="0" lang="en-US" sz="2000" spc="-1" strike="noStrike">
                <a:latin typeface="Arial"/>
              </a:rPr>
              <a:t>resol</a:t>
            </a:r>
            <a:r>
              <a:rPr b="0" lang="en-US" sz="2000" spc="-1" strike="noStrike">
                <a:latin typeface="Arial"/>
              </a:rPr>
              <a:t>ves </a:t>
            </a:r>
            <a:r>
              <a:rPr b="0" lang="en-US" sz="2000" spc="-1" strike="noStrike">
                <a:latin typeface="Arial"/>
              </a:rPr>
              <a:t>fine </a:t>
            </a:r>
            <a:r>
              <a:rPr b="0" lang="en-US" sz="2000" spc="-1" strike="noStrike">
                <a:latin typeface="Arial"/>
              </a:rPr>
              <a:t>struc</a:t>
            </a:r>
            <a:r>
              <a:rPr b="0" lang="en-US" sz="2000" spc="-1" strike="noStrike">
                <a:latin typeface="Arial"/>
              </a:rPr>
              <a:t>ture. </a:t>
            </a:r>
            <a:r>
              <a:rPr b="0" lang="en-US" sz="2000" spc="-1" strike="noStrike">
                <a:latin typeface="Arial"/>
              </a:rPr>
              <a:t>What </a:t>
            </a:r>
            <a:r>
              <a:rPr b="0" lang="en-US" sz="2000" spc="-1" strike="noStrike">
                <a:latin typeface="Arial"/>
              </a:rPr>
              <a:t>does</a:t>
            </a:r>
            <a:r>
              <a:rPr b="0" lang="en-US" sz="2000" spc="-1" strike="noStrike">
                <a:latin typeface="Arial"/>
              </a:rPr>
              <a:t>n't, </a:t>
            </a:r>
            <a:r>
              <a:rPr b="0" lang="en-US" sz="2000" spc="-1" strike="noStrike">
                <a:latin typeface="Arial"/>
              </a:rPr>
              <a:t>right: </a:t>
            </a:r>
            <a:r>
              <a:rPr b="0" lang="en-US" sz="2000" spc="-1" strike="noStrike">
                <a:latin typeface="Arial"/>
              </a:rPr>
              <a:t>DTW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not </a:t>
            </a:r>
            <a:r>
              <a:rPr b="0" lang="en-US" sz="2000" spc="-1" strike="noStrike">
                <a:latin typeface="Arial"/>
              </a:rPr>
              <a:t>stati</a:t>
            </a:r>
            <a:r>
              <a:rPr b="0" lang="en-US" sz="2000" spc="-1" strike="noStrike">
                <a:latin typeface="Arial"/>
              </a:rPr>
              <a:t>stical</a:t>
            </a:r>
            <a:r>
              <a:rPr b="0" lang="en-US" sz="2000" spc="-1" strike="noStrike">
                <a:latin typeface="Arial"/>
              </a:rPr>
              <a:t>ly </a:t>
            </a:r>
            <a:r>
              <a:rPr b="0" lang="en-US" sz="2000" spc="-1" strike="noStrike">
                <a:latin typeface="Arial"/>
              </a:rPr>
              <a:t>sepa</a:t>
            </a:r>
            <a:r>
              <a:rPr b="0" lang="en-US" sz="2000" spc="-1" strike="noStrike">
                <a:latin typeface="Arial"/>
              </a:rPr>
              <a:t>rable </a:t>
            </a:r>
            <a:r>
              <a:rPr b="0" lang="en-US" sz="2000" spc="-1" strike="noStrike">
                <a:latin typeface="Arial"/>
              </a:rPr>
              <a:t>from </a:t>
            </a:r>
            <a:r>
              <a:rPr b="0" lang="en-US" sz="2000" spc="-1" strike="noStrike">
                <a:latin typeface="Arial"/>
              </a:rPr>
              <a:t>L1, </a:t>
            </a:r>
            <a:r>
              <a:rPr b="0" lang="en-US" sz="2000" spc="-1" strike="noStrike">
                <a:latin typeface="Arial"/>
              </a:rPr>
              <a:t>L2, </a:t>
            </a:r>
            <a:r>
              <a:rPr b="0" lang="en-US" sz="2000" spc="-1" strike="noStrike">
                <a:latin typeface="Arial"/>
              </a:rPr>
              <a:t>OT </a:t>
            </a:r>
            <a:r>
              <a:rPr b="0" lang="en-US" sz="2000" spc="-1" strike="noStrike">
                <a:latin typeface="Arial"/>
              </a:rPr>
              <a:t>or </a:t>
            </a:r>
            <a:r>
              <a:rPr b="0" lang="en-US" sz="2000" spc="-1" strike="noStrike">
                <a:latin typeface="Arial"/>
              </a:rPr>
              <a:t>cosi</a:t>
            </a:r>
            <a:r>
              <a:rPr b="0" lang="en-US" sz="2000" spc="-1" strike="noStrike">
                <a:latin typeface="Arial"/>
              </a:rPr>
              <a:t>ne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they'</a:t>
            </a:r>
            <a:r>
              <a:rPr b="0" lang="en-US" sz="2000" spc="-1" strike="noStrike">
                <a:latin typeface="Arial"/>
              </a:rPr>
              <a:t>re </a:t>
            </a:r>
            <a:r>
              <a:rPr b="0" lang="en-US" sz="2000" spc="-1" strike="noStrike">
                <a:latin typeface="Arial"/>
              </a:rPr>
              <a:t>one </a:t>
            </a:r>
            <a:r>
              <a:rPr b="0" lang="en-US" sz="2000" spc="-1" strike="noStrike">
                <a:latin typeface="Arial"/>
              </a:rPr>
              <a:t>famil</a:t>
            </a:r>
            <a:r>
              <a:rPr b="0" lang="en-US" sz="2000" spc="-1" strike="noStrike">
                <a:latin typeface="Arial"/>
              </a:rPr>
              <a:t>y.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unde</a:t>
            </a:r>
            <a:r>
              <a:rPr b="0" lang="en-US" sz="2000" spc="-1" strike="noStrike">
                <a:latin typeface="Arial"/>
              </a:rPr>
              <a:t>rpow</a:t>
            </a:r>
            <a:r>
              <a:rPr b="0" lang="en-US" sz="2000" spc="-1" strike="noStrike">
                <a:latin typeface="Arial"/>
              </a:rPr>
              <a:t>ered </a:t>
            </a:r>
            <a:r>
              <a:rPr b="0" lang="en-US" sz="2000" spc="-1" strike="noStrike">
                <a:latin typeface="Arial"/>
              </a:rPr>
              <a:t>Smol</a:t>
            </a:r>
            <a:r>
              <a:rPr b="0" lang="en-US" sz="2000" spc="-1" strike="noStrike">
                <a:latin typeface="Arial"/>
              </a:rPr>
              <a:t>VLA-</a:t>
            </a:r>
            <a:r>
              <a:rPr b="0" lang="en-US" sz="2000" spc="-1" strike="noStrike">
                <a:latin typeface="Arial"/>
              </a:rPr>
              <a:t>150 </a:t>
            </a:r>
            <a:r>
              <a:rPr b="0" lang="en-US" sz="2000" spc="-1" strike="noStrike">
                <a:latin typeface="Arial"/>
              </a:rPr>
              <a:t>can't </a:t>
            </a:r>
            <a:r>
              <a:rPr b="0" lang="en-US" sz="2000" spc="-1" strike="noStrike">
                <a:latin typeface="Arial"/>
              </a:rPr>
              <a:t>clear </a:t>
            </a:r>
            <a:r>
              <a:rPr b="0" lang="en-US" sz="2000" spc="-1" strike="noStrike">
                <a:latin typeface="Arial"/>
              </a:rPr>
              <a:t>zero </a:t>
            </a:r>
            <a:r>
              <a:rPr b="0" lang="en-US" sz="2000" spc="-1" strike="noStrike">
                <a:latin typeface="Arial"/>
              </a:rPr>
              <a:t>at </a:t>
            </a:r>
            <a:r>
              <a:rPr b="0" lang="en-US" sz="2000" spc="-1" strike="noStrike">
                <a:latin typeface="Arial"/>
              </a:rPr>
              <a:t>all.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bindi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cons</a:t>
            </a:r>
            <a:r>
              <a:rPr b="0" lang="en-US" sz="2000" spc="-1" strike="noStrike">
                <a:latin typeface="Arial"/>
              </a:rPr>
              <a:t>traint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usua</a:t>
            </a:r>
            <a:r>
              <a:rPr b="0" lang="en-US" sz="2000" spc="-1" strike="noStrike">
                <a:latin typeface="Arial"/>
              </a:rPr>
              <a:t>lly </a:t>
            </a:r>
            <a:r>
              <a:rPr b="0" lang="en-US" sz="2000" spc="-1" strike="noStrike">
                <a:latin typeface="Arial"/>
              </a:rPr>
              <a:t>stati</a:t>
            </a:r>
            <a:r>
              <a:rPr b="0" lang="en-US" sz="2000" spc="-1" strike="noStrike">
                <a:latin typeface="Arial"/>
              </a:rPr>
              <a:t>stical </a:t>
            </a:r>
            <a:r>
              <a:rPr b="0" lang="en-US" sz="2000" spc="-1" strike="noStrike">
                <a:latin typeface="Arial"/>
              </a:rPr>
              <a:t>pow</a:t>
            </a:r>
            <a:r>
              <a:rPr b="0" lang="en-US" sz="2000" spc="-1" strike="noStrike">
                <a:latin typeface="Arial"/>
              </a:rPr>
              <a:t>er, </a:t>
            </a:r>
            <a:r>
              <a:rPr b="0" lang="en-US" sz="2000" spc="-1" strike="noStrike">
                <a:latin typeface="Arial"/>
              </a:rPr>
              <a:t>not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choi</a:t>
            </a:r>
            <a:r>
              <a:rPr b="0" lang="en-US" sz="2000" spc="-1" strike="noStrike">
                <a:latin typeface="Arial"/>
              </a:rPr>
              <a:t>ce of </a:t>
            </a:r>
            <a:r>
              <a:rPr b="0" lang="en-US" sz="2000" spc="-1" strike="noStrike">
                <a:latin typeface="Arial"/>
              </a:rPr>
              <a:t>metri</a:t>
            </a:r>
            <a:r>
              <a:rPr b="0" lang="en-US" sz="2000" spc="-1" strike="noStrike">
                <a:latin typeface="Arial"/>
              </a:rPr>
              <a:t>c. </a:t>
            </a:r>
            <a:r>
              <a:rPr b="0" lang="en-US" sz="2000" spc="-1" strike="noStrike">
                <a:latin typeface="Arial"/>
              </a:rPr>
              <a:t>[~1:1</a:t>
            </a:r>
            <a:r>
              <a:rPr b="0" lang="en-US" sz="2000" spc="-1" strike="noStrike">
                <a:latin typeface="Arial"/>
              </a:rPr>
              <a:t>0]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2F5287-13EE-46B9-B927-6946F54CF1F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So,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four </a:t>
            </a:r>
            <a:r>
              <a:rPr b="0" lang="en-US" sz="2000" spc="-1" strike="noStrike">
                <a:latin typeface="Arial"/>
              </a:rPr>
              <a:t>ans</a:t>
            </a:r>
            <a:r>
              <a:rPr b="0" lang="en-US" sz="2000" spc="-1" strike="noStrike">
                <a:latin typeface="Arial"/>
              </a:rPr>
              <a:t>wers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RQ1 </a:t>
            </a:r>
            <a:r>
              <a:rPr b="0" lang="en-US" sz="2000" spc="-1" strike="noStrike">
                <a:latin typeface="Arial"/>
              </a:rPr>
              <a:t>yes, </a:t>
            </a:r>
            <a:r>
              <a:rPr b="0" lang="en-US" sz="2000" spc="-1" strike="noStrike">
                <a:latin typeface="Arial"/>
              </a:rPr>
              <a:t>clea</a:t>
            </a:r>
            <a:r>
              <a:rPr b="0" lang="en-US" sz="2000" spc="-1" strike="noStrike">
                <a:latin typeface="Arial"/>
              </a:rPr>
              <a:t>nly. </a:t>
            </a:r>
            <a:r>
              <a:rPr b="0" lang="en-US" sz="2000" spc="-1" strike="noStrike">
                <a:latin typeface="Arial"/>
              </a:rPr>
              <a:t>RQ2 </a:t>
            </a:r>
            <a:r>
              <a:rPr b="0" lang="en-US" sz="2000" spc="-1" strike="noStrike">
                <a:latin typeface="Arial"/>
              </a:rPr>
              <a:t>yes </a:t>
            </a:r>
            <a:r>
              <a:rPr b="0" lang="en-US" sz="2000" spc="-1" strike="noStrike">
                <a:latin typeface="Arial"/>
              </a:rPr>
              <a:t>—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core </a:t>
            </a:r>
            <a:r>
              <a:rPr b="0" lang="en-US" sz="2000" spc="-1" strike="noStrike">
                <a:latin typeface="Arial"/>
              </a:rPr>
              <a:t>posit</a:t>
            </a:r>
            <a:r>
              <a:rPr b="0" lang="en-US" sz="2000" spc="-1" strike="noStrike">
                <a:latin typeface="Arial"/>
              </a:rPr>
              <a:t>ive </a:t>
            </a:r>
            <a:r>
              <a:rPr b="0" lang="en-US" sz="2000" spc="-1" strike="noStrike">
                <a:latin typeface="Arial"/>
              </a:rPr>
              <a:t>resu</a:t>
            </a:r>
            <a:r>
              <a:rPr b="0" lang="en-US" sz="2000" spc="-1" strike="noStrike">
                <a:latin typeface="Arial"/>
              </a:rPr>
              <a:t>lt, </a:t>
            </a:r>
            <a:r>
              <a:rPr b="0" lang="en-US" sz="2000" spc="-1" strike="noStrike">
                <a:latin typeface="Arial"/>
              </a:rPr>
              <a:t>arch</a:t>
            </a:r>
            <a:r>
              <a:rPr b="0" lang="en-US" sz="2000" spc="-1" strike="noStrike">
                <a:latin typeface="Arial"/>
              </a:rPr>
              <a:t>itect</a:t>
            </a:r>
            <a:r>
              <a:rPr b="0" lang="en-US" sz="2000" spc="-1" strike="noStrike">
                <a:latin typeface="Arial"/>
              </a:rPr>
              <a:t>ure-</a:t>
            </a:r>
            <a:r>
              <a:rPr b="0" lang="en-US" sz="2000" spc="-1" strike="noStrike">
                <a:latin typeface="Arial"/>
              </a:rPr>
              <a:t>gen</a:t>
            </a:r>
            <a:r>
              <a:rPr b="0" lang="en-US" sz="2000" spc="-1" strike="noStrike">
                <a:latin typeface="Arial"/>
              </a:rPr>
              <a:t>eral. </a:t>
            </a:r>
            <a:r>
              <a:rPr b="0" lang="en-US" sz="2000" spc="-1" strike="noStrike">
                <a:latin typeface="Arial"/>
              </a:rPr>
              <a:t>RQ3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quali</a:t>
            </a:r>
            <a:r>
              <a:rPr b="0" lang="en-US" sz="2000" spc="-1" strike="noStrike">
                <a:latin typeface="Arial"/>
              </a:rPr>
              <a:t>fied </a:t>
            </a:r>
            <a:r>
              <a:rPr b="0" lang="en-US" sz="2000" spc="-1" strike="noStrike">
                <a:latin typeface="Arial"/>
              </a:rPr>
              <a:t>yes: </a:t>
            </a:r>
            <a:r>
              <a:rPr b="0" lang="en-US" sz="2000" spc="-1" strike="noStrike">
                <a:latin typeface="Arial"/>
              </a:rPr>
              <a:t>exce</a:t>
            </a:r>
            <a:r>
              <a:rPr b="0" lang="en-US" sz="2000" spc="-1" strike="noStrike">
                <a:latin typeface="Arial"/>
              </a:rPr>
              <a:t>llent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coar</a:t>
            </a:r>
            <a:r>
              <a:rPr b="0" lang="en-US" sz="2000" spc="-1" strike="noStrike">
                <a:latin typeface="Arial"/>
              </a:rPr>
              <a:t>se </a:t>
            </a:r>
            <a:r>
              <a:rPr b="0" lang="en-US" sz="2000" spc="-1" strike="noStrike">
                <a:latin typeface="Arial"/>
              </a:rPr>
              <a:t>deci</a:t>
            </a:r>
            <a:r>
              <a:rPr b="0" lang="en-US" sz="2000" spc="-1" strike="noStrike">
                <a:latin typeface="Arial"/>
              </a:rPr>
              <a:t>sion, </a:t>
            </a:r>
            <a:r>
              <a:rPr b="0" lang="en-US" sz="2000" spc="-1" strike="noStrike">
                <a:latin typeface="Arial"/>
              </a:rPr>
              <a:t>but I </a:t>
            </a:r>
            <a:r>
              <a:rPr b="0" lang="en-US" sz="2000" spc="-1" strike="noStrike">
                <a:latin typeface="Arial"/>
              </a:rPr>
              <a:t>coul</a:t>
            </a:r>
            <a:r>
              <a:rPr b="0" lang="en-US" sz="2000" spc="-1" strike="noStrike">
                <a:latin typeface="Arial"/>
              </a:rPr>
              <a:t>dn't </a:t>
            </a:r>
            <a:r>
              <a:rPr b="0" lang="en-US" sz="2000" spc="-1" strike="noStrike">
                <a:latin typeface="Arial"/>
              </a:rPr>
              <a:t>test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over</a:t>
            </a:r>
            <a:r>
              <a:rPr b="0" lang="en-US" sz="2000" spc="-1" strike="noStrike">
                <a:latin typeface="Arial"/>
              </a:rPr>
              <a:t>train</a:t>
            </a:r>
            <a:r>
              <a:rPr b="0" lang="en-US" sz="2000" spc="-1" strike="noStrike">
                <a:latin typeface="Arial"/>
              </a:rPr>
              <a:t>ing </a:t>
            </a:r>
            <a:r>
              <a:rPr b="0" lang="en-US" sz="2000" spc="-1" strike="noStrike">
                <a:latin typeface="Arial"/>
              </a:rPr>
              <a:t>case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RQ4 </a:t>
            </a:r>
            <a:r>
              <a:rPr b="0" lang="en-US" sz="2000" spc="-1" strike="noStrike">
                <a:latin typeface="Arial"/>
              </a:rPr>
              <a:t>quali</a:t>
            </a:r>
            <a:r>
              <a:rPr b="0" lang="en-US" sz="2000" spc="-1" strike="noStrike">
                <a:latin typeface="Arial"/>
              </a:rPr>
              <a:t>fied: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one </a:t>
            </a:r>
            <a:r>
              <a:rPr b="0" lang="en-US" sz="2000" spc="-1" strike="noStrike">
                <a:latin typeface="Arial"/>
              </a:rPr>
              <a:t>hard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en-US" sz="2000" spc="-1" strike="noStrike">
                <a:latin typeface="Arial"/>
              </a:rPr>
              <a:t>signi</a:t>
            </a:r>
            <a:r>
              <a:rPr b="0" lang="en-US" sz="2000" spc="-1" strike="noStrike">
                <a:latin typeface="Arial"/>
              </a:rPr>
              <a:t>fican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clai</a:t>
            </a:r>
            <a:r>
              <a:rPr b="0" lang="en-US" sz="2000" spc="-1" strike="noStrike">
                <a:latin typeface="Arial"/>
              </a:rPr>
              <a:t>m is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NLL </a:t>
            </a:r>
            <a:r>
              <a:rPr b="0" lang="en-US" sz="2000" spc="-1" strike="noStrike">
                <a:latin typeface="Arial"/>
              </a:rPr>
              <a:t>arch</a:t>
            </a:r>
            <a:r>
              <a:rPr b="0" lang="en-US" sz="2000" spc="-1" strike="noStrike">
                <a:latin typeface="Arial"/>
              </a:rPr>
              <a:t>itect</a:t>
            </a:r>
            <a:r>
              <a:rPr b="0" lang="en-US" sz="2000" spc="-1" strike="noStrike">
                <a:latin typeface="Arial"/>
              </a:rPr>
              <a:t>ure </a:t>
            </a:r>
            <a:r>
              <a:rPr b="0" lang="en-US" sz="2000" spc="-1" strike="noStrike">
                <a:latin typeface="Arial"/>
              </a:rPr>
              <a:t>split;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rest </a:t>
            </a:r>
            <a:r>
              <a:rPr b="0" lang="en-US" sz="2000" spc="-1" strike="noStrike">
                <a:latin typeface="Arial"/>
              </a:rPr>
              <a:t>is a </a:t>
            </a:r>
            <a:r>
              <a:rPr b="0" lang="en-US" sz="2000" spc="-1" strike="noStrike">
                <a:latin typeface="Arial"/>
              </a:rPr>
              <a:t>famil</a:t>
            </a:r>
            <a:r>
              <a:rPr b="0" lang="en-US" sz="2000" spc="-1" strike="noStrike">
                <a:latin typeface="Arial"/>
              </a:rPr>
              <a:t>y of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para</a:t>
            </a:r>
            <a:r>
              <a:rPr b="0" lang="en-US" sz="2000" spc="-1" strike="noStrike">
                <a:latin typeface="Arial"/>
              </a:rPr>
              <a:t>ble </a:t>
            </a:r>
            <a:r>
              <a:rPr b="0" lang="en-US" sz="2000" spc="-1" strike="noStrike">
                <a:latin typeface="Arial"/>
              </a:rPr>
              <a:t>metr</a:t>
            </a:r>
            <a:r>
              <a:rPr b="0" lang="en-US" sz="2000" spc="-1" strike="noStrike">
                <a:latin typeface="Arial"/>
              </a:rPr>
              <a:t>ics </a:t>
            </a:r>
            <a:r>
              <a:rPr b="0" lang="en-US" sz="2000" spc="-1" strike="noStrike">
                <a:latin typeface="Arial"/>
              </a:rPr>
              <a:t>limit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by </a:t>
            </a:r>
            <a:r>
              <a:rPr b="0" lang="en-US" sz="2000" spc="-1" strike="noStrike">
                <a:latin typeface="Arial"/>
              </a:rPr>
              <a:t>eval</a:t>
            </a:r>
            <a:r>
              <a:rPr b="0" lang="en-US" sz="2000" spc="-1" strike="noStrike">
                <a:latin typeface="Arial"/>
              </a:rPr>
              <a:t>uati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bud</a:t>
            </a:r>
            <a:r>
              <a:rPr b="0" lang="en-US" sz="2000" spc="-1" strike="noStrike">
                <a:latin typeface="Arial"/>
              </a:rPr>
              <a:t>get.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gree</a:t>
            </a:r>
            <a:r>
              <a:rPr b="0" lang="en-US" sz="2000" spc="-1" strike="noStrike">
                <a:latin typeface="Arial"/>
              </a:rPr>
              <a:t>n,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amb</a:t>
            </a:r>
            <a:r>
              <a:rPr b="0" lang="en-US" sz="2000" spc="-1" strike="noStrike">
                <a:latin typeface="Arial"/>
              </a:rPr>
              <a:t>er </a:t>
            </a:r>
            <a:r>
              <a:rPr b="0" lang="en-US" sz="2000" spc="-1" strike="noStrike">
                <a:latin typeface="Arial"/>
              </a:rPr>
              <a:t>— I </a:t>
            </a:r>
            <a:r>
              <a:rPr b="0" lang="en-US" sz="2000" spc="-1" strike="noStrike">
                <a:latin typeface="Arial"/>
              </a:rPr>
              <a:t>think </a:t>
            </a:r>
            <a:r>
              <a:rPr b="0" lang="en-US" sz="2000" spc="-1" strike="noStrike">
                <a:latin typeface="Arial"/>
              </a:rPr>
              <a:t>that'</a:t>
            </a:r>
            <a:r>
              <a:rPr b="0" lang="en-US" sz="2000" spc="-1" strike="noStrike">
                <a:latin typeface="Arial"/>
              </a:rPr>
              <a:t>s an </a:t>
            </a:r>
            <a:r>
              <a:rPr b="0" lang="en-US" sz="2000" spc="-1" strike="noStrike">
                <a:latin typeface="Arial"/>
              </a:rPr>
              <a:t>hon</a:t>
            </a:r>
            <a:r>
              <a:rPr b="0" lang="en-US" sz="2000" spc="-1" strike="noStrike">
                <a:latin typeface="Arial"/>
              </a:rPr>
              <a:t>est </a:t>
            </a:r>
            <a:r>
              <a:rPr b="0" lang="en-US" sz="2000" spc="-1" strike="noStrike">
                <a:latin typeface="Arial"/>
              </a:rPr>
              <a:t>scor</a:t>
            </a:r>
            <a:r>
              <a:rPr b="0" lang="en-US" sz="2000" spc="-1" strike="noStrike">
                <a:latin typeface="Arial"/>
              </a:rPr>
              <a:t>ecar</a:t>
            </a:r>
            <a:r>
              <a:rPr b="0" lang="en-US" sz="2000" spc="-1" strike="noStrike">
                <a:latin typeface="Arial"/>
              </a:rPr>
              <a:t>d. </a:t>
            </a:r>
            <a:r>
              <a:rPr b="0" lang="en-US" sz="2000" spc="-1" strike="noStrike">
                <a:latin typeface="Arial"/>
              </a:rPr>
              <a:t>[~1:</a:t>
            </a:r>
            <a:r>
              <a:rPr b="0" lang="en-US" sz="2000" spc="-1" strike="noStrike">
                <a:latin typeface="Arial"/>
              </a:rPr>
              <a:t>00]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4E899F9-8C24-4723-AB92-E8172CAB27FE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If you take four things away </a:t>
            </a:r>
            <a:r>
              <a:rPr b="0" lang="en-US" sz="2000" spc="-1" strike="noStrike">
                <a:latin typeface="Arial"/>
              </a:rPr>
              <a:t>as a practitioner. One: </a:t>
            </a:r>
            <a:r>
              <a:rPr b="0" lang="en-US" sz="2000" spc="-1" strike="noStrike">
                <a:latin typeface="Arial"/>
              </a:rPr>
              <a:t>use a trajectory metric — </a:t>
            </a:r>
            <a:r>
              <a:rPr b="0" lang="en-US" sz="2000" spc="-1" strike="noStrike">
                <a:latin typeface="Arial"/>
              </a:rPr>
              <a:t>DTW is the safe default. </a:t>
            </a:r>
            <a:r>
              <a:rPr b="0" lang="en-US" sz="2000" spc="-1" strike="noStrike">
                <a:latin typeface="Arial"/>
              </a:rPr>
              <a:t>Two: trust the coarse call, </a:t>
            </a:r>
            <a:r>
              <a:rPr b="0" lang="en-US" sz="2000" spc="-1" strike="noStrike">
                <a:latin typeface="Arial"/>
              </a:rPr>
              <a:t>don't stop before the </a:t>
            </a:r>
            <a:r>
              <a:rPr b="0" lang="en-US" sz="2000" spc="-1" strike="noStrike">
                <a:latin typeface="Arial"/>
              </a:rPr>
              <a:t>knee, but don't over-trust </a:t>
            </a:r>
            <a:r>
              <a:rPr b="0" lang="en-US" sz="2000" spc="-1" strike="noStrike">
                <a:latin typeface="Arial"/>
              </a:rPr>
              <a:t>fine ranking on the </a:t>
            </a:r>
            <a:r>
              <a:rPr b="0" lang="en-US" sz="2000" spc="-1" strike="noStrike">
                <a:latin typeface="Arial"/>
              </a:rPr>
              <a:t>plateau. Three: match the </a:t>
            </a:r>
            <a:r>
              <a:rPr b="0" lang="en-US" sz="2000" spc="-1" strike="noStrike">
                <a:latin typeface="Arial"/>
              </a:rPr>
              <a:t>surrogate to the </a:t>
            </a:r>
            <a:r>
              <a:rPr b="0" lang="en-US" sz="2000" spc="-1" strike="noStrike">
                <a:latin typeface="Arial"/>
              </a:rPr>
              <a:t>architecture — token NLL </a:t>
            </a:r>
            <a:r>
              <a:rPr b="0" lang="en-US" sz="2000" spc="-1" strike="noStrike">
                <a:latin typeface="Arial"/>
              </a:rPr>
              <a:t>for discrete, a trajectory </a:t>
            </a:r>
            <a:r>
              <a:rPr b="0" lang="en-US" sz="2000" spc="-1" strike="noStrike">
                <a:latin typeface="Arial"/>
              </a:rPr>
              <a:t>metric for flow-matching. </a:t>
            </a:r>
            <a:r>
              <a:rPr b="0" lang="en-US" sz="2000" spc="-1" strike="noStrike">
                <a:latin typeface="Arial"/>
              </a:rPr>
              <a:t>Four: with tiny rollout </a:t>
            </a:r>
            <a:r>
              <a:rPr b="0" lang="en-US" sz="2000" spc="-1" strike="noStrike">
                <a:latin typeface="Arial"/>
              </a:rPr>
              <a:t>budgets, report </a:t>
            </a:r>
            <a:r>
              <a:rPr b="0" lang="en-US" sz="2000" spc="-1" strike="noStrike">
                <a:latin typeface="Arial"/>
              </a:rPr>
              <a:t>confidence intervals, </a:t>
            </a:r>
            <a:r>
              <a:rPr b="0" lang="en-US" sz="2000" spc="-1" strike="noStrike">
                <a:latin typeface="Arial"/>
              </a:rPr>
              <a:t>because most single-</a:t>
            </a:r>
            <a:r>
              <a:rPr b="0" lang="en-US" sz="2000" spc="-1" strike="noStrike">
                <a:latin typeface="Arial"/>
              </a:rPr>
              <a:t>metric orderings are </a:t>
            </a:r>
            <a:r>
              <a:rPr b="0" lang="en-US" sz="2000" spc="-1" strike="noStrike">
                <a:latin typeface="Arial"/>
              </a:rPr>
              <a:t>noise. [~1:00]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B9ADDE-F79C-4DDF-9B37-64DD0AFD2AC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Three limitations, stated </a:t>
            </a:r>
            <a:r>
              <a:rPr b="0" lang="en-US" sz="2000" spc="-1" strike="noStrike">
                <a:latin typeface="Arial"/>
              </a:rPr>
              <a:t>plainly. One: everything </a:t>
            </a:r>
            <a:r>
              <a:rPr b="0" lang="en-US" sz="2000" spc="-1" strike="noStrike">
                <a:latin typeface="Arial"/>
              </a:rPr>
              <a:t>here is open-loop, teacher-</a:t>
            </a:r>
            <a:r>
              <a:rPr b="0" lang="en-US" sz="2000" spc="-1" strike="noStrike">
                <a:latin typeface="Arial"/>
              </a:rPr>
              <a:t>forced chunks — a world-</a:t>
            </a:r>
            <a:r>
              <a:rPr b="0" lang="en-US" sz="2000" spc="-1" strike="noStrike">
                <a:latin typeface="Arial"/>
              </a:rPr>
              <a:t>model rollout would test </a:t>
            </a:r>
            <a:r>
              <a:rPr b="0" lang="en-US" sz="2000" spc="-1" strike="noStrike">
                <a:latin typeface="Arial"/>
              </a:rPr>
              <a:t>compounding error directly. </a:t>
            </a:r>
            <a:r>
              <a:rPr b="0" lang="en-US" sz="2000" spc="-1" strike="noStrike">
                <a:latin typeface="Arial"/>
              </a:rPr>
              <a:t>Two, the big one: no run </a:t>
            </a:r>
            <a:r>
              <a:rPr b="0" lang="en-US" sz="2000" spc="-1" strike="noStrike">
                <a:latin typeface="Arial"/>
              </a:rPr>
              <a:t>overtrained, so I can't claim </a:t>
            </a:r>
            <a:r>
              <a:rPr b="0" lang="en-US" sz="2000" spc="-1" strike="noStrike">
                <a:latin typeface="Arial"/>
              </a:rPr>
              <a:t>early stopping prevents </a:t>
            </a:r>
            <a:r>
              <a:rPr b="0" lang="en-US" sz="2000" spc="-1" strike="noStrike">
                <a:latin typeface="Arial"/>
              </a:rPr>
              <a:t>degradation, only that it </a:t>
            </a:r>
            <a:r>
              <a:rPr b="0" lang="en-US" sz="2000" spc="-1" strike="noStrike">
                <a:latin typeface="Arial"/>
              </a:rPr>
              <a:t>tracks the plateau. Three: </a:t>
            </a:r>
            <a:r>
              <a:rPr b="0" lang="en-US" sz="2000" spc="-1" strike="noStrike">
                <a:latin typeface="Arial"/>
              </a:rPr>
              <a:t>success was measured </a:t>
            </a:r>
            <a:r>
              <a:rPr b="0" lang="en-US" sz="2000" spc="-1" strike="noStrike">
                <a:latin typeface="Arial"/>
              </a:rPr>
              <a:t>sparsely and, for pi-0.5, at </a:t>
            </a:r>
            <a:r>
              <a:rPr b="0" lang="en-US" sz="2000" spc="-1" strike="noStrike">
                <a:latin typeface="Arial"/>
              </a:rPr>
              <a:t>mismatched horizons — </a:t>
            </a:r>
            <a:r>
              <a:rPr b="0" lang="en-US" sz="2000" spc="-1" strike="noStrike">
                <a:latin typeface="Arial"/>
              </a:rPr>
              <a:t>denser matched evaluation </a:t>
            </a:r>
            <a:r>
              <a:rPr b="0" lang="en-US" sz="2000" spc="-1" strike="noStrike">
                <a:latin typeface="Arial"/>
              </a:rPr>
              <a:t>would finally separate DTW </a:t>
            </a:r>
            <a:r>
              <a:rPr b="0" lang="en-US" sz="2000" spc="-1" strike="noStrike">
                <a:latin typeface="Arial"/>
              </a:rPr>
              <a:t>from L1/L2. None of these </a:t>
            </a:r>
            <a:r>
              <a:rPr b="0" lang="en-US" sz="2000" spc="-1" strike="noStrike">
                <a:latin typeface="Arial"/>
              </a:rPr>
              <a:t>breaks the main result; they </a:t>
            </a:r>
            <a:r>
              <a:rPr b="0" lang="en-US" sz="2000" spc="-1" strike="noStrike">
                <a:latin typeface="Arial"/>
              </a:rPr>
              <a:t>mark where the next study </a:t>
            </a:r>
            <a:r>
              <a:rPr b="0" lang="en-US" sz="2000" spc="-1" strike="noStrike">
                <a:latin typeface="Arial"/>
              </a:rPr>
              <a:t>starts. [~1:05]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3F7679F-4C8C-4979-9255-E4A60FCB428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conclude: </a:t>
            </a:r>
            <a:r>
              <a:rPr b="0" lang="en-US" sz="2000" spc="-1" strike="noStrike">
                <a:latin typeface="Arial"/>
              </a:rPr>
              <a:t>a single </a:t>
            </a:r>
            <a:r>
              <a:rPr b="0" lang="en-US" sz="2000" spc="-1" strike="noStrike">
                <a:latin typeface="Arial"/>
              </a:rPr>
              <a:t>offline </a:t>
            </a:r>
            <a:r>
              <a:rPr b="0" lang="en-US" sz="2000" spc="-1" strike="noStrike">
                <a:latin typeface="Arial"/>
              </a:rPr>
              <a:t>trajectory </a:t>
            </a:r>
            <a:r>
              <a:rPr b="0" lang="en-US" sz="2000" spc="-1" strike="noStrike">
                <a:latin typeface="Arial"/>
              </a:rPr>
              <a:t>metric, </a:t>
            </a:r>
            <a:r>
              <a:rPr b="0" lang="en-US" sz="2000" spc="-1" strike="noStrike">
                <a:latin typeface="Arial"/>
              </a:rPr>
              <a:t>computed </a:t>
            </a:r>
            <a:r>
              <a:rPr b="0" lang="en-US" sz="2000" spc="-1" strike="noStrike">
                <a:latin typeface="Arial"/>
              </a:rPr>
              <a:t>once per </a:t>
            </a:r>
            <a:r>
              <a:rPr b="0" lang="en-US" sz="2000" spc="-1" strike="noStrike">
                <a:latin typeface="Arial"/>
              </a:rPr>
              <a:t>checkpoin</a:t>
            </a:r>
            <a:r>
              <a:rPr b="0" lang="en-US" sz="2000" spc="-1" strike="noStrike">
                <a:latin typeface="Arial"/>
              </a:rPr>
              <a:t>t, can be a </a:t>
            </a:r>
            <a:r>
              <a:rPr b="0" lang="en-US" sz="2000" spc="-1" strike="noStrike">
                <a:latin typeface="Arial"/>
              </a:rPr>
              <a:t>practical, </a:t>
            </a:r>
            <a:r>
              <a:rPr b="0" lang="en-US" sz="2000" spc="-1" strike="noStrike">
                <a:latin typeface="Arial"/>
              </a:rPr>
              <a:t>largely </a:t>
            </a:r>
            <a:r>
              <a:rPr b="0" lang="en-US" sz="2000" spc="-1" strike="noStrike">
                <a:latin typeface="Arial"/>
              </a:rPr>
              <a:t>architectur</a:t>
            </a:r>
            <a:r>
              <a:rPr b="0" lang="en-US" sz="2000" spc="-1" strike="noStrike">
                <a:latin typeface="Arial"/>
              </a:rPr>
              <a:t>e-agnostic </a:t>
            </a:r>
            <a:r>
              <a:rPr b="0" lang="en-US" sz="2000" spc="-1" strike="noStrike">
                <a:latin typeface="Arial"/>
              </a:rPr>
              <a:t>answer to </a:t>
            </a:r>
            <a:r>
              <a:rPr b="0" lang="en-US" sz="2000" spc="-1" strike="noStrike">
                <a:latin typeface="Arial"/>
              </a:rPr>
              <a:t>when to </a:t>
            </a:r>
            <a:r>
              <a:rPr b="0" lang="en-US" sz="2000" spc="-1" strike="noStrike">
                <a:latin typeface="Arial"/>
              </a:rPr>
              <a:t>stop fine-</a:t>
            </a:r>
            <a:r>
              <a:rPr b="0" lang="en-US" sz="2000" spc="-1" strike="noStrike">
                <a:latin typeface="Arial"/>
              </a:rPr>
              <a:t>tuning a </a:t>
            </a:r>
            <a:r>
              <a:rPr b="0" lang="en-US" sz="2000" spc="-1" strike="noStrike">
                <a:latin typeface="Arial"/>
              </a:rPr>
              <a:t>VLA. </a:t>
            </a:r>
            <a:r>
              <a:rPr b="0" lang="en-US" sz="2000" spc="-1" strike="noStrike">
                <a:latin typeface="Arial"/>
              </a:rPr>
              <a:t>Evaluated </a:t>
            </a:r>
            <a:r>
              <a:rPr b="0" lang="en-US" sz="2000" spc="-1" strike="noStrike">
                <a:latin typeface="Arial"/>
              </a:rPr>
              <a:t>across </a:t>
            </a:r>
            <a:r>
              <a:rPr b="0" lang="en-US" sz="2000" spc="-1" strike="noStrike">
                <a:latin typeface="Arial"/>
              </a:rPr>
              <a:t>three </a:t>
            </a:r>
            <a:r>
              <a:rPr b="0" lang="en-US" sz="2000" spc="-1" strike="noStrike">
                <a:latin typeface="Arial"/>
              </a:rPr>
              <a:t>architectur</a:t>
            </a:r>
            <a:r>
              <a:rPr b="0" lang="en-US" sz="2000" spc="-1" strike="noStrike">
                <a:latin typeface="Arial"/>
              </a:rPr>
              <a:t>es and </a:t>
            </a:r>
            <a:r>
              <a:rPr b="0" lang="en-US" sz="2000" spc="-1" strike="noStrike">
                <a:latin typeface="Arial"/>
              </a:rPr>
              <a:t>five runs, </a:t>
            </a:r>
            <a:r>
              <a:rPr b="0" lang="en-US" sz="2000" spc="-1" strike="noStrike">
                <a:latin typeface="Arial"/>
              </a:rPr>
              <a:t>with DTW </a:t>
            </a:r>
            <a:r>
              <a:rPr b="0" lang="en-US" sz="2000" spc="-1" strike="noStrike">
                <a:latin typeface="Arial"/>
              </a:rPr>
              <a:t>as a </a:t>
            </a:r>
            <a:r>
              <a:rPr b="0" lang="en-US" sz="2000" spc="-1" strike="noStrike">
                <a:latin typeface="Arial"/>
              </a:rPr>
              <a:t>reliable </a:t>
            </a:r>
            <a:r>
              <a:rPr b="0" lang="en-US" sz="2000" spc="-1" strike="noStrike">
                <a:latin typeface="Arial"/>
              </a:rPr>
              <a:t>default —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honest </a:t>
            </a:r>
            <a:r>
              <a:rPr b="0" lang="en-US" sz="2000" spc="-1" strike="noStrike">
                <a:latin typeface="Arial"/>
              </a:rPr>
              <a:t>about </a:t>
            </a:r>
            <a:r>
              <a:rPr b="0" lang="en-US" sz="2000" spc="-1" strike="noStrike">
                <a:latin typeface="Arial"/>
              </a:rPr>
              <a:t>what's still </a:t>
            </a:r>
            <a:r>
              <a:rPr b="0" lang="en-US" sz="2000" spc="-1" strike="noStrike">
                <a:latin typeface="Arial"/>
              </a:rPr>
              <a:t>open: the </a:t>
            </a:r>
            <a:r>
              <a:rPr b="0" lang="en-US" sz="2000" spc="-1" strike="noStrike">
                <a:latin typeface="Arial"/>
              </a:rPr>
              <a:t>overtrainin</a:t>
            </a:r>
            <a:r>
              <a:rPr b="0" lang="en-US" sz="2000" spc="-1" strike="noStrike">
                <a:latin typeface="Arial"/>
              </a:rPr>
              <a:t>g case </a:t>
            </a:r>
            <a:r>
              <a:rPr b="0" lang="en-US" sz="2000" spc="-1" strike="noStrike">
                <a:latin typeface="Arial"/>
              </a:rPr>
              <a:t>and true </a:t>
            </a:r>
            <a:r>
              <a:rPr b="0" lang="en-US" sz="2000" spc="-1" strike="noStrike">
                <a:latin typeface="Arial"/>
              </a:rPr>
              <a:t>closed-</a:t>
            </a:r>
            <a:r>
              <a:rPr b="0" lang="en-US" sz="2000" spc="-1" strike="noStrike">
                <a:latin typeface="Arial"/>
              </a:rPr>
              <a:t>loop </a:t>
            </a:r>
            <a:r>
              <a:rPr b="0" lang="en-US" sz="2000" spc="-1" strike="noStrike">
                <a:latin typeface="Arial"/>
              </a:rPr>
              <a:t>rollout. </a:t>
            </a:r>
            <a:r>
              <a:rPr b="0" lang="en-US" sz="2000" spc="-1" strike="noStrike">
                <a:latin typeface="Arial"/>
              </a:rPr>
              <a:t>Thank </a:t>
            </a:r>
            <a:r>
              <a:rPr b="0" lang="en-US" sz="2000" spc="-1" strike="noStrike">
                <a:latin typeface="Arial"/>
              </a:rPr>
              <a:t>you, I'm </a:t>
            </a:r>
            <a:r>
              <a:rPr b="0" lang="en-US" sz="2000" spc="-1" strike="noStrike">
                <a:latin typeface="Arial"/>
              </a:rPr>
              <a:t>happy to </a:t>
            </a:r>
            <a:r>
              <a:rPr b="0" lang="en-US" sz="2000" spc="-1" strike="noStrike">
                <a:latin typeface="Arial"/>
              </a:rPr>
              <a:t>take </a:t>
            </a:r>
            <a:r>
              <a:rPr b="0" lang="en-US" sz="2000" spc="-1" strike="noStrike">
                <a:latin typeface="Arial"/>
              </a:rPr>
              <a:t>questions. </a:t>
            </a:r>
            <a:r>
              <a:rPr b="0" lang="en-US" sz="2000" spc="-1" strike="noStrike">
                <a:latin typeface="Arial"/>
              </a:rPr>
              <a:t>[Total ~22 </a:t>
            </a:r>
            <a:r>
              <a:rPr b="0" lang="en-US" sz="2000" spc="-1" strike="noStrike">
                <a:latin typeface="Arial"/>
              </a:rPr>
              <a:t>min in the </a:t>
            </a:r>
            <a:r>
              <a:rPr b="0" lang="en-US" sz="2000" spc="-1" strike="noStrike">
                <a:latin typeface="Arial"/>
              </a:rPr>
              <a:t>30-min </a:t>
            </a:r>
            <a:r>
              <a:rPr b="0" lang="en-US" sz="2000" spc="-1" strike="noStrike">
                <a:latin typeface="Arial"/>
              </a:rPr>
              <a:t>slot, </a:t>
            </a:r>
            <a:r>
              <a:rPr b="0" lang="en-US" sz="2000" spc="-1" strike="noStrike">
                <a:latin typeface="Arial"/>
              </a:rPr>
              <a:t>leaving </a:t>
            </a:r>
            <a:r>
              <a:rPr b="0" lang="en-US" sz="2000" spc="-1" strike="noStrike">
                <a:latin typeface="Arial"/>
              </a:rPr>
              <a:t>time for </a:t>
            </a:r>
            <a:r>
              <a:rPr b="0" lang="en-US" sz="2000" spc="-1" strike="noStrike">
                <a:latin typeface="Arial"/>
              </a:rPr>
              <a:t>Q&amp;A.] </a:t>
            </a:r>
            <a:r>
              <a:rPr b="0" lang="en-US" sz="2000" spc="-1" strike="noStrike">
                <a:latin typeface="Arial"/>
              </a:rPr>
              <a:t>Backup </a:t>
            </a:r>
            <a:r>
              <a:rPr b="0" lang="en-US" sz="2000" spc="-1" strike="noStrike">
                <a:latin typeface="Arial"/>
              </a:rPr>
              <a:t>slides / </a:t>
            </a:r>
            <a:r>
              <a:rPr b="0" lang="en-US" sz="2000" spc="-1" strike="noStrike">
                <a:latin typeface="Arial"/>
              </a:rPr>
              <a:t>thesis </a:t>
            </a:r>
            <a:r>
              <a:rPr b="0" lang="en-US" sz="2000" spc="-1" strike="noStrike">
                <a:latin typeface="Arial"/>
              </a:rPr>
              <a:t>tables </a:t>
            </a:r>
            <a:r>
              <a:rPr b="0" lang="en-US" sz="2000" spc="-1" strike="noStrike">
                <a:latin typeface="Arial"/>
              </a:rPr>
              <a:t>ready for </a:t>
            </a:r>
            <a:r>
              <a:rPr b="0" lang="en-US" sz="2000" spc="-1" strike="noStrike">
                <a:latin typeface="Arial"/>
              </a:rPr>
              <a:t>detail </a:t>
            </a:r>
            <a:r>
              <a:rPr b="0" lang="en-US" sz="2000" spc="-1" strike="noStrike">
                <a:latin typeface="Arial"/>
              </a:rPr>
              <a:t>questions.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FDDAD8-4E87-48CD-9965-E4D33CF0769E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D7651C-9008-4FE8-B018-168EE6EF13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EA7665-8466-4E35-8F8B-A44C77C793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F37548-BB63-4123-BE5A-CC60FC8873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B8FBE8-B520-45E4-A06F-8777D9BA43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BB6FC9F-0CA7-4ECF-A7AB-7B66A7079C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D54221-4447-4BC4-B089-F25A5B5867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E26111-084D-4E9F-81FE-82E862951C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D98D2F-9629-4199-BC24-4EF45FD37C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65AD34-0F09-469C-AC87-6C68F513CA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4F23B7-9C5F-48E0-A8AB-A6EFD20E07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003D4D-5EEC-4AC4-A7AC-4FE500F5D0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0CC068-1901-40E6-A466-3EDD9B4182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943C49-6050-47CE-AB58-820C28B50C5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</a:t>
            </a:r>
            <a:r>
              <a:rPr b="0" lang="en-US" sz="4400" spc="-1" strike="noStrike">
                <a:latin typeface="Arial"/>
              </a:rPr>
              <a:t>ck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edi</a:t>
            </a:r>
            <a:r>
              <a:rPr b="0" lang="en-US" sz="4400" spc="-1" strike="noStrike">
                <a:latin typeface="Arial"/>
              </a:rPr>
              <a:t>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</a:t>
            </a:r>
            <a:r>
              <a:rPr b="0" lang="en-US" sz="4400" spc="-1" strike="noStrike">
                <a:latin typeface="Arial"/>
              </a:rPr>
              <a:t>t </a:t>
            </a:r>
            <a:r>
              <a:rPr b="0" lang="en-US" sz="4400" spc="-1" strike="noStrike">
                <a:latin typeface="Arial"/>
              </a:rPr>
              <a:t>for</a:t>
            </a:r>
            <a:r>
              <a:rPr b="0" lang="en-US" sz="4400" spc="-1" strike="noStrike">
                <a:latin typeface="Arial"/>
              </a:rPr>
              <a:t>ma</a:t>
            </a:r>
            <a:r>
              <a:rPr b="0" lang="en-US" sz="4400" spc="-1" strike="noStrike">
                <a:latin typeface="Arial"/>
              </a:rPr>
              <a:t>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Rectangle 2"/>
          <p:cNvSpPr/>
          <p:nvPr/>
        </p:nvSpPr>
        <p:spPr>
          <a:xfrm>
            <a:off x="0" y="0"/>
            <a:ext cx="291600" cy="6856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Rectangle 3"/>
          <p:cNvSpPr/>
          <p:nvPr/>
        </p:nvSpPr>
        <p:spPr>
          <a:xfrm>
            <a:off x="0" y="455364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4"/>
          <p:cNvSpPr/>
          <p:nvPr/>
        </p:nvSpPr>
        <p:spPr>
          <a:xfrm>
            <a:off x="868680" y="640080"/>
            <a:ext cx="104230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350" spc="-1" strike="noStrike">
                <a:solidFill>
                  <a:srgbClr val="8a8a8a"/>
                </a:solidFill>
                <a:latin typeface="Calibri"/>
                <a:ea typeface="DejaVu Sans"/>
              </a:rPr>
              <a:t>MSc THESIS SEMINAR  ·  AALTO UNIVERSITY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822960" y="1417320"/>
            <a:ext cx="10697400" cy="186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spcAft>
                <a:spcPts val="601"/>
              </a:spcAft>
              <a:buNone/>
            </a:pPr>
            <a:r>
              <a:rPr b="1" lang="en-US" sz="4000" spc="-1" strike="noStrike">
                <a:solidFill>
                  <a:srgbClr val="1a1a1a"/>
                </a:solidFill>
                <a:latin typeface="Calibri"/>
                <a:ea typeface="DejaVu Sans"/>
              </a:rPr>
              <a:t>Offline Trajectory Metrics for Early Stopping in Vision-Language-Action Model Fine-Tuning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52" name="TextBox 6"/>
          <p:cNvSpPr/>
          <p:nvPr/>
        </p:nvSpPr>
        <p:spPr>
          <a:xfrm>
            <a:off x="868680" y="3429000"/>
            <a:ext cx="104230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  <a:ea typeface="DejaVu Sans"/>
              </a:rPr>
              <a:t>When should the robot policy fine-tuning stop — </a:t>
            </a:r>
            <a:r>
              <a:rPr b="1" lang="en-US" sz="1800" spc="-1" strike="noStrike">
                <a:solidFill>
                  <a:srgbClr val="006fb9"/>
                </a:solidFill>
                <a:latin typeface="Calibri"/>
                <a:ea typeface="DejaVu Sans"/>
              </a:rPr>
              <a:t>without really running it?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TextBox 7"/>
          <p:cNvSpPr/>
          <p:nvPr/>
        </p:nvSpPr>
        <p:spPr>
          <a:xfrm>
            <a:off x="868680" y="4800600"/>
            <a:ext cx="1042308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spcAft>
                <a:spcPts val="700"/>
              </a:spcAft>
              <a:buNone/>
            </a:pPr>
            <a:r>
              <a:rPr b="1" lang="en-US" sz="2000" spc="-1" strike="noStrike">
                <a:solidFill>
                  <a:srgbClr val="1a1a1a"/>
                </a:solidFill>
                <a:latin typeface="Calibri"/>
                <a:ea typeface="DejaVu Sans"/>
              </a:rPr>
              <a:t>Yibo Zhang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6000"/>
              </a:lnSpc>
              <a:spcAft>
                <a:spcPts val="700"/>
              </a:spcAft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Supervisor:  Prof. Joni Pajarinen        Advisor:  Dr. Wenyan Yang</a:t>
            </a:r>
            <a:endParaRPr b="0" lang="en-US" sz="1450" spc="-1" strike="noStrike">
              <a:latin typeface="Arial"/>
            </a:endParaRPr>
          </a:p>
          <a:p>
            <a:pPr>
              <a:lnSpc>
                <a:spcPct val="106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8a8a8a"/>
                </a:solidFill>
                <a:latin typeface="Calibri"/>
                <a:ea typeface="DejaVu Sans"/>
              </a:rPr>
              <a:t>Department of Electrical Engineering and Automation  ·  Aalto Robot Learning Lab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6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8a8a8a"/>
                </a:solidFill>
                <a:latin typeface="Calibri"/>
                <a:ea typeface="DejaVu Sans"/>
              </a:rPr>
              <a:t>Espoo, 21 July 2026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BACKGROUND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A glance of the workflow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58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1" name="Rectangle 8"/>
          <p:cNvSpPr/>
          <p:nvPr/>
        </p:nvSpPr>
        <p:spPr>
          <a:xfrm>
            <a:off x="731520" y="1463040"/>
            <a:ext cx="5256720" cy="191916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Rectangle 9"/>
          <p:cNvSpPr/>
          <p:nvPr/>
        </p:nvSpPr>
        <p:spPr>
          <a:xfrm>
            <a:off x="731520" y="1463040"/>
            <a:ext cx="5256720" cy="108720"/>
          </a:xfrm>
          <a:prstGeom prst="rect">
            <a:avLst/>
          </a:prstGeom>
          <a:solidFill>
            <a:srgbClr val="006fb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TextBox 10"/>
          <p:cNvSpPr/>
          <p:nvPr/>
        </p:nvSpPr>
        <p:spPr>
          <a:xfrm>
            <a:off x="1005840" y="1737360"/>
            <a:ext cx="47538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50" spc="-1" strike="noStrike">
                <a:solidFill>
                  <a:srgbClr val="006fb9"/>
                </a:solidFill>
                <a:latin typeface="Calibri"/>
                <a:ea typeface="DejaVu Sans"/>
              </a:rPr>
              <a:t>Robot policy (VLA)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64" name="TextBox 11"/>
          <p:cNvSpPr/>
          <p:nvPr/>
        </p:nvSpPr>
        <p:spPr>
          <a:xfrm>
            <a:off x="1005840" y="2359080"/>
            <a:ext cx="475380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buNone/>
            </a:pP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A neural network that takes a camera </a:t>
            </a:r>
            <a:r>
              <a:rPr b="1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image</a:t>
            </a: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 plus a plain-language </a:t>
            </a:r>
            <a:r>
              <a:rPr b="1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instruction</a:t>
            </a: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 (“put the carrot on the plate”) and outputs the robot’s next </a:t>
            </a:r>
            <a:r>
              <a:rPr b="1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movements</a:t>
            </a: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.</a:t>
            </a:r>
            <a:endParaRPr b="0" lang="en-US" sz="1380" spc="-1" strike="noStrike">
              <a:latin typeface="Arial"/>
            </a:endParaRPr>
          </a:p>
        </p:txBody>
      </p:sp>
      <p:sp>
        <p:nvSpPr>
          <p:cNvPr id="65" name="Rectangle 12"/>
          <p:cNvSpPr/>
          <p:nvPr/>
        </p:nvSpPr>
        <p:spPr>
          <a:xfrm>
            <a:off x="6217920" y="1463040"/>
            <a:ext cx="5256720" cy="191916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Rectangle 13"/>
          <p:cNvSpPr/>
          <p:nvPr/>
        </p:nvSpPr>
        <p:spPr>
          <a:xfrm>
            <a:off x="6217920" y="1463040"/>
            <a:ext cx="5256720" cy="108720"/>
          </a:xfrm>
          <a:prstGeom prst="rect">
            <a:avLst/>
          </a:prstGeom>
          <a:solidFill>
            <a:srgbClr val="1b8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TextBox 14"/>
          <p:cNvSpPr/>
          <p:nvPr/>
        </p:nvSpPr>
        <p:spPr>
          <a:xfrm>
            <a:off x="6492240" y="1737360"/>
            <a:ext cx="47538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50" spc="-1" strike="noStrike">
                <a:solidFill>
                  <a:srgbClr val="1b8a4a"/>
                </a:solidFill>
                <a:latin typeface="Calibri"/>
                <a:ea typeface="DejaVu Sans"/>
              </a:rPr>
              <a:t>Fine-tuning (LoRA)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68" name="TextBox 15"/>
          <p:cNvSpPr/>
          <p:nvPr/>
        </p:nvSpPr>
        <p:spPr>
          <a:xfrm>
            <a:off x="6492240" y="2359080"/>
            <a:ext cx="475380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buNone/>
            </a:pP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Adapting a large pretrained model to a new domain with a small dataset by adding an adapter multiped by two low rank matrics. (LoRA).</a:t>
            </a:r>
            <a:endParaRPr b="0" lang="en-US" sz="1380" spc="-1" strike="noStrike">
              <a:latin typeface="Arial"/>
            </a:endParaRPr>
          </a:p>
        </p:txBody>
      </p:sp>
      <p:sp>
        <p:nvSpPr>
          <p:cNvPr id="69" name="Rectangle 16"/>
          <p:cNvSpPr/>
          <p:nvPr/>
        </p:nvSpPr>
        <p:spPr>
          <a:xfrm>
            <a:off x="731520" y="3657600"/>
            <a:ext cx="5256720" cy="191916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Rectangle 17"/>
          <p:cNvSpPr/>
          <p:nvPr/>
        </p:nvSpPr>
        <p:spPr>
          <a:xfrm>
            <a:off x="731520" y="3657600"/>
            <a:ext cx="5256720" cy="108720"/>
          </a:xfrm>
          <a:prstGeom prst="rect">
            <a:avLst/>
          </a:prstGeom>
          <a:solidFill>
            <a:srgbClr val="8a62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TextBox 18"/>
          <p:cNvSpPr/>
          <p:nvPr/>
        </p:nvSpPr>
        <p:spPr>
          <a:xfrm>
            <a:off x="1005840" y="3931920"/>
            <a:ext cx="47538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50" spc="-1" strike="noStrike">
                <a:solidFill>
                  <a:srgbClr val="8a6200"/>
                </a:solidFill>
                <a:latin typeface="Calibri"/>
                <a:ea typeface="DejaVu Sans"/>
              </a:rPr>
              <a:t>Checkpoint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72" name="TextBox 19"/>
          <p:cNvSpPr/>
          <p:nvPr/>
        </p:nvSpPr>
        <p:spPr>
          <a:xfrm>
            <a:off x="1005840" y="4553640"/>
            <a:ext cx="475380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buNone/>
            </a:pP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A snapshot of the model saved periodically during training. LoRA adapter is saved instead of the entire parameter. </a:t>
            </a:r>
            <a:endParaRPr b="0" lang="en-US" sz="1380" spc="-1" strike="noStrike">
              <a:latin typeface="Arial"/>
            </a:endParaRPr>
          </a:p>
        </p:txBody>
      </p:sp>
      <p:sp>
        <p:nvSpPr>
          <p:cNvPr id="73" name="Rectangle 20"/>
          <p:cNvSpPr/>
          <p:nvPr/>
        </p:nvSpPr>
        <p:spPr>
          <a:xfrm>
            <a:off x="6217920" y="3657600"/>
            <a:ext cx="5256720" cy="191916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Rectangle 21"/>
          <p:cNvSpPr/>
          <p:nvPr/>
        </p:nvSpPr>
        <p:spPr>
          <a:xfrm>
            <a:off x="6217920" y="3657600"/>
            <a:ext cx="5256720" cy="108720"/>
          </a:xfrm>
          <a:prstGeom prst="rect">
            <a:avLst/>
          </a:prstGeom>
          <a:solidFill>
            <a:srgbClr val="6a3d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TextBox 22"/>
          <p:cNvSpPr/>
          <p:nvPr/>
        </p:nvSpPr>
        <p:spPr>
          <a:xfrm>
            <a:off x="6492240" y="3931920"/>
            <a:ext cx="47538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50" spc="-1" strike="noStrike">
                <a:solidFill>
                  <a:srgbClr val="6a3d9a"/>
                </a:solidFill>
                <a:latin typeface="Calibri"/>
                <a:ea typeface="DejaVu Sans"/>
              </a:rPr>
              <a:t>Early stopping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76" name="TextBox 23"/>
          <p:cNvSpPr/>
          <p:nvPr/>
        </p:nvSpPr>
        <p:spPr>
          <a:xfrm>
            <a:off x="6492240" y="4553640"/>
            <a:ext cx="475380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buNone/>
            </a:pP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Choosing which snapshot to keep requires an </a:t>
            </a:r>
            <a:r>
              <a:rPr b="1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efficient signal</a:t>
            </a: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 that predicts real performance. </a:t>
            </a:r>
            <a:endParaRPr b="0" lang="en-US" sz="1380" spc="-1" strike="noStrike">
              <a:latin typeface="Arial"/>
            </a:endParaRPr>
          </a:p>
        </p:txBody>
      </p:sp>
      <p:sp>
        <p:nvSpPr>
          <p:cNvPr id="77" name="TextBox 24"/>
          <p:cNvSpPr/>
          <p:nvPr/>
        </p:nvSpPr>
        <p:spPr>
          <a:xfrm>
            <a:off x="731520" y="5806440"/>
            <a:ext cx="1078884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Research problem: 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can we predict how well the robot will perform — without the cost of actually running it?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9008280" y="276120"/>
            <a:ext cx="2650320" cy="209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MOTIVATION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Why to design an early-stopping signal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83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778320" y="2297520"/>
            <a:ext cx="5622480" cy="181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1500"/>
              </a:spcAft>
              <a:buNone/>
            </a:pPr>
            <a:r>
              <a:rPr b="1" lang="en-US" sz="165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Training is stopped by a fixed budget. </a:t>
            </a:r>
            <a:r>
              <a:rPr b="0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Many current VLAs are trained for a preset number of steps, with no validation-based stopping rule.</a:t>
            </a:r>
            <a:endParaRPr b="0" lang="en-US" sz="16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500"/>
              </a:spcAft>
              <a:buNone/>
            </a:pPr>
            <a:r>
              <a:rPr b="1" lang="en-US" sz="165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But the optimum is not fixed. </a:t>
            </a:r>
            <a:r>
              <a:rPr b="0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It shifts with dataset size, learning rate, and batch size: too long overfits, too short underfits.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87" name="Rectangle 9"/>
          <p:cNvSpPr/>
          <p:nvPr/>
        </p:nvSpPr>
        <p:spPr>
          <a:xfrm>
            <a:off x="6720840" y="1554480"/>
            <a:ext cx="5166360" cy="370332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Rectangle 10"/>
          <p:cNvSpPr/>
          <p:nvPr/>
        </p:nvSpPr>
        <p:spPr>
          <a:xfrm>
            <a:off x="6720840" y="1554480"/>
            <a:ext cx="90360" cy="356508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TextBox 11"/>
          <p:cNvSpPr/>
          <p:nvPr/>
        </p:nvSpPr>
        <p:spPr>
          <a:xfrm>
            <a:off x="6995160" y="1783080"/>
            <a:ext cx="42966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  <a:ea typeface="DejaVu Sans"/>
              </a:rPr>
              <a:t>The core tension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90" name="TextBox 12"/>
          <p:cNvSpPr/>
          <p:nvPr/>
        </p:nvSpPr>
        <p:spPr>
          <a:xfrm>
            <a:off x="6995160" y="2286000"/>
            <a:ext cx="4892040" cy="23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1301"/>
              </a:spcAft>
              <a:buNone/>
            </a:pPr>
            <a:r>
              <a:rPr b="1" lang="en-US" sz="150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Closed-loop success rate = ground truth,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but a rollout per checkpoint is slow, high-variance, expensive, even damage hardware.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301"/>
              </a:spcAft>
              <a:buNone/>
            </a:pPr>
            <a:r>
              <a:rPr b="1" lang="en-US" sz="150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Training loss = cheap,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but cannot guarantee general performance, nor avoid over-fitting 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301"/>
              </a:spcAft>
              <a:buNone/>
            </a:pPr>
            <a:r>
              <a:rPr b="1" lang="en-US" sz="1500" spc="-1" strike="noStrike">
                <a:solidFill>
                  <a:srgbClr val="ffd100"/>
                </a:solidFill>
                <a:latin typeface="Calibri"/>
                <a:ea typeface="DejaVu Sans"/>
              </a:rPr>
              <a:t>-&gt; </a:t>
            </a:r>
            <a:r>
              <a:rPr b="1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We need a middle ground: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an offline signal, computed every checkpoint on validation dataset to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predicts success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THE PROBLEM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Limitation of offline loss in validation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95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8" name="Rectangle 8"/>
          <p:cNvSpPr/>
          <p:nvPr/>
        </p:nvSpPr>
        <p:spPr>
          <a:xfrm>
            <a:off x="731520" y="1600200"/>
            <a:ext cx="3528360" cy="338220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Rectangle 9"/>
          <p:cNvSpPr/>
          <p:nvPr/>
        </p:nvSpPr>
        <p:spPr>
          <a:xfrm>
            <a:off x="731520" y="1600200"/>
            <a:ext cx="3528360" cy="127080"/>
          </a:xfrm>
          <a:prstGeom prst="rect">
            <a:avLst/>
          </a:prstGeom>
          <a:solidFill>
            <a:srgbClr val="006fb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TextBox 10"/>
          <p:cNvSpPr/>
          <p:nvPr/>
        </p:nvSpPr>
        <p:spPr>
          <a:xfrm>
            <a:off x="960120" y="1828800"/>
            <a:ext cx="3154680" cy="9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900" spc="-1" strike="noStrike">
                <a:solidFill>
                  <a:srgbClr val="006fb9"/>
                </a:solidFill>
                <a:latin typeface="Calibri"/>
                <a:ea typeface="DejaVu Sans"/>
              </a:rPr>
              <a:t>Teacher-forcing causes Exposure Bias and Error Accumulation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01" name="TextBox 11"/>
          <p:cNvSpPr/>
          <p:nvPr/>
        </p:nvSpPr>
        <p:spPr>
          <a:xfrm>
            <a:off x="960120" y="2834640"/>
            <a:ext cx="307116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Loss is computed on ground-truth context instead of the prediction </a:t>
            </a:r>
            <a:endParaRPr b="0" lang="en-US" sz="1450" spc="-1" strike="noStrike">
              <a:latin typeface="Arial"/>
            </a:endParaRPr>
          </a:p>
          <a:p>
            <a:pPr>
              <a:lnSpc>
                <a:spcPct val="110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 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02" name="Rectangle 12"/>
          <p:cNvSpPr/>
          <p:nvPr/>
        </p:nvSpPr>
        <p:spPr>
          <a:xfrm>
            <a:off x="4535280" y="1600200"/>
            <a:ext cx="3528360" cy="338220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Rectangle 13"/>
          <p:cNvSpPr/>
          <p:nvPr/>
        </p:nvSpPr>
        <p:spPr>
          <a:xfrm>
            <a:off x="4535280" y="1600200"/>
            <a:ext cx="3528360" cy="127080"/>
          </a:xfrm>
          <a:prstGeom prst="rect">
            <a:avLst/>
          </a:prstGeom>
          <a:solidFill>
            <a:srgbClr val="c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TextBox 14"/>
          <p:cNvSpPr/>
          <p:nvPr/>
        </p:nvSpPr>
        <p:spPr>
          <a:xfrm>
            <a:off x="4763880" y="1920240"/>
            <a:ext cx="307116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900" spc="-1" strike="noStrike">
                <a:solidFill>
                  <a:srgbClr val="c02a2a"/>
                </a:solidFill>
                <a:latin typeface="Calibri"/>
                <a:ea typeface="DejaVu Sans"/>
              </a:rPr>
              <a:t>Weakly aligned with success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05" name="TextBox 15"/>
          <p:cNvSpPr/>
          <p:nvPr/>
        </p:nvSpPr>
        <p:spPr>
          <a:xfrm>
            <a:off x="4763880" y="2834640"/>
            <a:ext cx="307116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In behaviour cloning, a minimum validation loss doesn’t guarantee a best success rate.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06" name="Rectangle 16"/>
          <p:cNvSpPr/>
          <p:nvPr/>
        </p:nvSpPr>
        <p:spPr>
          <a:xfrm>
            <a:off x="8339400" y="1600200"/>
            <a:ext cx="3528360" cy="338220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Rectangle 17"/>
          <p:cNvSpPr/>
          <p:nvPr/>
        </p:nvSpPr>
        <p:spPr>
          <a:xfrm>
            <a:off x="8339400" y="1600200"/>
            <a:ext cx="3528360" cy="127080"/>
          </a:xfrm>
          <a:prstGeom prst="rect">
            <a:avLst/>
          </a:prstGeom>
          <a:solidFill>
            <a:srgbClr val="1b8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TextBox 18"/>
          <p:cNvSpPr/>
          <p:nvPr/>
        </p:nvSpPr>
        <p:spPr>
          <a:xfrm>
            <a:off x="8568000" y="1920240"/>
            <a:ext cx="307116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900" spc="-1" strike="noStrike">
                <a:solidFill>
                  <a:srgbClr val="1b8a4a"/>
                </a:solidFill>
                <a:latin typeface="Calibri"/>
                <a:ea typeface="DejaVu Sans"/>
              </a:rPr>
              <a:t>Averaging hides structure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09" name="TextBox 19"/>
          <p:cNvSpPr/>
          <p:nvPr/>
        </p:nvSpPr>
        <p:spPr>
          <a:xfrm>
            <a:off x="8568000" y="2834640"/>
            <a:ext cx="3071160" cy="12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A scalar mean of per-step errors does not distinguish a smooth-but-lagged motion from a jittery-but-timed one — lose trajectory spacial-temperal structure. 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10" name="TextBox 20"/>
          <p:cNvSpPr/>
          <p:nvPr/>
        </p:nvSpPr>
        <p:spPr>
          <a:xfrm>
            <a:off x="731520" y="5349240"/>
            <a:ext cx="1078884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1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Consequence  </a:t>
            </a:r>
            <a:r>
              <a:rPr b="0" lang="en-US" sz="1600" spc="-1" strike="noStrike">
                <a:solidFill>
                  <a:srgbClr val="555555"/>
                </a:solidFill>
                <a:latin typeface="Calibri"/>
                <a:ea typeface="DejaVu Sans"/>
              </a:rPr>
              <a:t>— early stopping on loss can pick a checkpoint with a success-rate gap with the global-optimal. This thesis measures that cost directly as </a:t>
            </a:r>
            <a:r>
              <a:rPr b="1" lang="en-US" sz="1600" spc="-1" strike="noStrike">
                <a:solidFill>
                  <a:srgbClr val="006fb9"/>
                </a:solidFill>
                <a:latin typeface="Calibri"/>
                <a:ea typeface="DejaVu Sans"/>
              </a:rPr>
              <a:t>selection regret.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PROPOSED IDEA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Compare trajectory chunks, not single steps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15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4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731520" y="1325880"/>
            <a:ext cx="1069740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buNone/>
            </a:pPr>
            <a:r>
              <a:rPr b="0" lang="en-US" sz="1700" spc="-1" strike="noStrike">
                <a:solidFill>
                  <a:srgbClr val="1a1a1a"/>
                </a:solidFill>
                <a:latin typeface="Calibri"/>
                <a:ea typeface="DejaVu Sans"/>
              </a:rPr>
              <a:t>Make</a:t>
            </a:r>
            <a:r>
              <a:rPr b="0" lang="en-US" sz="1700" spc="-1" strike="noStrike">
                <a:solidFill>
                  <a:srgbClr val="1a1a1a"/>
                </a:solidFill>
                <a:latin typeface="Calibri"/>
                <a:ea typeface="DejaVu Sans"/>
              </a:rPr>
              <a:t> geometric, sequence-level similarity to the expert becomes measurable.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19" name="Rectangle 9"/>
          <p:cNvSpPr/>
          <p:nvPr/>
        </p:nvSpPr>
        <p:spPr>
          <a:xfrm>
            <a:off x="2286000" y="2104200"/>
            <a:ext cx="2613960" cy="269640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Rectangle 10"/>
          <p:cNvSpPr/>
          <p:nvPr/>
        </p:nvSpPr>
        <p:spPr>
          <a:xfrm>
            <a:off x="2286000" y="2104200"/>
            <a:ext cx="2613960" cy="565920"/>
          </a:xfrm>
          <a:prstGeom prst="rect">
            <a:avLst/>
          </a:prstGeom>
          <a:solidFill>
            <a:srgbClr val="006fb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TextBox 11"/>
          <p:cNvSpPr/>
          <p:nvPr/>
        </p:nvSpPr>
        <p:spPr>
          <a:xfrm>
            <a:off x="2286000" y="2186640"/>
            <a:ext cx="261396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DejaVu Sans"/>
              </a:rPr>
              <a:t>DTW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122" name="TextBox 12"/>
          <p:cNvSpPr/>
          <p:nvPr/>
        </p:nvSpPr>
        <p:spPr>
          <a:xfrm>
            <a:off x="2468880" y="2817360"/>
            <a:ext cx="2248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1350" spc="-1" strike="noStrike">
                <a:solidFill>
                  <a:srgbClr val="1a1a1a"/>
                </a:solidFill>
                <a:latin typeface="Calibri"/>
                <a:ea typeface="DejaVu Sans"/>
              </a:rPr>
              <a:t>Dynamic Time Warping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23" name="TextBox 13"/>
          <p:cNvSpPr/>
          <p:nvPr/>
        </p:nvSpPr>
        <p:spPr>
          <a:xfrm>
            <a:off x="2468880" y="3292920"/>
            <a:ext cx="2248200" cy="10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8000"/>
              </a:lnSpc>
              <a:buNone/>
            </a:pPr>
            <a:r>
              <a:rPr b="0" lang="en-US" sz="1250" spc="-1" strike="noStrike">
                <a:solidFill>
                  <a:srgbClr val="555555"/>
                </a:solidFill>
                <a:latin typeface="Calibri"/>
                <a:ea typeface="DejaVu Sans"/>
              </a:rPr>
              <a:t>Aligns two sequences in time. Tolerant of pace / phase lag — forgives a correct shape run slightly fast or slow.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4" name="Rectangle 14"/>
          <p:cNvSpPr/>
          <p:nvPr/>
        </p:nvSpPr>
        <p:spPr>
          <a:xfrm>
            <a:off x="5074920" y="2104200"/>
            <a:ext cx="2613960" cy="269640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Rectangle 15"/>
          <p:cNvSpPr/>
          <p:nvPr/>
        </p:nvSpPr>
        <p:spPr>
          <a:xfrm>
            <a:off x="5074920" y="2104200"/>
            <a:ext cx="2613960" cy="565920"/>
          </a:xfrm>
          <a:prstGeom prst="rect">
            <a:avLst/>
          </a:prstGeom>
          <a:solidFill>
            <a:srgbClr val="1b8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TextBox 16"/>
          <p:cNvSpPr/>
          <p:nvPr/>
        </p:nvSpPr>
        <p:spPr>
          <a:xfrm>
            <a:off x="5074920" y="2186640"/>
            <a:ext cx="261396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DejaVu Sans"/>
              </a:rPr>
              <a:t>OT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127" name="TextBox 17"/>
          <p:cNvSpPr/>
          <p:nvPr/>
        </p:nvSpPr>
        <p:spPr>
          <a:xfrm>
            <a:off x="5257800" y="2817360"/>
            <a:ext cx="2248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1350" spc="-1" strike="noStrike">
                <a:solidFill>
                  <a:srgbClr val="1a1a1a"/>
                </a:solidFill>
                <a:latin typeface="Calibri"/>
                <a:ea typeface="DejaVu Sans"/>
              </a:rPr>
              <a:t>Optimal Transport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28" name="TextBox 18"/>
          <p:cNvSpPr/>
          <p:nvPr/>
        </p:nvSpPr>
        <p:spPr>
          <a:xfrm>
            <a:off x="5257800" y="3292920"/>
            <a:ext cx="2248200" cy="10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8000"/>
              </a:lnSpc>
              <a:buNone/>
            </a:pPr>
            <a:r>
              <a:rPr b="0" lang="en-US" sz="1250" spc="-1" strike="noStrike">
                <a:solidFill>
                  <a:srgbClr val="555555"/>
                </a:solidFill>
                <a:latin typeface="Calibri"/>
                <a:ea typeface="DejaVu Sans"/>
              </a:rPr>
              <a:t>Matches sequences as distributions of waypoints (entropic Sinkhorn). Geometry-aware and a true metric.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9" name="Rectangle 19"/>
          <p:cNvSpPr/>
          <p:nvPr/>
        </p:nvSpPr>
        <p:spPr>
          <a:xfrm>
            <a:off x="7863840" y="2104200"/>
            <a:ext cx="2613960" cy="269640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Rectangle 20"/>
          <p:cNvSpPr/>
          <p:nvPr/>
        </p:nvSpPr>
        <p:spPr>
          <a:xfrm>
            <a:off x="7863840" y="2104200"/>
            <a:ext cx="2613960" cy="565920"/>
          </a:xfrm>
          <a:prstGeom prst="rect">
            <a:avLst/>
          </a:prstGeom>
          <a:solidFill>
            <a:srgbClr val="8a62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TextBox 21"/>
          <p:cNvSpPr/>
          <p:nvPr/>
        </p:nvSpPr>
        <p:spPr>
          <a:xfrm>
            <a:off x="7863840" y="2186640"/>
            <a:ext cx="261396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DejaVu Sans"/>
              </a:rPr>
              <a:t>COS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132" name="TextBox 22"/>
          <p:cNvSpPr/>
          <p:nvPr/>
        </p:nvSpPr>
        <p:spPr>
          <a:xfrm>
            <a:off x="8046720" y="2817360"/>
            <a:ext cx="2248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1350" spc="-1" strike="noStrike">
                <a:solidFill>
                  <a:srgbClr val="1a1a1a"/>
                </a:solidFill>
                <a:latin typeface="Calibri"/>
                <a:ea typeface="DejaVu Sans"/>
              </a:rPr>
              <a:t>Cosine distance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33" name="TextBox 23"/>
          <p:cNvSpPr/>
          <p:nvPr/>
        </p:nvSpPr>
        <p:spPr>
          <a:xfrm>
            <a:off x="8046720" y="3292920"/>
            <a:ext cx="2248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8000"/>
              </a:lnSpc>
              <a:buNone/>
            </a:pPr>
            <a:r>
              <a:rPr b="0" lang="en-US" sz="1250" spc="-1" strike="noStrike">
                <a:solidFill>
                  <a:srgbClr val="555555"/>
                </a:solidFill>
                <a:latin typeface="Calibri"/>
                <a:ea typeface="DejaVu Sans"/>
              </a:rPr>
              <a:t>Per-step direction agreement, magnitude-blind. Cheap; used alongside, never alone.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34" name="TextBox 29"/>
          <p:cNvSpPr/>
          <p:nvPr/>
        </p:nvSpPr>
        <p:spPr>
          <a:xfrm>
            <a:off x="731520" y="5440680"/>
            <a:ext cx="107888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All metrics normalised per action dimension, </a:t>
            </a:r>
            <a:r>
              <a:rPr b="1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lower = better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. 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10000"/>
              </a:lnSpc>
              <a:buNone/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L1 / L2 per-step distances, NLL (discrete) / flow-matching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loss (continuous) serve as the baseline comparation. 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METHOD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The pipeline: score → select → judge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39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2" name="Rectangle 8"/>
          <p:cNvSpPr/>
          <p:nvPr/>
        </p:nvSpPr>
        <p:spPr>
          <a:xfrm>
            <a:off x="731520" y="1554480"/>
            <a:ext cx="10697400" cy="116928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Rectangle 9"/>
          <p:cNvSpPr/>
          <p:nvPr/>
        </p:nvSpPr>
        <p:spPr>
          <a:xfrm>
            <a:off x="731520" y="1554480"/>
            <a:ext cx="1169280" cy="1169280"/>
          </a:xfrm>
          <a:prstGeom prst="rect">
            <a:avLst/>
          </a:prstGeom>
          <a:solidFill>
            <a:srgbClr val="006fb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TextBox 10"/>
          <p:cNvSpPr/>
          <p:nvPr/>
        </p:nvSpPr>
        <p:spPr>
          <a:xfrm>
            <a:off x="731520" y="1828800"/>
            <a:ext cx="1169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45" name="TextBox 11"/>
          <p:cNvSpPr/>
          <p:nvPr/>
        </p:nvSpPr>
        <p:spPr>
          <a:xfrm>
            <a:off x="2194560" y="1737360"/>
            <a:ext cx="88686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900" spc="-1" strike="noStrike">
                <a:solidFill>
                  <a:srgbClr val="1a1a1a"/>
                </a:solidFill>
                <a:latin typeface="Calibri"/>
                <a:ea typeface="DejaVu Sans"/>
              </a:rPr>
              <a:t>Score every checkpoint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46" name="TextBox 12"/>
          <p:cNvSpPr/>
          <p:nvPr/>
        </p:nvSpPr>
        <p:spPr>
          <a:xfrm>
            <a:off x="2194560" y="2176200"/>
            <a:ext cx="886860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On held-out expert data, compute the trajectory metric  m̄(k)  for each saved checkpoint.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47" name="Rectangle 13"/>
          <p:cNvSpPr/>
          <p:nvPr/>
        </p:nvSpPr>
        <p:spPr>
          <a:xfrm>
            <a:off x="731520" y="2980800"/>
            <a:ext cx="10697400" cy="116928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Rectangle 14"/>
          <p:cNvSpPr/>
          <p:nvPr/>
        </p:nvSpPr>
        <p:spPr>
          <a:xfrm>
            <a:off x="731520" y="2980800"/>
            <a:ext cx="1169280" cy="1169280"/>
          </a:xfrm>
          <a:prstGeom prst="rect">
            <a:avLst/>
          </a:prstGeom>
          <a:solidFill>
            <a:srgbClr val="1b8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TextBox 15"/>
          <p:cNvSpPr/>
          <p:nvPr/>
        </p:nvSpPr>
        <p:spPr>
          <a:xfrm>
            <a:off x="731520" y="3255120"/>
            <a:ext cx="1169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50" name="TextBox 16"/>
          <p:cNvSpPr/>
          <p:nvPr/>
        </p:nvSpPr>
        <p:spPr>
          <a:xfrm>
            <a:off x="2194560" y="3163680"/>
            <a:ext cx="88686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900" spc="-1" strike="noStrike">
                <a:solidFill>
                  <a:srgbClr val="1a1a1a"/>
                </a:solidFill>
                <a:latin typeface="Calibri"/>
                <a:ea typeface="DejaVu Sans"/>
              </a:rPr>
              <a:t>Select one checkpoint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51" name="TextBox 17"/>
          <p:cNvSpPr/>
          <p:nvPr/>
        </p:nvSpPr>
        <p:spPr>
          <a:xfrm>
            <a:off x="2194560" y="3602880"/>
            <a:ext cx="886860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Early-stopping rule: earliest checkpoint within 1% of the metric's best value  →  k*_m.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52" name="Rectangle 18"/>
          <p:cNvSpPr/>
          <p:nvPr/>
        </p:nvSpPr>
        <p:spPr>
          <a:xfrm>
            <a:off x="731520" y="4407480"/>
            <a:ext cx="10697400" cy="116928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Rectangle 19"/>
          <p:cNvSpPr/>
          <p:nvPr/>
        </p:nvSpPr>
        <p:spPr>
          <a:xfrm>
            <a:off x="731520" y="4407480"/>
            <a:ext cx="1169280" cy="1169280"/>
          </a:xfrm>
          <a:prstGeom prst="rect">
            <a:avLst/>
          </a:prstGeom>
          <a:solidFill>
            <a:srgbClr val="c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TextBox 20"/>
          <p:cNvSpPr/>
          <p:nvPr/>
        </p:nvSpPr>
        <p:spPr>
          <a:xfrm>
            <a:off x="731520" y="4681800"/>
            <a:ext cx="1169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155" name="TextBox 21"/>
          <p:cNvSpPr/>
          <p:nvPr/>
        </p:nvSpPr>
        <p:spPr>
          <a:xfrm>
            <a:off x="2194560" y="4590360"/>
            <a:ext cx="88686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900" spc="-1" strike="noStrike">
                <a:solidFill>
                  <a:srgbClr val="1a1a1a"/>
                </a:solidFill>
                <a:latin typeface="Calibri"/>
                <a:ea typeface="DejaVu Sans"/>
              </a:rPr>
              <a:t>Judge the metric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56" name="TextBox 22"/>
          <p:cNvSpPr/>
          <p:nvPr/>
        </p:nvSpPr>
        <p:spPr>
          <a:xfrm>
            <a:off x="2194560" y="5029200"/>
            <a:ext cx="886860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Against true success Q(k):  Spearman ρ (rank agreement, +1 to −1) and selection regret (success forgone).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57" name="TextBox 23"/>
          <p:cNvSpPr/>
          <p:nvPr/>
        </p:nvSpPr>
        <p:spPr>
          <a:xfrm>
            <a:off x="731520" y="5806440"/>
            <a:ext cx="1078884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Selection rule:   </a:t>
            </a:r>
            <a:r>
              <a:rPr b="0" i="1" lang="en-US" sz="1500" spc="-1" strike="noStrike">
                <a:solidFill>
                  <a:srgbClr val="006fb9"/>
                </a:solidFill>
                <a:latin typeface="Calibri"/>
                <a:ea typeface="DejaVu Sans"/>
              </a:rPr>
              <a:t>k*_m = min { k : m̄(k) ≤ min m̄ + η },   η = 0.01 · |m̄(0) − min m̄|</a:t>
            </a:r>
            <a:r>
              <a:rPr b="0" i="1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      Regret(m) = max_k Q(k) − Q(k*_m)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RESEARCH QUESTIONS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Four questions, each a check on the last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62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6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5" name="Rectangle 8"/>
          <p:cNvSpPr/>
          <p:nvPr/>
        </p:nvSpPr>
        <p:spPr>
          <a:xfrm>
            <a:off x="731520" y="1508760"/>
            <a:ext cx="5256720" cy="196488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Rectangle 9"/>
          <p:cNvSpPr/>
          <p:nvPr/>
        </p:nvSpPr>
        <p:spPr>
          <a:xfrm>
            <a:off x="731520" y="1508760"/>
            <a:ext cx="108720" cy="1964880"/>
          </a:xfrm>
          <a:prstGeom prst="rect">
            <a:avLst/>
          </a:prstGeom>
          <a:solidFill>
            <a:srgbClr val="006fb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TextBox 10"/>
          <p:cNvSpPr/>
          <p:nvPr/>
        </p:nvSpPr>
        <p:spPr>
          <a:xfrm>
            <a:off x="1024200" y="1600200"/>
            <a:ext cx="496404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800" spc="-1" strike="noStrike">
                <a:solidFill>
                  <a:srgbClr val="006fb9"/>
                </a:solidFill>
                <a:latin typeface="Calibri"/>
                <a:ea typeface="DejaVu Sans"/>
              </a:rPr>
              <a:t>RQ1   </a:t>
            </a:r>
            <a:r>
              <a:rPr b="1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Do the metrics show a trajectory’s similarity to expert demonstrations?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68" name="TextBox 11"/>
          <p:cNvSpPr/>
          <p:nvPr/>
        </p:nvSpPr>
        <p:spPr>
          <a:xfrm>
            <a:off x="1024200" y="2295000"/>
            <a:ext cx="4708080" cy="69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Can a metric show (a) high similarity among same-task trajectories, and (b) low similarity among different-task trajectories? If not, it is disqualified.</a:t>
            </a:r>
            <a:endParaRPr b="0" lang="en-US" sz="1380" spc="-1" strike="noStrike">
              <a:latin typeface="Arial"/>
            </a:endParaRPr>
          </a:p>
        </p:txBody>
      </p:sp>
      <p:sp>
        <p:nvSpPr>
          <p:cNvPr id="169" name="Rectangle 12"/>
          <p:cNvSpPr/>
          <p:nvPr/>
        </p:nvSpPr>
        <p:spPr>
          <a:xfrm>
            <a:off x="6172200" y="1508760"/>
            <a:ext cx="5256720" cy="196488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Rectangle 13"/>
          <p:cNvSpPr/>
          <p:nvPr/>
        </p:nvSpPr>
        <p:spPr>
          <a:xfrm>
            <a:off x="6172200" y="1508760"/>
            <a:ext cx="108720" cy="1964880"/>
          </a:xfrm>
          <a:prstGeom prst="rect">
            <a:avLst/>
          </a:prstGeom>
          <a:solidFill>
            <a:srgbClr val="1b8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14"/>
          <p:cNvSpPr/>
          <p:nvPr/>
        </p:nvSpPr>
        <p:spPr>
          <a:xfrm>
            <a:off x="6464880" y="1710000"/>
            <a:ext cx="466236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800" spc="-1" strike="noStrike">
                <a:solidFill>
                  <a:srgbClr val="1b8a4a"/>
                </a:solidFill>
                <a:latin typeface="Calibri"/>
                <a:ea typeface="DejaVu Sans"/>
              </a:rPr>
              <a:t>RQ2   </a:t>
            </a:r>
            <a:r>
              <a:rPr b="1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Do they correlate with closed-loop success?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72" name="TextBox 15"/>
          <p:cNvSpPr/>
          <p:nvPr/>
        </p:nvSpPr>
        <p:spPr>
          <a:xfrm>
            <a:off x="6464880" y="2295000"/>
            <a:ext cx="470808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The central question — across 3 architectures and 2 data sizes, does the offline signal predict online success Q(k)?</a:t>
            </a:r>
            <a:endParaRPr b="0" lang="en-US" sz="1380" spc="-1" strike="noStrike">
              <a:latin typeface="Arial"/>
            </a:endParaRPr>
          </a:p>
        </p:txBody>
      </p:sp>
      <p:sp>
        <p:nvSpPr>
          <p:cNvPr id="173" name="Rectangle 16"/>
          <p:cNvSpPr/>
          <p:nvPr/>
        </p:nvSpPr>
        <p:spPr>
          <a:xfrm>
            <a:off x="731520" y="3730680"/>
            <a:ext cx="5256720" cy="196488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Rectangle 17"/>
          <p:cNvSpPr/>
          <p:nvPr/>
        </p:nvSpPr>
        <p:spPr>
          <a:xfrm>
            <a:off x="731520" y="3730680"/>
            <a:ext cx="108720" cy="1964880"/>
          </a:xfrm>
          <a:prstGeom prst="rect">
            <a:avLst/>
          </a:prstGeom>
          <a:solidFill>
            <a:srgbClr val="c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TextBox 18"/>
          <p:cNvSpPr/>
          <p:nvPr/>
        </p:nvSpPr>
        <p:spPr>
          <a:xfrm>
            <a:off x="1024200" y="3931920"/>
            <a:ext cx="466236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800" spc="-1" strike="noStrike">
                <a:solidFill>
                  <a:srgbClr val="c02a2a"/>
                </a:solidFill>
                <a:latin typeface="Calibri"/>
                <a:ea typeface="DejaVu Sans"/>
              </a:rPr>
              <a:t>RQ3   </a:t>
            </a:r>
            <a:r>
              <a:rPr b="1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Is metric-based early stopping effective?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76" name="TextBox 19"/>
          <p:cNvSpPr/>
          <p:nvPr/>
        </p:nvSpPr>
        <p:spPr>
          <a:xfrm>
            <a:off x="1024200" y="4517280"/>
            <a:ext cx="470808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Does the signal survive the hard, converged plateau — and can it catch genuine overtraining when it happens?</a:t>
            </a:r>
            <a:endParaRPr b="0" lang="en-US" sz="1380" spc="-1" strike="noStrike">
              <a:latin typeface="Arial"/>
            </a:endParaRPr>
          </a:p>
        </p:txBody>
      </p:sp>
      <p:sp>
        <p:nvSpPr>
          <p:cNvPr id="177" name="Rectangle 20"/>
          <p:cNvSpPr/>
          <p:nvPr/>
        </p:nvSpPr>
        <p:spPr>
          <a:xfrm>
            <a:off x="6172200" y="3730680"/>
            <a:ext cx="5256720" cy="196488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Rectangle 21"/>
          <p:cNvSpPr/>
          <p:nvPr/>
        </p:nvSpPr>
        <p:spPr>
          <a:xfrm>
            <a:off x="6172200" y="3730680"/>
            <a:ext cx="108720" cy="1964880"/>
          </a:xfrm>
          <a:prstGeom prst="rect">
            <a:avLst/>
          </a:prstGeom>
          <a:solidFill>
            <a:srgbClr val="6a3d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22"/>
          <p:cNvSpPr/>
          <p:nvPr/>
        </p:nvSpPr>
        <p:spPr>
          <a:xfrm>
            <a:off x="6464880" y="3931920"/>
            <a:ext cx="466236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800" spc="-1" strike="noStrike">
                <a:solidFill>
                  <a:srgbClr val="6a3d9a"/>
                </a:solidFill>
                <a:latin typeface="Calibri"/>
                <a:ea typeface="DejaVu Sans"/>
              </a:rPr>
              <a:t>RQ4   </a:t>
            </a:r>
            <a:r>
              <a:rPr b="1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Which differences are statistically real?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180" name="TextBox 23"/>
          <p:cNvSpPr/>
          <p:nvPr/>
        </p:nvSpPr>
        <p:spPr>
          <a:xfrm>
            <a:off x="6464880" y="4517280"/>
            <a:ext cx="470808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Which rankings survive bootstrap resampling rather than sampling noise?</a:t>
            </a:r>
            <a:endParaRPr b="0" lang="en-US" sz="13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2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EXPERIMENTAL SETUP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84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Three architectures, five LoRA runs, one benchmark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85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7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8" name="TextBox 8"/>
          <p:cNvSpPr/>
          <p:nvPr/>
        </p:nvSpPr>
        <p:spPr>
          <a:xfrm>
            <a:off x="731520" y="1417320"/>
            <a:ext cx="4936680" cy="44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1400"/>
              </a:spcAft>
              <a:buNone/>
            </a:pPr>
            <a:r>
              <a:rPr b="1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Experiment VLA Models</a:t>
            </a:r>
            <a:endParaRPr b="0" lang="en-US" sz="15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400"/>
              </a:spcAft>
              <a:buNone/>
            </a:pPr>
            <a:r>
              <a:rPr b="1" lang="en-US" sz="155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OpenVLA (7B) </a:t>
            </a:r>
            <a:r>
              <a:rPr b="0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— single-step action, discrete action space based on token. The likelihood is a genuine token NLL.</a:t>
            </a:r>
            <a:endParaRPr b="0" lang="en-US" sz="15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400"/>
              </a:spcAft>
              <a:buNone/>
            </a:pPr>
            <a:r>
              <a:rPr b="1" lang="en-US" sz="155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SmolVLA (450M) </a:t>
            </a:r>
            <a:r>
              <a:rPr b="0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— chunk action, continous action space based on flow-matching.</a:t>
            </a:r>
            <a:endParaRPr b="0" lang="en-US" sz="15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400"/>
              </a:spcAft>
              <a:buNone/>
            </a:pPr>
            <a:r>
              <a:rPr b="1" lang="en-US" sz="155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π₀.₅ (4B) </a:t>
            </a:r>
            <a:r>
              <a:rPr b="0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— </a:t>
            </a:r>
            <a:r>
              <a:rPr b="0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chunk action, continous action space based on flow-matching.</a:t>
            </a:r>
            <a:endParaRPr b="0" lang="en-US" sz="15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400"/>
              </a:spcAft>
              <a:buNone/>
            </a:pPr>
            <a:r>
              <a:rPr b="1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Benchmark: LIBERO-Goal </a:t>
            </a:r>
            <a:r>
              <a:rPr b="0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— 10 tasks, shared scene, varying instruction: the LIBERO suite with the most instruction-driven action diversity.</a:t>
            </a:r>
            <a:endParaRPr b="0" lang="en-US" sz="15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400"/>
              </a:spcAft>
              <a:buNone/>
            </a:pPr>
            <a:r>
              <a:rPr b="1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Ground truth Q(k) </a:t>
            </a:r>
            <a:r>
              <a:rPr b="0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— 100-episode simulated success, ±5% noise; sparse by design (11–33 evals per run).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189" name="Rectangle 9"/>
          <p:cNvSpPr/>
          <p:nvPr/>
        </p:nvSpPr>
        <p:spPr>
          <a:xfrm>
            <a:off x="5989320" y="1417320"/>
            <a:ext cx="5531040" cy="397656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TextBox 10"/>
          <p:cNvSpPr/>
          <p:nvPr/>
        </p:nvSpPr>
        <p:spPr>
          <a:xfrm>
            <a:off x="6217920" y="1554480"/>
            <a:ext cx="511956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The five fine-tuning runs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191" name="Rectangle 11"/>
          <p:cNvSpPr/>
          <p:nvPr/>
        </p:nvSpPr>
        <p:spPr>
          <a:xfrm>
            <a:off x="6217920" y="2011680"/>
            <a:ext cx="5073840" cy="45612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TextBox 12"/>
          <p:cNvSpPr/>
          <p:nvPr/>
        </p:nvSpPr>
        <p:spPr>
          <a:xfrm>
            <a:off x="6217920" y="2084760"/>
            <a:ext cx="21020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Run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93" name="TextBox 13"/>
          <p:cNvSpPr/>
          <p:nvPr/>
        </p:nvSpPr>
        <p:spPr>
          <a:xfrm>
            <a:off x="8321040" y="2084760"/>
            <a:ext cx="12790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Arch.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94" name="TextBox 14"/>
          <p:cNvSpPr/>
          <p:nvPr/>
        </p:nvSpPr>
        <p:spPr>
          <a:xfrm>
            <a:off x="9601200" y="2084760"/>
            <a:ext cx="913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Train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95" name="TextBox 15"/>
          <p:cNvSpPr/>
          <p:nvPr/>
        </p:nvSpPr>
        <p:spPr>
          <a:xfrm>
            <a:off x="10515600" y="2084760"/>
            <a:ext cx="913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Peak Q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96" name="TextBox 16"/>
          <p:cNvSpPr/>
          <p:nvPr/>
        </p:nvSpPr>
        <p:spPr>
          <a:xfrm>
            <a:off x="6217920" y="2541960"/>
            <a:ext cx="21020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SmolVLA-150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97" name="TextBox 17"/>
          <p:cNvSpPr/>
          <p:nvPr/>
        </p:nvSpPr>
        <p:spPr>
          <a:xfrm>
            <a:off x="8321040" y="2541960"/>
            <a:ext cx="12790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FM 450M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98" name="TextBox 18"/>
          <p:cNvSpPr/>
          <p:nvPr/>
        </p:nvSpPr>
        <p:spPr>
          <a:xfrm>
            <a:off x="9601200" y="2541960"/>
            <a:ext cx="913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150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99" name="TextBox 19"/>
          <p:cNvSpPr/>
          <p:nvPr/>
        </p:nvSpPr>
        <p:spPr>
          <a:xfrm>
            <a:off x="10515600" y="2541960"/>
            <a:ext cx="913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0.68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00" name="Rectangle 20"/>
          <p:cNvSpPr/>
          <p:nvPr/>
        </p:nvSpPr>
        <p:spPr>
          <a:xfrm>
            <a:off x="6217920" y="2926080"/>
            <a:ext cx="5073840" cy="456120"/>
          </a:xfrm>
          <a:prstGeom prst="rect">
            <a:avLst/>
          </a:prstGeom>
          <a:solidFill>
            <a:srgbClr val="f4f4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1" name="TextBox 21"/>
          <p:cNvSpPr/>
          <p:nvPr/>
        </p:nvSpPr>
        <p:spPr>
          <a:xfrm>
            <a:off x="6217920" y="2999160"/>
            <a:ext cx="21020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OpenVLA-150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02" name="TextBox 22"/>
          <p:cNvSpPr/>
          <p:nvPr/>
        </p:nvSpPr>
        <p:spPr>
          <a:xfrm>
            <a:off x="8321040" y="2999160"/>
            <a:ext cx="12790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tok 7B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03" name="TextBox 23"/>
          <p:cNvSpPr/>
          <p:nvPr/>
        </p:nvSpPr>
        <p:spPr>
          <a:xfrm>
            <a:off x="9601200" y="2999160"/>
            <a:ext cx="913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150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04" name="TextBox 24"/>
          <p:cNvSpPr/>
          <p:nvPr/>
        </p:nvSpPr>
        <p:spPr>
          <a:xfrm>
            <a:off x="10515600" y="2999160"/>
            <a:ext cx="913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0.83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05" name="TextBox 25"/>
          <p:cNvSpPr/>
          <p:nvPr/>
        </p:nvSpPr>
        <p:spPr>
          <a:xfrm>
            <a:off x="6217920" y="3456360"/>
            <a:ext cx="21020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OpenVLA-full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06" name="TextBox 26"/>
          <p:cNvSpPr/>
          <p:nvPr/>
        </p:nvSpPr>
        <p:spPr>
          <a:xfrm>
            <a:off x="8321040" y="3456360"/>
            <a:ext cx="12790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tok 7B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07" name="TextBox 27"/>
          <p:cNvSpPr/>
          <p:nvPr/>
        </p:nvSpPr>
        <p:spPr>
          <a:xfrm>
            <a:off x="9601200" y="3456360"/>
            <a:ext cx="913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342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08" name="TextBox 28"/>
          <p:cNvSpPr/>
          <p:nvPr/>
        </p:nvSpPr>
        <p:spPr>
          <a:xfrm>
            <a:off x="10515600" y="3456360"/>
            <a:ext cx="913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0.78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09" name="Rectangle 29"/>
          <p:cNvSpPr/>
          <p:nvPr/>
        </p:nvSpPr>
        <p:spPr>
          <a:xfrm>
            <a:off x="6217920" y="3840480"/>
            <a:ext cx="5073840" cy="456120"/>
          </a:xfrm>
          <a:prstGeom prst="rect">
            <a:avLst/>
          </a:prstGeom>
          <a:solidFill>
            <a:srgbClr val="f4f4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0" name="TextBox 30"/>
          <p:cNvSpPr/>
          <p:nvPr/>
        </p:nvSpPr>
        <p:spPr>
          <a:xfrm>
            <a:off x="6217920" y="3913560"/>
            <a:ext cx="21020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π₀.₅-full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11" name="TextBox 31"/>
          <p:cNvSpPr/>
          <p:nvPr/>
        </p:nvSpPr>
        <p:spPr>
          <a:xfrm>
            <a:off x="8321040" y="3913560"/>
            <a:ext cx="12790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FM 4B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12" name="TextBox 32"/>
          <p:cNvSpPr/>
          <p:nvPr/>
        </p:nvSpPr>
        <p:spPr>
          <a:xfrm>
            <a:off x="9601200" y="3913560"/>
            <a:ext cx="913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342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13" name="TextBox 33"/>
          <p:cNvSpPr/>
          <p:nvPr/>
        </p:nvSpPr>
        <p:spPr>
          <a:xfrm>
            <a:off x="10515600" y="3913560"/>
            <a:ext cx="913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0.18†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14" name="TextBox 34"/>
          <p:cNvSpPr/>
          <p:nvPr/>
        </p:nvSpPr>
        <p:spPr>
          <a:xfrm>
            <a:off x="6217920" y="4370760"/>
            <a:ext cx="21020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π₀.₅-150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15" name="TextBox 35"/>
          <p:cNvSpPr/>
          <p:nvPr/>
        </p:nvSpPr>
        <p:spPr>
          <a:xfrm>
            <a:off x="8321040" y="4370760"/>
            <a:ext cx="127908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FM 4B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16" name="TextBox 36"/>
          <p:cNvSpPr/>
          <p:nvPr/>
        </p:nvSpPr>
        <p:spPr>
          <a:xfrm>
            <a:off x="9601200" y="4370760"/>
            <a:ext cx="913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150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17" name="TextBox 37"/>
          <p:cNvSpPr/>
          <p:nvPr/>
        </p:nvSpPr>
        <p:spPr>
          <a:xfrm>
            <a:off x="10515600" y="4370760"/>
            <a:ext cx="9133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0.38†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18" name="TextBox 38"/>
          <p:cNvSpPr/>
          <p:nvPr/>
        </p:nvSpPr>
        <p:spPr>
          <a:xfrm>
            <a:off x="6217920" y="4956120"/>
            <a:ext cx="511956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1050" spc="-1" strike="noStrike">
                <a:solidFill>
                  <a:srgbClr val="8a8a8a"/>
                </a:solidFill>
                <a:latin typeface="Calibri"/>
                <a:ea typeface="DejaVu Sans"/>
              </a:rPr>
              <a:t>† </a:t>
            </a:r>
            <a:r>
              <a:rPr b="0" lang="en-US" sz="1050" spc="-1" strike="noStrike">
                <a:solidFill>
                  <a:srgbClr val="8a8a8a"/>
                </a:solidFill>
                <a:latin typeface="Calibri"/>
                <a:ea typeface="DejaVu Sans"/>
              </a:rPr>
              <a:t>π₀.₅ rows use different replan horizons — only relative metric ranking is meaningful.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RESULT · RQ1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22" name="TextBox 4"/>
          <p:cNvSpPr/>
          <p:nvPr/>
        </p:nvSpPr>
        <p:spPr>
          <a:xfrm>
            <a:off x="772200" y="403200"/>
            <a:ext cx="10605960" cy="4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Do the metrics carry task information? Yes.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23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4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8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5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26" name="Picture 8" descr="task_discriminative_validity_traj.png"/>
          <p:cNvPicPr/>
          <p:nvPr/>
        </p:nvPicPr>
        <p:blipFill>
          <a:blip r:embed="rId1"/>
          <a:stretch/>
        </p:blipFill>
        <p:spPr>
          <a:xfrm>
            <a:off x="640080" y="1325880"/>
            <a:ext cx="6719760" cy="3779280"/>
          </a:xfrm>
          <a:prstGeom prst="rect">
            <a:avLst/>
          </a:prstGeom>
          <a:ln w="0">
            <a:noFill/>
          </a:ln>
        </p:spPr>
      </p:pic>
      <p:sp>
        <p:nvSpPr>
          <p:cNvPr id="227" name="Rectangle 9"/>
          <p:cNvSpPr/>
          <p:nvPr/>
        </p:nvSpPr>
        <p:spPr>
          <a:xfrm>
            <a:off x="7635240" y="1463040"/>
            <a:ext cx="3976560" cy="434232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Rectangle 10"/>
          <p:cNvSpPr/>
          <p:nvPr/>
        </p:nvSpPr>
        <p:spPr>
          <a:xfrm>
            <a:off x="7635240" y="1463040"/>
            <a:ext cx="90360" cy="4342320"/>
          </a:xfrm>
          <a:prstGeom prst="rect">
            <a:avLst/>
          </a:prstGeom>
          <a:solidFill>
            <a:srgbClr val="006fb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9" name="TextBox 11"/>
          <p:cNvSpPr/>
          <p:nvPr/>
        </p:nvSpPr>
        <p:spPr>
          <a:xfrm>
            <a:off x="7863840" y="1645920"/>
            <a:ext cx="35650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400" spc="-1" strike="noStrike">
                <a:solidFill>
                  <a:srgbClr val="8a8a8a"/>
                </a:solidFill>
                <a:latin typeface="Calibri"/>
                <a:ea typeface="DejaVu Sans"/>
              </a:rPr>
              <a:t>Test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0" name="TextBox 12"/>
          <p:cNvSpPr/>
          <p:nvPr/>
        </p:nvSpPr>
        <p:spPr>
          <a:xfrm>
            <a:off x="7863840" y="1965960"/>
            <a:ext cx="3565080" cy="173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buNone/>
            </a:pPr>
            <a:r>
              <a:rPr b="0" lang="en-US" sz="1450" spc="-1" strike="noStrike">
                <a:solidFill>
                  <a:srgbClr val="1a1a1a"/>
                </a:solidFill>
                <a:latin typeface="Calibri"/>
                <a:ea typeface="DejaVu Sans"/>
              </a:rPr>
              <a:t>Same-task trajectories should score closer than different-task ones — measured by </a:t>
            </a:r>
            <a:endParaRPr b="0" lang="en-US" sz="1450" spc="-1" strike="noStrike">
              <a:latin typeface="Arial"/>
            </a:endParaRPr>
          </a:p>
          <a:p>
            <a:pPr>
              <a:lnSpc>
                <a:spcPct val="112000"/>
              </a:lnSpc>
              <a:buNone/>
            </a:pPr>
            <a:r>
              <a:rPr b="0" lang="en-US" sz="1450" spc="-1" strike="noStrike">
                <a:solidFill>
                  <a:srgbClr val="1a1a1a"/>
                </a:solidFill>
                <a:latin typeface="Calibri"/>
                <a:ea typeface="DejaVu Sans"/>
              </a:rPr>
              <a:t>(a) AUROC (0.5 = Random guessing, 1.0 = perfect separation) </a:t>
            </a:r>
            <a:endParaRPr b="0" lang="en-US" sz="1450" spc="-1" strike="noStrike">
              <a:latin typeface="Arial"/>
            </a:endParaRPr>
          </a:p>
          <a:p>
            <a:pPr>
              <a:lnSpc>
                <a:spcPct val="112000"/>
              </a:lnSpc>
              <a:buNone/>
            </a:pPr>
            <a:r>
              <a:rPr b="0" lang="en-US" sz="1450" spc="-1" strike="noStrike">
                <a:solidFill>
                  <a:srgbClr val="1a1a1a"/>
                </a:solidFill>
                <a:latin typeface="Calibri"/>
                <a:ea typeface="DejaVu Sans"/>
              </a:rPr>
              <a:t>(b) Cohen’s d (standardized difference between two means).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231" name="TextBox 13"/>
          <p:cNvSpPr/>
          <p:nvPr/>
        </p:nvSpPr>
        <p:spPr>
          <a:xfrm>
            <a:off x="7870680" y="3891600"/>
            <a:ext cx="3565080" cy="16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1100"/>
              </a:spcAft>
              <a:buNone/>
            </a:pPr>
            <a:endParaRPr b="0" lang="en-US" sz="138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100"/>
              </a:spcAft>
              <a:buNone/>
            </a:pPr>
            <a:r>
              <a:rPr b="1" lang="en-US" sz="138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Trajectory-level: </a:t>
            </a: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AUROC ≥ 0.90 for every metric.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100"/>
              </a:spcAft>
              <a:buNone/>
            </a:pPr>
            <a:r>
              <a:rPr b="1" lang="en-US" sz="138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Phase alignment, not averaging, </a:t>
            </a: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drives the gain (DTW average intra-distance 7.06 → 1.84).</a:t>
            </a:r>
            <a:endParaRPr b="0" lang="en-US" sz="1380" spc="-1" strike="noStrike">
              <a:latin typeface="Arial"/>
            </a:endParaRPr>
          </a:p>
        </p:txBody>
      </p:sp>
      <p:sp>
        <p:nvSpPr>
          <p:cNvPr id="232" name="TextBox 14"/>
          <p:cNvSpPr/>
          <p:nvPr/>
        </p:nvSpPr>
        <p:spPr>
          <a:xfrm>
            <a:off x="640080" y="6126480"/>
            <a:ext cx="676548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350" spc="-1" strike="noStrike">
                <a:solidFill>
                  <a:srgbClr val="1b8a4a"/>
                </a:solidFill>
                <a:latin typeface="Calibri"/>
                <a:ea typeface="DejaVu Sans"/>
              </a:rPr>
              <a:t>Verdict: all five metrics pass the precondition — none is disqualified.</a:t>
            </a:r>
            <a:endParaRPr b="0" lang="en-US" sz="1350" spc="-1" strike="noStrike">
              <a:latin typeface="Arial"/>
            </a:endParaRPr>
          </a:p>
        </p:txBody>
      </p:sp>
      <p:pic>
        <p:nvPicPr>
          <p:cNvPr id="233" name="" descr=""/>
          <p:cNvPicPr/>
          <p:nvPr/>
        </p:nvPicPr>
        <p:blipFill>
          <a:blip r:embed="rId2"/>
          <a:stretch/>
        </p:blipFill>
        <p:spPr>
          <a:xfrm>
            <a:off x="8309160" y="3705480"/>
            <a:ext cx="840600" cy="505800"/>
          </a:xfrm>
          <a:prstGeom prst="rect">
            <a:avLst/>
          </a:prstGeom>
          <a:ln w="0">
            <a:noFill/>
          </a:ln>
        </p:spPr>
      </p:pic>
      <p:pic>
        <p:nvPicPr>
          <p:cNvPr id="234" name="" descr=""/>
          <p:cNvPicPr/>
          <p:nvPr/>
        </p:nvPicPr>
        <p:blipFill>
          <a:blip r:embed="rId3"/>
          <a:stretch/>
        </p:blipFill>
        <p:spPr>
          <a:xfrm>
            <a:off x="9149760" y="3696840"/>
            <a:ext cx="2286000" cy="55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7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RESULT · RQ2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38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Per-run rankings: a family of comparable metrics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39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0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10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1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42" name="" descr=""/>
          <p:cNvPicPr/>
          <p:nvPr/>
        </p:nvPicPr>
        <p:blipFill>
          <a:blip r:embed="rId1"/>
          <a:stretch/>
        </p:blipFill>
        <p:spPr>
          <a:xfrm>
            <a:off x="4464000" y="1226880"/>
            <a:ext cx="3799080" cy="4560120"/>
          </a:xfrm>
          <a:prstGeom prst="rect">
            <a:avLst/>
          </a:prstGeom>
          <a:ln w="0">
            <a:noFill/>
          </a:ln>
        </p:spPr>
      </p:pic>
      <p:pic>
        <p:nvPicPr>
          <p:cNvPr id="243" name="" descr=""/>
          <p:cNvPicPr/>
          <p:nvPr/>
        </p:nvPicPr>
        <p:blipFill>
          <a:blip r:embed="rId2"/>
          <a:stretch/>
        </p:blipFill>
        <p:spPr>
          <a:xfrm>
            <a:off x="469800" y="1238400"/>
            <a:ext cx="3886200" cy="4535280"/>
          </a:xfrm>
          <a:prstGeom prst="rect">
            <a:avLst/>
          </a:prstGeom>
          <a:ln w="0">
            <a:noFill/>
          </a:ln>
        </p:spPr>
      </p:pic>
      <p:pic>
        <p:nvPicPr>
          <p:cNvPr id="244" name="" descr=""/>
          <p:cNvPicPr/>
          <p:nvPr/>
        </p:nvPicPr>
        <p:blipFill>
          <a:blip r:embed="rId3"/>
          <a:stretch/>
        </p:blipFill>
        <p:spPr>
          <a:xfrm>
            <a:off x="8386200" y="1216080"/>
            <a:ext cx="3657600" cy="5677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22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6" name="Rectangle 23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7" name="TextBox 42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RESULT · RQ2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48" name="TextBox 43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Per-run rankings: a family of comparable metrics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49" name="Rectangle 24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0" name="TextBox 44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10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51" name="TextBox 45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52" name="" descr=""/>
          <p:cNvPicPr/>
          <p:nvPr/>
        </p:nvPicPr>
        <p:blipFill>
          <a:blip r:embed="rId1"/>
          <a:stretch/>
        </p:blipFill>
        <p:spPr>
          <a:xfrm>
            <a:off x="4480920" y="1215000"/>
            <a:ext cx="3799080" cy="4572000"/>
          </a:xfrm>
          <a:prstGeom prst="rect">
            <a:avLst/>
          </a:prstGeom>
          <a:ln w="0">
            <a:noFill/>
          </a:ln>
        </p:spPr>
      </p:pic>
      <p:pic>
        <p:nvPicPr>
          <p:cNvPr id="253" name="" descr=""/>
          <p:cNvPicPr/>
          <p:nvPr/>
        </p:nvPicPr>
        <p:blipFill>
          <a:blip r:embed="rId2"/>
          <a:stretch/>
        </p:blipFill>
        <p:spPr>
          <a:xfrm>
            <a:off x="8369280" y="1227960"/>
            <a:ext cx="3644280" cy="566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26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5" name="Rectangle 27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6" name="TextBox 46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RESULT </a:t>
            </a: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· RQ2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57" name="TextBox 47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Per-run rankings: a family of comparable metrics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58" name="Rectangle 28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9" name="TextBox 48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10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0" name="TextBox 49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</a:t>
            </a: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Offline </a:t>
            </a: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Trajectory </a:t>
            </a: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Metrics for </a:t>
            </a: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Early </a:t>
            </a: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Stopping in </a:t>
            </a: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VLA Fine-</a:t>
            </a: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Tuning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61" name="" descr=""/>
          <p:cNvPicPr/>
          <p:nvPr/>
        </p:nvPicPr>
        <p:blipFill>
          <a:blip r:embed="rId1"/>
          <a:stretch/>
        </p:blipFill>
        <p:spPr>
          <a:xfrm>
            <a:off x="9571680" y="1204200"/>
            <a:ext cx="2741040" cy="5289840"/>
          </a:xfrm>
          <a:prstGeom prst="rect">
            <a:avLst/>
          </a:prstGeom>
          <a:ln w="0">
            <a:noFill/>
          </a:ln>
        </p:spPr>
      </p:pic>
      <p:pic>
        <p:nvPicPr>
          <p:cNvPr id="262" name="" descr=""/>
          <p:cNvPicPr/>
          <p:nvPr/>
        </p:nvPicPr>
        <p:blipFill>
          <a:blip r:embed="rId2"/>
          <a:srcRect l="0" t="0" r="4007" b="0"/>
          <a:stretch/>
        </p:blipFill>
        <p:spPr>
          <a:xfrm>
            <a:off x="7094520" y="1204200"/>
            <a:ext cx="2625120" cy="5277960"/>
          </a:xfrm>
          <a:prstGeom prst="rect">
            <a:avLst/>
          </a:prstGeom>
          <a:ln w="0">
            <a:noFill/>
          </a:ln>
        </p:spPr>
      </p:pic>
      <p:pic>
        <p:nvPicPr>
          <p:cNvPr id="263" name="" descr=""/>
          <p:cNvPicPr/>
          <p:nvPr/>
        </p:nvPicPr>
        <p:blipFill>
          <a:blip r:embed="rId3"/>
          <a:srcRect l="0" t="-1362" r="7968" b="0"/>
          <a:stretch/>
        </p:blipFill>
        <p:spPr>
          <a:xfrm>
            <a:off x="4869000" y="1132200"/>
            <a:ext cx="2387880" cy="4114800"/>
          </a:xfrm>
          <a:prstGeom prst="rect">
            <a:avLst/>
          </a:prstGeom>
          <a:ln w="0">
            <a:noFill/>
          </a:ln>
        </p:spPr>
      </p:pic>
      <p:pic>
        <p:nvPicPr>
          <p:cNvPr id="264" name="" descr=""/>
          <p:cNvPicPr/>
          <p:nvPr/>
        </p:nvPicPr>
        <p:blipFill>
          <a:blip r:embed="rId4"/>
          <a:srcRect l="7104" t="0" r="9076" b="6682"/>
          <a:stretch/>
        </p:blipFill>
        <p:spPr>
          <a:xfrm>
            <a:off x="2729520" y="1204200"/>
            <a:ext cx="2257920" cy="3850200"/>
          </a:xfrm>
          <a:prstGeom prst="rect">
            <a:avLst/>
          </a:prstGeom>
          <a:ln w="0">
            <a:noFill/>
          </a:ln>
        </p:spPr>
      </p:pic>
      <p:pic>
        <p:nvPicPr>
          <p:cNvPr id="265" name="" descr=""/>
          <p:cNvPicPr/>
          <p:nvPr/>
        </p:nvPicPr>
        <p:blipFill>
          <a:blip r:embed="rId5"/>
          <a:srcRect l="0" t="0" r="3572" b="0"/>
          <a:stretch/>
        </p:blipFill>
        <p:spPr>
          <a:xfrm>
            <a:off x="142920" y="1204200"/>
            <a:ext cx="2562120" cy="408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7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8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RESULT · </a:t>
            </a: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RQ2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69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Trajectory metrics track success across all five runs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70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9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72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</a:t>
            </a: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Trajectory Metrics for </a:t>
            </a: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Early Stopping in VLA </a:t>
            </a: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Fine-Tuning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73" name="Picture 8" descr="crossmodel_early_stopping_shared5.png"/>
          <p:cNvPicPr/>
          <p:nvPr/>
        </p:nvPicPr>
        <p:blipFill>
          <a:blip r:embed="rId1"/>
          <a:stretch/>
        </p:blipFill>
        <p:spPr>
          <a:xfrm>
            <a:off x="2085480" y="1325880"/>
            <a:ext cx="7989480" cy="3245040"/>
          </a:xfrm>
          <a:prstGeom prst="rect">
            <a:avLst/>
          </a:prstGeom>
          <a:ln w="0">
            <a:noFill/>
          </a:ln>
        </p:spPr>
      </p:pic>
      <p:sp>
        <p:nvSpPr>
          <p:cNvPr id="274" name="Rectangle 9"/>
          <p:cNvSpPr/>
          <p:nvPr/>
        </p:nvSpPr>
        <p:spPr>
          <a:xfrm>
            <a:off x="731520" y="4800600"/>
            <a:ext cx="10698480" cy="160020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5" name="Rectangle 10"/>
          <p:cNvSpPr/>
          <p:nvPr/>
        </p:nvSpPr>
        <p:spPr>
          <a:xfrm>
            <a:off x="731520" y="4800600"/>
            <a:ext cx="90360" cy="1416240"/>
          </a:xfrm>
          <a:prstGeom prst="rect">
            <a:avLst/>
          </a:prstGeom>
          <a:solidFill>
            <a:srgbClr val="1b8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6" name="TextBox 11"/>
          <p:cNvSpPr/>
          <p:nvPr/>
        </p:nvSpPr>
        <p:spPr>
          <a:xfrm>
            <a:off x="960120" y="4956120"/>
            <a:ext cx="10469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spcAft>
                <a:spcPts val="799"/>
              </a:spcAft>
              <a:buNone/>
            </a:pPr>
            <a:r>
              <a:rPr b="1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DTW is positive in all five runs — </a:t>
            </a:r>
            <a:r>
              <a:rPr b="0" i="1" lang="en-US" sz="1650" spc="-1" strike="noStrike">
                <a:solidFill>
                  <a:srgbClr val="006fb9"/>
                </a:solidFill>
                <a:latin typeface="Calibri"/>
                <a:ea typeface="DejaVu Sans"/>
              </a:rPr>
              <a:t>ρ = 0.47 / 0.75 / 0.85 / 0.90 / 0.72</a:t>
            </a:r>
            <a:r>
              <a:rPr b="1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 — and its selection regret never exceeds 0.17.</a:t>
            </a:r>
            <a:endParaRPr b="0" lang="en-US" sz="1650" spc="-1" strike="noStrike">
              <a:latin typeface="Arial"/>
            </a:endParaRPr>
          </a:p>
          <a:p>
            <a:pPr>
              <a:lnSpc>
                <a:spcPct val="112000"/>
              </a:lnSpc>
              <a:spcAft>
                <a:spcPts val="799"/>
              </a:spcAft>
              <a:buNone/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DejaVu Sans"/>
              </a:rPr>
              <a:t>Trajectory (DTW/OT/cosine) and regression (L1/L2) metrics are positive across both architecture families (discrete-token and flow-matching) and both data sizes. The likelihood / flow-matching loss failed to match Q(k) all the time.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4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8" name="Rectangle 6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9" name="TextBox 1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RESULT · RQ2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0" name="TextBox 2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Per-</a:t>
            </a: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run </a:t>
            </a: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rank</a:t>
            </a: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ings</a:t>
            </a: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: a </a:t>
            </a: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fami</a:t>
            </a: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ly of </a:t>
            </a: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com</a:t>
            </a: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para</a:t>
            </a: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ble </a:t>
            </a: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met</a:t>
            </a: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rics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81" name="Rectangle 7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2" name="TextBox 39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10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3" name="TextBox 40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84" name="TextBox 41"/>
          <p:cNvSpPr/>
          <p:nvPr/>
        </p:nvSpPr>
        <p:spPr>
          <a:xfrm>
            <a:off x="1407240" y="5749560"/>
            <a:ext cx="10788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buNone/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(1) for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OpenVLA, DTW,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Cosine and L₂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earlier step with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similar regrets. 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12000"/>
              </a:lnSpc>
              <a:buNone/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(2) the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Flow-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matching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surrogate drops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sharply runs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while NLL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staying strong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on discrete-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token.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285" name="" descr=""/>
          <p:cNvPicPr/>
          <p:nvPr/>
        </p:nvPicPr>
        <p:blipFill>
          <a:blip r:embed="rId1"/>
          <a:stretch/>
        </p:blipFill>
        <p:spPr>
          <a:xfrm>
            <a:off x="3690000" y="1152720"/>
            <a:ext cx="2533680" cy="2276280"/>
          </a:xfrm>
          <a:prstGeom prst="rect">
            <a:avLst/>
          </a:prstGeom>
          <a:ln w="0">
            <a:noFill/>
          </a:ln>
        </p:spPr>
      </p:pic>
      <p:pic>
        <p:nvPicPr>
          <p:cNvPr id="286" name="" descr=""/>
          <p:cNvPicPr/>
          <p:nvPr/>
        </p:nvPicPr>
        <p:blipFill>
          <a:blip r:embed="rId2"/>
          <a:stretch/>
        </p:blipFill>
        <p:spPr>
          <a:xfrm>
            <a:off x="6512760" y="1179000"/>
            <a:ext cx="2544480" cy="2286000"/>
          </a:xfrm>
          <a:prstGeom prst="rect">
            <a:avLst/>
          </a:prstGeom>
          <a:ln w="0">
            <a:noFill/>
          </a:ln>
        </p:spPr>
      </p:pic>
      <p:pic>
        <p:nvPicPr>
          <p:cNvPr id="287" name="" descr=""/>
          <p:cNvPicPr/>
          <p:nvPr/>
        </p:nvPicPr>
        <p:blipFill>
          <a:blip r:embed="rId3"/>
          <a:stretch/>
        </p:blipFill>
        <p:spPr>
          <a:xfrm>
            <a:off x="5051160" y="3534120"/>
            <a:ext cx="2612520" cy="1913400"/>
          </a:xfrm>
          <a:prstGeom prst="rect">
            <a:avLst/>
          </a:prstGeom>
          <a:ln w="0">
            <a:noFill/>
          </a:ln>
        </p:spPr>
      </p:pic>
      <p:pic>
        <p:nvPicPr>
          <p:cNvPr id="288" name="" descr=""/>
          <p:cNvPicPr/>
          <p:nvPr/>
        </p:nvPicPr>
        <p:blipFill>
          <a:blip r:embed="rId4"/>
          <a:stretch/>
        </p:blipFill>
        <p:spPr>
          <a:xfrm>
            <a:off x="7860600" y="3493080"/>
            <a:ext cx="2606400" cy="1908720"/>
          </a:xfrm>
          <a:prstGeom prst="rect">
            <a:avLst/>
          </a:prstGeom>
          <a:ln w="0">
            <a:noFill/>
          </a:ln>
        </p:spPr>
      </p:pic>
      <p:pic>
        <p:nvPicPr>
          <p:cNvPr id="289" name="" descr=""/>
          <p:cNvPicPr/>
          <p:nvPr/>
        </p:nvPicPr>
        <p:blipFill>
          <a:blip r:embed="rId5"/>
          <a:stretch/>
        </p:blipFill>
        <p:spPr>
          <a:xfrm>
            <a:off x="2262600" y="3537000"/>
            <a:ext cx="2608560" cy="191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1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2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RESULT · RQ3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93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Effective for the coarse decision; harder on the plateau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94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5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11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96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97" name="Picture 8" descr="plateau_restriction.png"/>
          <p:cNvPicPr/>
          <p:nvPr/>
        </p:nvPicPr>
        <p:blipFill>
          <a:blip r:embed="rId1"/>
          <a:stretch/>
        </p:blipFill>
        <p:spPr>
          <a:xfrm>
            <a:off x="640080" y="1371600"/>
            <a:ext cx="6582600" cy="2531160"/>
          </a:xfrm>
          <a:prstGeom prst="rect">
            <a:avLst/>
          </a:prstGeom>
          <a:ln w="0">
            <a:noFill/>
          </a:ln>
        </p:spPr>
      </p:pic>
      <p:sp>
        <p:nvSpPr>
          <p:cNvPr id="298" name="Rectangle 9"/>
          <p:cNvSpPr/>
          <p:nvPr/>
        </p:nvSpPr>
        <p:spPr>
          <a:xfrm>
            <a:off x="7452360" y="1417320"/>
            <a:ext cx="4113720" cy="319932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9" name="TextBox 10"/>
          <p:cNvSpPr/>
          <p:nvPr/>
        </p:nvSpPr>
        <p:spPr>
          <a:xfrm>
            <a:off x="7680960" y="1572840"/>
            <a:ext cx="370224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Full range  vs.  converged plateau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00" name="Rectangle 11"/>
          <p:cNvSpPr/>
          <p:nvPr/>
        </p:nvSpPr>
        <p:spPr>
          <a:xfrm>
            <a:off x="7635240" y="2057400"/>
            <a:ext cx="3747960" cy="364680"/>
          </a:xfrm>
          <a:prstGeom prst="rect">
            <a:avLst/>
          </a:prstGeom>
          <a:solidFill>
            <a:srgbClr val="1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1" name="TextBox 12"/>
          <p:cNvSpPr/>
          <p:nvPr/>
        </p:nvSpPr>
        <p:spPr>
          <a:xfrm>
            <a:off x="7772400" y="2084760"/>
            <a:ext cx="18277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Run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02" name="TextBox 13"/>
          <p:cNvSpPr/>
          <p:nvPr/>
        </p:nvSpPr>
        <p:spPr>
          <a:xfrm>
            <a:off x="9509760" y="2084760"/>
            <a:ext cx="8676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ρ full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03" name="TextBox 14"/>
          <p:cNvSpPr/>
          <p:nvPr/>
        </p:nvSpPr>
        <p:spPr>
          <a:xfrm>
            <a:off x="10424160" y="2084760"/>
            <a:ext cx="8676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ρ plat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04" name="TextBox 15"/>
          <p:cNvSpPr/>
          <p:nvPr/>
        </p:nvSpPr>
        <p:spPr>
          <a:xfrm>
            <a:off x="7772400" y="2468880"/>
            <a:ext cx="18277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SmolVLA-150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05" name="TextBox 16"/>
          <p:cNvSpPr/>
          <p:nvPr/>
        </p:nvSpPr>
        <p:spPr>
          <a:xfrm>
            <a:off x="9509760" y="2468880"/>
            <a:ext cx="8676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+0.47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06" name="TextBox 17"/>
          <p:cNvSpPr/>
          <p:nvPr/>
        </p:nvSpPr>
        <p:spPr>
          <a:xfrm>
            <a:off x="10424160" y="2468880"/>
            <a:ext cx="8676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+0.38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07" name="Rectangle 18"/>
          <p:cNvSpPr/>
          <p:nvPr/>
        </p:nvSpPr>
        <p:spPr>
          <a:xfrm>
            <a:off x="7635240" y="2825640"/>
            <a:ext cx="3747960" cy="364680"/>
          </a:xfrm>
          <a:prstGeom prst="rect">
            <a:avLst/>
          </a:prstGeom>
          <a:solidFill>
            <a:srgbClr val="f4f4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8" name="TextBox 19"/>
          <p:cNvSpPr/>
          <p:nvPr/>
        </p:nvSpPr>
        <p:spPr>
          <a:xfrm>
            <a:off x="7772400" y="2853000"/>
            <a:ext cx="18277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OpenVLA-150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09" name="TextBox 20"/>
          <p:cNvSpPr/>
          <p:nvPr/>
        </p:nvSpPr>
        <p:spPr>
          <a:xfrm>
            <a:off x="9509760" y="2853000"/>
            <a:ext cx="8676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+0.75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10" name="TextBox 21"/>
          <p:cNvSpPr/>
          <p:nvPr/>
        </p:nvSpPr>
        <p:spPr>
          <a:xfrm>
            <a:off x="10424160" y="2853000"/>
            <a:ext cx="8676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+0.59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11" name="TextBox 22"/>
          <p:cNvSpPr/>
          <p:nvPr/>
        </p:nvSpPr>
        <p:spPr>
          <a:xfrm>
            <a:off x="7772400" y="3237120"/>
            <a:ext cx="18277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OpenVLA-full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12" name="TextBox 23"/>
          <p:cNvSpPr/>
          <p:nvPr/>
        </p:nvSpPr>
        <p:spPr>
          <a:xfrm>
            <a:off x="9509760" y="3237120"/>
            <a:ext cx="8676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+0.86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13" name="TextBox 24"/>
          <p:cNvSpPr/>
          <p:nvPr/>
        </p:nvSpPr>
        <p:spPr>
          <a:xfrm>
            <a:off x="10424160" y="3237120"/>
            <a:ext cx="8676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+0.73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14" name="Rectangle 25"/>
          <p:cNvSpPr/>
          <p:nvPr/>
        </p:nvSpPr>
        <p:spPr>
          <a:xfrm>
            <a:off x="7635240" y="3593520"/>
            <a:ext cx="3747960" cy="364680"/>
          </a:xfrm>
          <a:prstGeom prst="rect">
            <a:avLst/>
          </a:prstGeom>
          <a:solidFill>
            <a:srgbClr val="f4f4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5" name="TextBox 26"/>
          <p:cNvSpPr/>
          <p:nvPr/>
        </p:nvSpPr>
        <p:spPr>
          <a:xfrm>
            <a:off x="7772400" y="3620880"/>
            <a:ext cx="18277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π₀.₅-full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16" name="TextBox 27"/>
          <p:cNvSpPr/>
          <p:nvPr/>
        </p:nvSpPr>
        <p:spPr>
          <a:xfrm>
            <a:off x="9509760" y="3620880"/>
            <a:ext cx="8676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+0.91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17" name="TextBox 28"/>
          <p:cNvSpPr/>
          <p:nvPr/>
        </p:nvSpPr>
        <p:spPr>
          <a:xfrm>
            <a:off x="10424160" y="3620880"/>
            <a:ext cx="8676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1a1a1a"/>
                </a:solidFill>
                <a:latin typeface="Calibri"/>
                <a:ea typeface="DejaVu Sans"/>
              </a:rPr>
              <a:t>+0.80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18" name="Rectangle 29"/>
          <p:cNvSpPr/>
          <p:nvPr/>
        </p:nvSpPr>
        <p:spPr>
          <a:xfrm>
            <a:off x="7635240" y="3977640"/>
            <a:ext cx="3747960" cy="364680"/>
          </a:xfrm>
          <a:prstGeom prst="rect">
            <a:avLst/>
          </a:prstGeom>
          <a:solidFill>
            <a:srgbClr val="ffe3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9" name="TextBox 30"/>
          <p:cNvSpPr/>
          <p:nvPr/>
        </p:nvSpPr>
        <p:spPr>
          <a:xfrm>
            <a:off x="7772400" y="4005000"/>
            <a:ext cx="182772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c02a2a"/>
                </a:solidFill>
                <a:latin typeface="Calibri"/>
                <a:ea typeface="DejaVu Sans"/>
              </a:rPr>
              <a:t>π₀.₅-150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20" name="TextBox 31"/>
          <p:cNvSpPr/>
          <p:nvPr/>
        </p:nvSpPr>
        <p:spPr>
          <a:xfrm>
            <a:off x="9509760" y="4005000"/>
            <a:ext cx="8676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0" lang="en-US" sz="1250" spc="-1" strike="noStrike">
                <a:solidFill>
                  <a:srgbClr val="c02a2a"/>
                </a:solidFill>
                <a:latin typeface="Calibri"/>
                <a:ea typeface="DejaVu Sans"/>
              </a:rPr>
              <a:t>+0.72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21" name="TextBox 32"/>
          <p:cNvSpPr/>
          <p:nvPr/>
        </p:nvSpPr>
        <p:spPr>
          <a:xfrm>
            <a:off x="10424160" y="4005000"/>
            <a:ext cx="86760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c02a2a"/>
                </a:solidFill>
                <a:latin typeface="Calibri"/>
                <a:ea typeface="DejaVu Sans"/>
              </a:rPr>
              <a:t>+0.43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22" name="TextBox 33"/>
          <p:cNvSpPr/>
          <p:nvPr/>
        </p:nvSpPr>
        <p:spPr>
          <a:xfrm>
            <a:off x="731520" y="4709160"/>
            <a:ext cx="10788840" cy="11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901"/>
              </a:spcAft>
              <a:buNone/>
            </a:pPr>
            <a:r>
              <a:rPr b="1" lang="en-US" sz="140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Coarse decision is robust: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“do not stop before the knee” holds at ρ ≈ 0.7–0.9 over the full descent in all five runs.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901"/>
              </a:spcAft>
              <a:buNone/>
            </a:pPr>
            <a:r>
              <a:rPr b="1" lang="en-US" sz="140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Fine-ranking the plateau is harder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but stays usable (ρ ≥ 0.59) for four of the five runs.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901"/>
              </a:spcAft>
              <a:buNone/>
            </a:pPr>
            <a:r>
              <a:rPr b="1" lang="en-US" sz="140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π₀.₅-150 is the exception, and it appears to be an artifact: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the apparent 31%→23% dip recovers to 38% once training is extended — consistent with a noisy low ceiling rather than genuine overtraining.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4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5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RESULT · RQ3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26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The overtraining we aimed to induce did not appear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327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8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12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29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30" name="Picture 8" descr="success_vs_val_metrics_timeseries_pi_150.png"/>
          <p:cNvPicPr/>
          <p:nvPr/>
        </p:nvPicPr>
        <p:blipFill>
          <a:blip r:embed="rId1"/>
          <a:stretch/>
        </p:blipFill>
        <p:spPr>
          <a:xfrm>
            <a:off x="1148760" y="1280160"/>
            <a:ext cx="3096360" cy="4845240"/>
          </a:xfrm>
          <a:prstGeom prst="rect">
            <a:avLst/>
          </a:prstGeom>
          <a:ln w="0">
            <a:noFill/>
          </a:ln>
        </p:spPr>
      </p:pic>
      <p:sp>
        <p:nvSpPr>
          <p:cNvPr id="331" name="TextBox 9"/>
          <p:cNvSpPr/>
          <p:nvPr/>
        </p:nvSpPr>
        <p:spPr>
          <a:xfrm>
            <a:off x="5029200" y="1463040"/>
            <a:ext cx="64911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900" spc="-1" strike="noStrike">
                <a:solidFill>
                  <a:srgbClr val="1a1a1a"/>
                </a:solidFill>
                <a:latin typeface="Calibri"/>
                <a:ea typeface="DejaVu Sans"/>
              </a:rPr>
              <a:t>Three runs were designed to overtrain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332" name="TextBox 10"/>
          <p:cNvSpPr/>
          <p:nvPr/>
        </p:nvSpPr>
        <p:spPr>
          <a:xfrm>
            <a:off x="5029200" y="2148840"/>
            <a:ext cx="6491160" cy="18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1301"/>
              </a:spcAft>
              <a:buNone/>
            </a:pPr>
            <a:r>
              <a:rPr b="1" lang="en-US" sz="155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SmolVLA-150 &amp; OpenVLA-150 </a:t>
            </a:r>
            <a:r>
              <a:rPr b="0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— small data, pushed well past convergence.</a:t>
            </a:r>
            <a:endParaRPr b="0" lang="en-US" sz="15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301"/>
              </a:spcAft>
              <a:buNone/>
            </a:pPr>
            <a:r>
              <a:rPr b="1" lang="en-US" sz="155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π₀.₅-150 </a:t>
            </a:r>
            <a:r>
              <a:rPr b="0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— aggressive LR (6×), a non-decaying schedule, 40k steps.</a:t>
            </a:r>
            <a:endParaRPr b="0" lang="en-US" sz="15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301"/>
              </a:spcAft>
              <a:buNone/>
            </a:pPr>
            <a:r>
              <a:rPr b="1" lang="en-US" sz="155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Outcome: </a:t>
            </a:r>
            <a:r>
              <a:rPr b="0" lang="en-US" sz="1550" spc="-1" strike="noStrike">
                <a:solidFill>
                  <a:srgbClr val="1a1a1a"/>
                </a:solidFill>
                <a:latin typeface="Calibri"/>
                <a:ea typeface="DejaVu Sans"/>
              </a:rPr>
              <a:t>every run settled into a noisy plateau in both the offline metrics and Q(k) — no monotone late decline.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333" name="Rectangle 11"/>
          <p:cNvSpPr/>
          <p:nvPr/>
        </p:nvSpPr>
        <p:spPr>
          <a:xfrm>
            <a:off x="5029200" y="4892040"/>
            <a:ext cx="6491160" cy="123336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4" name="Rectangle 12"/>
          <p:cNvSpPr/>
          <p:nvPr/>
        </p:nvSpPr>
        <p:spPr>
          <a:xfrm>
            <a:off x="5029200" y="4892040"/>
            <a:ext cx="90360" cy="1233360"/>
          </a:xfrm>
          <a:prstGeom prst="rect">
            <a:avLst/>
          </a:prstGeom>
          <a:solidFill>
            <a:srgbClr val="c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5" name="TextBox 13"/>
          <p:cNvSpPr/>
          <p:nvPr/>
        </p:nvSpPr>
        <p:spPr>
          <a:xfrm>
            <a:off x="5257800" y="5029200"/>
            <a:ext cx="6125400" cy="10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2000"/>
              </a:lnSpc>
              <a:buNone/>
            </a:pPr>
            <a:r>
              <a:rPr b="1" lang="en-US" sz="1550" spc="-1" strike="noStrike">
                <a:solidFill>
                  <a:srgbClr val="c02a2a"/>
                </a:solidFill>
                <a:latin typeface="Calibri"/>
                <a:ea typeface="DejaVu Sans"/>
              </a:rPr>
              <a:t>Honest limitation. </a:t>
            </a: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Because no run genuinely overtrained, I cannot show the metrics catching a real decline — only that they reliably track the rise and plateau. Proving the preventive value of early stopping needs a run that actually degrades.</a:t>
            </a:r>
            <a:endParaRPr b="0" lang="en-US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7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8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RESULT · RQ4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39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How much of the ranking is real? Power is the limit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340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1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13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2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43" name="Picture 8" descr="crossmodel_bootstrap_ci.png"/>
          <p:cNvPicPr/>
          <p:nvPr/>
        </p:nvPicPr>
        <p:blipFill>
          <a:blip r:embed="rId1"/>
          <a:stretch/>
        </p:blipFill>
        <p:spPr>
          <a:xfrm>
            <a:off x="2025720" y="1280160"/>
            <a:ext cx="8109360" cy="2330640"/>
          </a:xfrm>
          <a:prstGeom prst="rect">
            <a:avLst/>
          </a:prstGeom>
          <a:ln w="0">
            <a:noFill/>
          </a:ln>
        </p:spPr>
      </p:pic>
      <p:sp>
        <p:nvSpPr>
          <p:cNvPr id="344" name="Rectangle 9"/>
          <p:cNvSpPr/>
          <p:nvPr/>
        </p:nvSpPr>
        <p:spPr>
          <a:xfrm>
            <a:off x="731520" y="3840480"/>
            <a:ext cx="5302440" cy="228492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5" name="Rectangle 10"/>
          <p:cNvSpPr/>
          <p:nvPr/>
        </p:nvSpPr>
        <p:spPr>
          <a:xfrm>
            <a:off x="731520" y="3840480"/>
            <a:ext cx="90360" cy="2284920"/>
          </a:xfrm>
          <a:prstGeom prst="rect">
            <a:avLst/>
          </a:prstGeom>
          <a:solidFill>
            <a:srgbClr val="1b8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6" name="TextBox 11"/>
          <p:cNvSpPr/>
          <p:nvPr/>
        </p:nvSpPr>
        <p:spPr>
          <a:xfrm>
            <a:off x="987480" y="4005000"/>
            <a:ext cx="475380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550" spc="-1" strike="noStrike">
                <a:solidFill>
                  <a:srgbClr val="1b8a4a"/>
                </a:solidFill>
                <a:latin typeface="Calibri"/>
                <a:ea typeface="DejaVu Sans"/>
              </a:rPr>
              <a:t>What is statistically resolved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347" name="TextBox 12"/>
          <p:cNvSpPr/>
          <p:nvPr/>
        </p:nvSpPr>
        <p:spPr>
          <a:xfrm>
            <a:off x="987480" y="4480560"/>
            <a:ext cx="4845240" cy="12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1001"/>
              </a:spcAft>
              <a:buNone/>
            </a:pPr>
            <a:r>
              <a:rPr b="1" lang="en-US" sz="138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Architecture split of NLL </a:t>
            </a: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— significant: the true token likelihood tracks success, the FM surrogate does not.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001"/>
              </a:spcAft>
              <a:buNone/>
            </a:pPr>
            <a:r>
              <a:rPr b="1" lang="en-US" sz="138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π₀.₅-full (n=33) </a:t>
            </a: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— well-powered; DTW’s CI spans &lt; 0.20.</a:t>
            </a:r>
            <a:endParaRPr b="0" lang="en-US" sz="1380" spc="-1" strike="noStrike">
              <a:latin typeface="Arial"/>
            </a:endParaRPr>
          </a:p>
        </p:txBody>
      </p:sp>
      <p:sp>
        <p:nvSpPr>
          <p:cNvPr id="348" name="Rectangle 13"/>
          <p:cNvSpPr/>
          <p:nvPr/>
        </p:nvSpPr>
        <p:spPr>
          <a:xfrm>
            <a:off x="6172200" y="3840480"/>
            <a:ext cx="5302440" cy="228492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9" name="Rectangle 14"/>
          <p:cNvSpPr/>
          <p:nvPr/>
        </p:nvSpPr>
        <p:spPr>
          <a:xfrm>
            <a:off x="6172200" y="3840480"/>
            <a:ext cx="90360" cy="2284920"/>
          </a:xfrm>
          <a:prstGeom prst="rect">
            <a:avLst/>
          </a:prstGeom>
          <a:solidFill>
            <a:srgbClr val="c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0" name="TextBox 15"/>
          <p:cNvSpPr/>
          <p:nvPr/>
        </p:nvSpPr>
        <p:spPr>
          <a:xfrm>
            <a:off x="6428160" y="4005000"/>
            <a:ext cx="475380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550" spc="-1" strike="noStrike">
                <a:solidFill>
                  <a:srgbClr val="c02a2a"/>
                </a:solidFill>
                <a:latin typeface="Calibri"/>
                <a:ea typeface="DejaVu Sans"/>
              </a:rPr>
              <a:t>What is NOT resolved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351" name="TextBox 16"/>
          <p:cNvSpPr/>
          <p:nvPr/>
        </p:nvSpPr>
        <p:spPr>
          <a:xfrm>
            <a:off x="6428160" y="4480560"/>
            <a:ext cx="4845240" cy="10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1001"/>
              </a:spcAft>
              <a:buNone/>
            </a:pPr>
            <a:r>
              <a:rPr b="1" lang="en-US" sz="138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DTW vs. L1/L2/OT/cosine </a:t>
            </a: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— intervals overlap; on OpenVLA-full DTW ≡ L₂ exactly.</a:t>
            </a:r>
            <a:endParaRPr b="0" lang="en-US" sz="138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001"/>
              </a:spcAft>
              <a:buNone/>
            </a:pPr>
            <a:r>
              <a:rPr b="1" lang="en-US" sz="138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SmolVLA-150 (n=18) </a:t>
            </a:r>
            <a:r>
              <a:rPr b="0" lang="en-US" sz="1380" spc="-1" strike="noStrike">
                <a:solidFill>
                  <a:srgbClr val="555555"/>
                </a:solidFill>
                <a:latin typeface="Calibri"/>
                <a:ea typeface="DejaVu Sans"/>
              </a:rPr>
              <a:t>— no metric clears zero at 95%: too few, too converged.</a:t>
            </a:r>
            <a:endParaRPr b="0" lang="en-US" sz="13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3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4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SYNTHESIS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55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The four questions, answered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356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7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14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58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9" name="Rectangle 8"/>
          <p:cNvSpPr/>
          <p:nvPr/>
        </p:nvSpPr>
        <p:spPr>
          <a:xfrm>
            <a:off x="731520" y="1463040"/>
            <a:ext cx="10743120" cy="105048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0" name="Rectangle 9"/>
          <p:cNvSpPr/>
          <p:nvPr/>
        </p:nvSpPr>
        <p:spPr>
          <a:xfrm>
            <a:off x="731520" y="1463040"/>
            <a:ext cx="1279080" cy="1050480"/>
          </a:xfrm>
          <a:prstGeom prst="rect">
            <a:avLst/>
          </a:prstGeom>
          <a:solidFill>
            <a:srgbClr val="1b8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1" name="TextBox 10"/>
          <p:cNvSpPr/>
          <p:nvPr/>
        </p:nvSpPr>
        <p:spPr>
          <a:xfrm>
            <a:off x="731520" y="1755720"/>
            <a:ext cx="127908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RQ1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2" name="TextBox 11"/>
          <p:cNvSpPr/>
          <p:nvPr/>
        </p:nvSpPr>
        <p:spPr>
          <a:xfrm>
            <a:off x="2240280" y="1921320"/>
            <a:ext cx="9051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buNone/>
            </a:pPr>
            <a:r>
              <a:rPr b="0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Yes — every metric is task-discriminative (AUROC ≥ 0.90) at the trajectory level.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363" name="Rectangle 12"/>
          <p:cNvSpPr/>
          <p:nvPr/>
        </p:nvSpPr>
        <p:spPr>
          <a:xfrm>
            <a:off x="731520" y="2642760"/>
            <a:ext cx="10743120" cy="105048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4" name="Rectangle 13"/>
          <p:cNvSpPr/>
          <p:nvPr/>
        </p:nvSpPr>
        <p:spPr>
          <a:xfrm>
            <a:off x="731520" y="2642760"/>
            <a:ext cx="1279080" cy="1050480"/>
          </a:xfrm>
          <a:prstGeom prst="rect">
            <a:avLst/>
          </a:prstGeom>
          <a:solidFill>
            <a:srgbClr val="1b8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5" name="TextBox 14"/>
          <p:cNvSpPr/>
          <p:nvPr/>
        </p:nvSpPr>
        <p:spPr>
          <a:xfrm>
            <a:off x="731520" y="2935080"/>
            <a:ext cx="127908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RQ2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6" name="TextBox 15"/>
          <p:cNvSpPr/>
          <p:nvPr/>
        </p:nvSpPr>
        <p:spPr>
          <a:xfrm>
            <a:off x="2240280" y="3101040"/>
            <a:ext cx="90514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buNone/>
            </a:pPr>
            <a:r>
              <a:rPr b="0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Yes — DTW/OT/cosine (and L1/L2) correlate positively with success in all five runs.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367" name="Rectangle 16"/>
          <p:cNvSpPr/>
          <p:nvPr/>
        </p:nvSpPr>
        <p:spPr>
          <a:xfrm>
            <a:off x="731520" y="3822120"/>
            <a:ext cx="10743120" cy="105048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8" name="Rectangle 17"/>
          <p:cNvSpPr/>
          <p:nvPr/>
        </p:nvSpPr>
        <p:spPr>
          <a:xfrm>
            <a:off x="731520" y="3822120"/>
            <a:ext cx="1279080" cy="1050480"/>
          </a:xfrm>
          <a:prstGeom prst="rect">
            <a:avLst/>
          </a:prstGeom>
          <a:solidFill>
            <a:srgbClr val="c7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9" name="TextBox 18"/>
          <p:cNvSpPr/>
          <p:nvPr/>
        </p:nvSpPr>
        <p:spPr>
          <a:xfrm>
            <a:off x="731520" y="4114800"/>
            <a:ext cx="127908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RQ3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0" name="TextBox 19"/>
          <p:cNvSpPr/>
          <p:nvPr/>
        </p:nvSpPr>
        <p:spPr>
          <a:xfrm>
            <a:off x="2240280" y="4144680"/>
            <a:ext cx="905148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buNone/>
            </a:pPr>
            <a:r>
              <a:rPr b="0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Partly — robust for the coarse “don’t stop early” call; genuine overtraining never occurred.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371" name="Rectangle 20"/>
          <p:cNvSpPr/>
          <p:nvPr/>
        </p:nvSpPr>
        <p:spPr>
          <a:xfrm>
            <a:off x="731520" y="5001840"/>
            <a:ext cx="10743120" cy="105048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2" name="Rectangle 21"/>
          <p:cNvSpPr/>
          <p:nvPr/>
        </p:nvSpPr>
        <p:spPr>
          <a:xfrm>
            <a:off x="731520" y="5001840"/>
            <a:ext cx="1279080" cy="1050480"/>
          </a:xfrm>
          <a:prstGeom prst="rect">
            <a:avLst/>
          </a:prstGeom>
          <a:solidFill>
            <a:srgbClr val="c7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3" name="TextBox 22"/>
          <p:cNvSpPr/>
          <p:nvPr/>
        </p:nvSpPr>
        <p:spPr>
          <a:xfrm>
            <a:off x="731520" y="5294520"/>
            <a:ext cx="127908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6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RQ4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4" name="TextBox 23"/>
          <p:cNvSpPr/>
          <p:nvPr/>
        </p:nvSpPr>
        <p:spPr>
          <a:xfrm>
            <a:off x="2240280" y="5324400"/>
            <a:ext cx="905148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buNone/>
            </a:pPr>
            <a:r>
              <a:rPr b="0" lang="en-US" sz="1650" spc="-1" strike="noStrike">
                <a:solidFill>
                  <a:srgbClr val="1a1a1a"/>
                </a:solidFill>
                <a:latin typeface="Calibri"/>
                <a:ea typeface="DejaVu Sans"/>
              </a:rPr>
              <a:t>Qualified — the architecture split is real; finer metric orderings need more evaluations.</a:t>
            </a:r>
            <a:endParaRPr b="0" lang="en-US" sz="16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6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7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TAKEAWAYS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78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Practical guidance for VLA practitioners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379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0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15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81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82" name="Rectangle 8"/>
          <p:cNvSpPr/>
          <p:nvPr/>
        </p:nvSpPr>
        <p:spPr>
          <a:xfrm>
            <a:off x="731520" y="1508760"/>
            <a:ext cx="5256720" cy="191916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3" name="Rectangle 9"/>
          <p:cNvSpPr/>
          <p:nvPr/>
        </p:nvSpPr>
        <p:spPr>
          <a:xfrm>
            <a:off x="731520" y="1508760"/>
            <a:ext cx="5256720" cy="108720"/>
          </a:xfrm>
          <a:prstGeom prst="rect">
            <a:avLst/>
          </a:prstGeom>
          <a:solidFill>
            <a:srgbClr val="006fb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4" name="TextBox 10"/>
          <p:cNvSpPr/>
          <p:nvPr/>
        </p:nvSpPr>
        <p:spPr>
          <a:xfrm>
            <a:off x="1005840" y="1783080"/>
            <a:ext cx="4753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6fb9"/>
                </a:solidFill>
                <a:latin typeface="Calibri"/>
                <a:ea typeface="DejaVu Sans"/>
              </a:rPr>
              <a:t>1   </a:t>
            </a:r>
            <a:r>
              <a:rPr b="1" lang="en-US" sz="1750" spc="-1" strike="noStrike">
                <a:solidFill>
                  <a:srgbClr val="1a1a1a"/>
                </a:solidFill>
                <a:latin typeface="Calibri"/>
                <a:ea typeface="DejaVu Sans"/>
              </a:rPr>
              <a:t>Use a trajectory-similarity metric.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385" name="TextBox 11"/>
          <p:cNvSpPr/>
          <p:nvPr/>
        </p:nvSpPr>
        <p:spPr>
          <a:xfrm>
            <a:off x="1005840" y="2441520"/>
            <a:ext cx="47538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DTW is a reliable default: positive in all five runs, regret ≤ 0.17.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386" name="Rectangle 12"/>
          <p:cNvSpPr/>
          <p:nvPr/>
        </p:nvSpPr>
        <p:spPr>
          <a:xfrm>
            <a:off x="6217920" y="1508760"/>
            <a:ext cx="5256720" cy="191916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7" name="Rectangle 13"/>
          <p:cNvSpPr/>
          <p:nvPr/>
        </p:nvSpPr>
        <p:spPr>
          <a:xfrm>
            <a:off x="6217920" y="1508760"/>
            <a:ext cx="5256720" cy="108720"/>
          </a:xfrm>
          <a:prstGeom prst="rect">
            <a:avLst/>
          </a:prstGeom>
          <a:solidFill>
            <a:srgbClr val="1b8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8" name="TextBox 14"/>
          <p:cNvSpPr/>
          <p:nvPr/>
        </p:nvSpPr>
        <p:spPr>
          <a:xfrm>
            <a:off x="6492240" y="1783080"/>
            <a:ext cx="4753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b8a4a"/>
                </a:solidFill>
                <a:latin typeface="Calibri"/>
                <a:ea typeface="DejaVu Sans"/>
              </a:rPr>
              <a:t>2   </a:t>
            </a:r>
            <a:r>
              <a:rPr b="1" lang="en-US" sz="1750" spc="-1" strike="noStrike">
                <a:solidFill>
                  <a:srgbClr val="1a1a1a"/>
                </a:solidFill>
                <a:latin typeface="Calibri"/>
                <a:ea typeface="DejaVu Sans"/>
              </a:rPr>
              <a:t>Trust the coarse decision.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389" name="TextBox 15"/>
          <p:cNvSpPr/>
          <p:nvPr/>
        </p:nvSpPr>
        <p:spPr>
          <a:xfrm>
            <a:off x="6492240" y="2441520"/>
            <a:ext cx="47538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“</a:t>
            </a: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Do not stop before the knee” is reliable; fine-ranking a converged plateau is much less so.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390" name="Rectangle 16"/>
          <p:cNvSpPr/>
          <p:nvPr/>
        </p:nvSpPr>
        <p:spPr>
          <a:xfrm>
            <a:off x="731520" y="3703320"/>
            <a:ext cx="5256720" cy="191916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1" name="Rectangle 17"/>
          <p:cNvSpPr/>
          <p:nvPr/>
        </p:nvSpPr>
        <p:spPr>
          <a:xfrm>
            <a:off x="731520" y="3703320"/>
            <a:ext cx="5256720" cy="108720"/>
          </a:xfrm>
          <a:prstGeom prst="rect">
            <a:avLst/>
          </a:prstGeom>
          <a:solidFill>
            <a:srgbClr val="c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2" name="TextBox 18"/>
          <p:cNvSpPr/>
          <p:nvPr/>
        </p:nvSpPr>
        <p:spPr>
          <a:xfrm>
            <a:off x="1005840" y="3977640"/>
            <a:ext cx="475380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02a2a"/>
                </a:solidFill>
                <a:latin typeface="Calibri"/>
                <a:ea typeface="DejaVu Sans"/>
              </a:rPr>
              <a:t>3   </a:t>
            </a:r>
            <a:r>
              <a:rPr b="1" lang="en-US" sz="1750" spc="-1" strike="noStrike">
                <a:solidFill>
                  <a:srgbClr val="1a1a1a"/>
                </a:solidFill>
                <a:latin typeface="Calibri"/>
                <a:ea typeface="DejaVu Sans"/>
              </a:rPr>
              <a:t>Match the surrogate to the architecture.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393" name="TextBox 19"/>
          <p:cNvSpPr/>
          <p:nvPr/>
        </p:nvSpPr>
        <p:spPr>
          <a:xfrm>
            <a:off x="1005840" y="4636080"/>
            <a:ext cx="475380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Token NLL is fine for discrete-token policies; for flow-matching, prefer a trajectory metric over the FM loss.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394" name="Rectangle 20"/>
          <p:cNvSpPr/>
          <p:nvPr/>
        </p:nvSpPr>
        <p:spPr>
          <a:xfrm>
            <a:off x="6217920" y="3703320"/>
            <a:ext cx="5256720" cy="191916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5" name="Rectangle 21"/>
          <p:cNvSpPr/>
          <p:nvPr/>
        </p:nvSpPr>
        <p:spPr>
          <a:xfrm>
            <a:off x="6217920" y="3703320"/>
            <a:ext cx="5256720" cy="108720"/>
          </a:xfrm>
          <a:prstGeom prst="rect">
            <a:avLst/>
          </a:prstGeom>
          <a:solidFill>
            <a:srgbClr val="6a3d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6" name="TextBox 22"/>
          <p:cNvSpPr/>
          <p:nvPr/>
        </p:nvSpPr>
        <p:spPr>
          <a:xfrm>
            <a:off x="6492240" y="3977640"/>
            <a:ext cx="475380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6a3d9a"/>
                </a:solidFill>
                <a:latin typeface="Calibri"/>
                <a:ea typeface="DejaVu Sans"/>
              </a:rPr>
              <a:t>4   </a:t>
            </a:r>
            <a:r>
              <a:rPr b="1" lang="en-US" sz="1750" spc="-1" strike="noStrike">
                <a:solidFill>
                  <a:srgbClr val="1a1a1a"/>
                </a:solidFill>
                <a:latin typeface="Calibri"/>
                <a:ea typeface="DejaVu Sans"/>
              </a:rPr>
              <a:t>Report uncertainty, not point ranks.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397" name="TextBox 23"/>
          <p:cNvSpPr/>
          <p:nvPr/>
        </p:nvSpPr>
        <p:spPr>
          <a:xfrm>
            <a:off x="6492240" y="4636080"/>
            <a:ext cx="47538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With 10–30 rollouts, report bootstrap CIs — many single-metric orderings may be noise.</a:t>
            </a:r>
            <a:endParaRPr b="0" lang="en-US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angle 1"/>
          <p:cNvSpPr/>
          <p:nvPr/>
        </p:nvSpPr>
        <p:spPr>
          <a:xfrm>
            <a:off x="0" y="0"/>
            <a:ext cx="12190680" cy="1077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9" name="Rectangle 2"/>
          <p:cNvSpPr/>
          <p:nvPr/>
        </p:nvSpPr>
        <p:spPr>
          <a:xfrm>
            <a:off x="502920" y="274320"/>
            <a:ext cx="99360" cy="565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0" name="TextBox 3"/>
          <p:cNvSpPr/>
          <p:nvPr/>
        </p:nvSpPr>
        <p:spPr>
          <a:xfrm>
            <a:off x="731520" y="201240"/>
            <a:ext cx="987444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LIMITATIONS &amp; FUTURE WORK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401" name="TextBox 4"/>
          <p:cNvSpPr/>
          <p:nvPr/>
        </p:nvSpPr>
        <p:spPr>
          <a:xfrm>
            <a:off x="731520" y="457200"/>
            <a:ext cx="10605960" cy="4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2500" spc="-1" strike="noStrike">
                <a:solidFill>
                  <a:srgbClr val="1a1a1a"/>
                </a:solidFill>
                <a:latin typeface="Calibri"/>
                <a:ea typeface="DejaVu Sans"/>
              </a:rPr>
              <a:t>What this study cannot yet claim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02" name="Rectangle 5"/>
          <p:cNvSpPr/>
          <p:nvPr/>
        </p:nvSpPr>
        <p:spPr>
          <a:xfrm>
            <a:off x="0" y="107892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3" name="TextBox 6"/>
          <p:cNvSpPr/>
          <p:nvPr/>
        </p:nvSpPr>
        <p:spPr>
          <a:xfrm>
            <a:off x="11430000" y="6419160"/>
            <a:ext cx="6390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6000"/>
              </a:lnSpc>
              <a:buNone/>
            </a:pPr>
            <a:r>
              <a:rPr b="0" lang="en-US" sz="1100" spc="-1" strike="noStrike">
                <a:solidFill>
                  <a:srgbClr val="8a8a8a"/>
                </a:solidFill>
                <a:latin typeface="Calibri"/>
                <a:ea typeface="DejaVu Sans"/>
              </a:rPr>
              <a:t>16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04" name="TextBox 7"/>
          <p:cNvSpPr/>
          <p:nvPr/>
        </p:nvSpPr>
        <p:spPr>
          <a:xfrm>
            <a:off x="502920" y="6419160"/>
            <a:ext cx="8228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1000" spc="-1" strike="noStrike">
                <a:solidFill>
                  <a:srgbClr val="8a8a8a"/>
                </a:solidFill>
                <a:latin typeface="Calibri"/>
                <a:ea typeface="DejaVu Sans"/>
              </a:rPr>
              <a:t>Yibo Zhang · Offline Trajectory Metrics for Early Stopping in VLA Fine-Tuning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05" name="Rectangle 8"/>
          <p:cNvSpPr/>
          <p:nvPr/>
        </p:nvSpPr>
        <p:spPr>
          <a:xfrm>
            <a:off x="731520" y="1645920"/>
            <a:ext cx="3528360" cy="383940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6" name="Rectangle 9"/>
          <p:cNvSpPr/>
          <p:nvPr/>
        </p:nvSpPr>
        <p:spPr>
          <a:xfrm>
            <a:off x="731520" y="1645920"/>
            <a:ext cx="3528360" cy="127080"/>
          </a:xfrm>
          <a:prstGeom prst="rect">
            <a:avLst/>
          </a:prstGeom>
          <a:solidFill>
            <a:srgbClr val="006fb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7" name="TextBox 10"/>
          <p:cNvSpPr/>
          <p:nvPr/>
        </p:nvSpPr>
        <p:spPr>
          <a:xfrm>
            <a:off x="960120" y="2011680"/>
            <a:ext cx="307116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50" spc="-1" strike="noStrike">
                <a:solidFill>
                  <a:srgbClr val="006fb9"/>
                </a:solidFill>
                <a:latin typeface="Calibri"/>
                <a:ea typeface="DejaVu Sans"/>
              </a:rPr>
              <a:t>Open-loop only</a:t>
            </a:r>
            <a:endParaRPr b="0" lang="en-US" sz="1850" spc="-1" strike="noStrike">
              <a:latin typeface="Arial"/>
            </a:endParaRPr>
          </a:p>
        </p:txBody>
      </p:sp>
      <p:sp>
        <p:nvSpPr>
          <p:cNvPr id="408" name="TextBox 11"/>
          <p:cNvSpPr/>
          <p:nvPr/>
        </p:nvSpPr>
        <p:spPr>
          <a:xfrm>
            <a:off x="960120" y="2971800"/>
            <a:ext cx="3071160" cy="12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Metrics score teacher-forced action chunks, not rollouts. A learned world model would test whether they also predict compounding closed-loop error.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409" name="Rectangle 12"/>
          <p:cNvSpPr/>
          <p:nvPr/>
        </p:nvSpPr>
        <p:spPr>
          <a:xfrm>
            <a:off x="4535280" y="1645920"/>
            <a:ext cx="3528360" cy="383940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0" name="Rectangle 13"/>
          <p:cNvSpPr/>
          <p:nvPr/>
        </p:nvSpPr>
        <p:spPr>
          <a:xfrm>
            <a:off x="4535280" y="1645920"/>
            <a:ext cx="3528360" cy="127080"/>
          </a:xfrm>
          <a:prstGeom prst="rect">
            <a:avLst/>
          </a:prstGeom>
          <a:solidFill>
            <a:srgbClr val="c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1" name="TextBox 14"/>
          <p:cNvSpPr/>
          <p:nvPr/>
        </p:nvSpPr>
        <p:spPr>
          <a:xfrm>
            <a:off x="4763880" y="2011680"/>
            <a:ext cx="307116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50" spc="-1" strike="noStrike">
                <a:solidFill>
                  <a:srgbClr val="c02a2a"/>
                </a:solidFill>
                <a:latin typeface="Calibri"/>
                <a:ea typeface="DejaVu Sans"/>
              </a:rPr>
              <a:t>No overtraining regime</a:t>
            </a:r>
            <a:endParaRPr b="0" lang="en-US" sz="1850" spc="-1" strike="noStrike">
              <a:latin typeface="Arial"/>
            </a:endParaRPr>
          </a:p>
        </p:txBody>
      </p:sp>
      <p:sp>
        <p:nvSpPr>
          <p:cNvPr id="412" name="TextBox 15"/>
          <p:cNvSpPr/>
          <p:nvPr/>
        </p:nvSpPr>
        <p:spPr>
          <a:xfrm>
            <a:off x="4763880" y="2971800"/>
            <a:ext cx="3071160" cy="12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No run genuinely degraded, so the preventive value of early stopping is untested. Longer runs at higher LR are needed to force a decline.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413" name="Rectangle 16"/>
          <p:cNvSpPr/>
          <p:nvPr/>
        </p:nvSpPr>
        <p:spPr>
          <a:xfrm>
            <a:off x="8339400" y="1645920"/>
            <a:ext cx="3528360" cy="383940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4" name="Rectangle 17"/>
          <p:cNvSpPr/>
          <p:nvPr/>
        </p:nvSpPr>
        <p:spPr>
          <a:xfrm>
            <a:off x="8339400" y="1645920"/>
            <a:ext cx="3528360" cy="127080"/>
          </a:xfrm>
          <a:prstGeom prst="rect">
            <a:avLst/>
          </a:prstGeom>
          <a:solidFill>
            <a:srgbClr val="1b8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5" name="TextBox 18"/>
          <p:cNvSpPr/>
          <p:nvPr/>
        </p:nvSpPr>
        <p:spPr>
          <a:xfrm>
            <a:off x="8568000" y="2011680"/>
            <a:ext cx="3071160" cy="5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50" spc="-1" strike="noStrike">
                <a:solidFill>
                  <a:srgbClr val="1b8a4a"/>
                </a:solidFill>
                <a:latin typeface="Calibri"/>
                <a:ea typeface="DejaVu Sans"/>
              </a:rPr>
              <a:t>Sparse, confounded Q(k)</a:t>
            </a:r>
            <a:endParaRPr b="0" lang="en-US" sz="1850" spc="-1" strike="noStrike">
              <a:latin typeface="Arial"/>
            </a:endParaRPr>
          </a:p>
        </p:txBody>
      </p:sp>
      <p:sp>
        <p:nvSpPr>
          <p:cNvPr id="416" name="TextBox 19"/>
          <p:cNvSpPr/>
          <p:nvPr/>
        </p:nvSpPr>
        <p:spPr>
          <a:xfrm>
            <a:off x="8568000" y="2971800"/>
            <a:ext cx="3071160" cy="12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11–33 evals per run, and two π₀.₅ runs at mismatched horizons. Denser, horizon-matched evaluation would resolve DTW vs. L1/L2.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417" name="TextBox 20"/>
          <p:cNvSpPr/>
          <p:nvPr/>
        </p:nvSpPr>
        <p:spPr>
          <a:xfrm>
            <a:off x="731520" y="5806440"/>
            <a:ext cx="1078884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None of these overturns the central finding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— they mark where the current evidence stops and the next study begins.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9" name="Rectangle 2"/>
          <p:cNvSpPr/>
          <p:nvPr/>
        </p:nvSpPr>
        <p:spPr>
          <a:xfrm>
            <a:off x="0" y="0"/>
            <a:ext cx="291600" cy="685692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0" name="Rectangle 3"/>
          <p:cNvSpPr/>
          <p:nvPr/>
        </p:nvSpPr>
        <p:spPr>
          <a:xfrm>
            <a:off x="0" y="4892040"/>
            <a:ext cx="12190680" cy="27000"/>
          </a:xfrm>
          <a:prstGeom prst="rect">
            <a:avLst/>
          </a:prstGeom>
          <a:solidFill>
            <a:srgbClr val="ffd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1" name="TextBox 4"/>
          <p:cNvSpPr/>
          <p:nvPr/>
        </p:nvSpPr>
        <p:spPr>
          <a:xfrm>
            <a:off x="868680" y="685800"/>
            <a:ext cx="105145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1" lang="en-US" sz="1400" spc="-1" strike="noStrike">
                <a:solidFill>
                  <a:srgbClr val="8a8a8a"/>
                </a:solidFill>
                <a:latin typeface="Calibri"/>
                <a:ea typeface="DejaVu Sans"/>
              </a:rPr>
              <a:t>CONCLUSION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22" name="TextBox 5"/>
          <p:cNvSpPr/>
          <p:nvPr/>
        </p:nvSpPr>
        <p:spPr>
          <a:xfrm>
            <a:off x="822960" y="1234440"/>
            <a:ext cx="10605960" cy="5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4000"/>
              </a:lnSpc>
              <a:spcAft>
                <a:spcPts val="400"/>
              </a:spcAft>
              <a:buNone/>
            </a:pPr>
            <a:r>
              <a:rPr b="1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An offline trajectory-similarity metric, computed once per checkpoint, can serve as a practical, largely architecture-agnostic signal for when to stop fine-tuning a VLA.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23" name="TextBox 6"/>
          <p:cNvSpPr/>
          <p:nvPr/>
        </p:nvSpPr>
        <p:spPr>
          <a:xfrm>
            <a:off x="868680" y="3291840"/>
            <a:ext cx="10423080" cy="9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1100"/>
              </a:spcAft>
              <a:buNone/>
            </a:pPr>
            <a:r>
              <a:rPr b="1" lang="en-US" sz="160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Evaluated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across 3 architectures, 5 runs, and a 10-task benchmark — DTW a reliable default.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1100"/>
              </a:spcAft>
              <a:buNone/>
            </a:pPr>
            <a:r>
              <a:rPr b="1" lang="en-US" sz="1600" spc="-1" strike="noStrike">
                <a:solidFill>
                  <a:srgbClr val="ffd100"/>
                </a:solidFill>
                <a:latin typeface="Calibri"/>
                <a:ea typeface="DejaVu Sans"/>
              </a:rPr>
              <a:t>— </a:t>
            </a:r>
            <a:r>
              <a:rPr b="1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Honest about scope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  <a:ea typeface="DejaVu Sans"/>
              </a:rPr>
              <a:t>— coarse stopping is well-supported; overtraining and closed-loop rollout remain open.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24" name="TextBox 7"/>
          <p:cNvSpPr/>
          <p:nvPr/>
        </p:nvSpPr>
        <p:spPr>
          <a:xfrm>
            <a:off x="868680" y="5166360"/>
            <a:ext cx="1042308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spcAft>
                <a:spcPts val="601"/>
              </a:spcAft>
              <a:buNone/>
            </a:pPr>
            <a:r>
              <a:rPr b="1" lang="en-US" sz="2200" spc="-1" strike="noStrike">
                <a:solidFill>
                  <a:srgbClr val="1a1a1a"/>
                </a:solidFill>
                <a:latin typeface="Calibri"/>
                <a:ea typeface="DejaVu Sans"/>
              </a:rPr>
              <a:t>Thank you — I welcome your questions.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6000"/>
              </a:lnSpc>
              <a:spcAft>
                <a:spcPts val="601"/>
              </a:spcAft>
              <a:buNone/>
            </a:pPr>
            <a:r>
              <a:rPr b="0" lang="en-US" sz="1450" spc="-1" strike="noStrike">
                <a:solidFill>
                  <a:srgbClr val="555555"/>
                </a:solidFill>
                <a:latin typeface="Calibri"/>
                <a:ea typeface="DejaVu Sans"/>
              </a:rPr>
              <a:t>Yibo Zhang    ·    yibo.zhang@aalto.fi</a:t>
            </a:r>
            <a:endParaRPr b="0" lang="en-US" sz="1450" spc="-1" strike="noStrike">
              <a:latin typeface="Arial"/>
            </a:endParaRPr>
          </a:p>
          <a:p>
            <a:pPr>
              <a:lnSpc>
                <a:spcPct val="106000"/>
              </a:lnSpc>
              <a:spcAft>
                <a:spcPts val="601"/>
              </a:spcAft>
              <a:buNone/>
            </a:pPr>
            <a:r>
              <a:rPr b="0" lang="en-US" sz="1250" spc="-1" strike="noStrike">
                <a:solidFill>
                  <a:srgbClr val="8a8a8a"/>
                </a:solidFill>
                <a:latin typeface="Calibri"/>
                <a:ea typeface="DejaVu Sans"/>
              </a:rPr>
              <a:t>Supervisor: Prof. Joni Pajarinen    ·    Advisor: Dr. Wenyan Yang    ·    Aalto Robot Learning Lab</a:t>
            </a:r>
            <a:endParaRPr b="0" lang="en-US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2026-07-30T13:52:46Z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