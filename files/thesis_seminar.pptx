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thesis asks a very practical question in robot learning: when fine-tuning a vision-language-action model, when do we stop? The honest answer today is 'after a fixed number of steps' — and I'll show why that is often suboptimal, and what cheap offline signal we can use instead. [~40s] Target: ~22 minutes of talk within the 30-minute slot, leaving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primer, since this room spans several fields. A VLA is one network that maps a camera image and a language instruction to robot actions. We do not train it from scratch — we fine-tune a pretrained model with LoRA, which is cheap. During training we periodically save checkpoints, and the practical question is simply which checkpoint to keep. Choosing the best one is early stopping, and doing it well needs a signal that predicts real robot performance — ideally without running the robot every time. That is what the rest of the talk is about. [~55s]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VLAs are the robot version of foundation models. In practice we don't train from scratch — we fine-tune with LoRA. The problem: everyone trains for a fixed number of steps, with no principled stopping criterion. The optimum isn't fixed — it depends on data size, LR, batch size. The tension on the right frames the whole thesis: online success is the truth but too expensive to measure every checkpoint; training loss is cheap but a bad proxy. We want something in between. [~1:15]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structural reasons loss fails. One: it's teacher-forced and per-step — never a rollout, so blind to compounding error. Two: empirically it correlates weakly with success in BC. Three: it's an average, so it can't tell a lagged-but-smooth motion from a jittery one. The consequence, bottom, is that stopping on loss forgoes real success — I quantify that as selection regret. [~1:10]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chunking VLAs output a sequence, so we can compare trajectory segments, not steps. Four candidate metrics. DTW aligns in time — forgives pace. OT matches waypoint distributions, a true metric. Cosine is cheap directional agreement, magnitude-blind, so only ever a companion. NLL is the probabilistic one, but the surrogate is architecture-dependent — remember that, it comes back in the results. L1/L2 are the baseline the geometric metrics must beat. [~1:20]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is three steps applied identically to every checkpoint. One: score each checkpoint with the metric on held-out data. Two: the early-stopping rule turns that curve into a single choice — the earliest checkpoint within 1% of the best value, so we don't chase one noisy minimum. Three: judge each metric against true success by two numbers — Spearman rho for ranking and regret for the success we gave up. High rho, low regret is a good metric. [~1:10]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organised the study as four research questions, each a precondition for the next. RQ1: do the metrics carry any task information at all — a sanity check before anything else. RQ2, the heart: do they predict success, across architectures and data sizes. RQ3: do they still work in the hard converged regime, and can they catch overtraining. RQ4: with tiny evaluation budgets, which differences are statistically real. I'll answer them in order.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Three architectures spanning both paradigms: OpenVLA is discrete-token — importantly its NLL is a real likelihood. SmolVLA and pi-0.5 are flow-matching. Five runs cross architecture with data size, plus a deliberate pi-0.5 overtraining stress run. Benchmark is LIBERO-Goal, chosen because varying only the instruction gives the most action diversity. Truth is 100-episode success, but sparse and noisy — that sparsity drives RQ4. The dagger note: the two pi-0.5 rows use different horizons, so compare rankings within a row, not absolute levels. [~1:20]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the sanity check. Can a metric tell two demos of the same task from different tasks, on ground truth alone? On a single 50-step chunk, barely — AUROC 0.65-0.69, because all LIBERO tasks reach, grasp, transport. But aggregate a whole trajectory phase-aligned, and every metric jumps above 0.90. Crucially it's the phase alignment, not just averaging away noise — DTW's within-task distance collapses while across-task barely moves. All five pass. This is why I use the trajectory-level estimator everywhere after. [~1:10]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the headline. Left: Spearman rho of every metric with success, per run. Right: the success curves. The trajectory metrics — DTW, OT, cosine — and the L1/L2 baselines are positive in every single run, across discrete-token and flow-matching, across 150 and full data. DTW specifically: 0.72 to 0.90, never negative, regret never above 0.17 — the most consistent default. The one family that behaves differently is likelihood — hold that thought for RQ4. [~1:05]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in per run. Two things to see. First, the trajectory and regression metrics are interchangeable — on OpenVLA-full, DTW and L2 literally select the same checkpoint, 21499, same rho, zero regret. So this is a family of comparable choices, not a strict winner. Second, look at the highlighted NLL/FM row: strong on the blue discrete-token table, but drops to 0.46 and even negative on the flow-matching tables. That architecture split is the RQ4 story. [~1:15]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 is it actually usable for stopping? Split each run at the knee — where DTW has done 90% of its descent — and recompute rho before vs after. Full-range rho is 0.8-0.9 everywhere, so the coarse decision 'don't stop before the knee' is robust. Inside the plateau it weakens but stays usable, 0.55+, for four of five. The exception, pi-0.5-150 in red, looked like overtraining — success fell 31 to 23% — but extending training recovered it to 38%. So it was restriction of range on a noisy low ceiling, not a real decline. [~1:15]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point of intellectual honesty. Three runs were built to force overtraining — tiny data, and for pi-0.5-150 an aggressive 6x learning rate held near peak for 40k steps. It still didn't overtrain: everything settled into a noisy plateau. So I can show the metrics track the rise and plateau, but I cannot show them catching a genuine late decline, because I never produced one. That's a real limitation and I'll return to it. [~1:00]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RQ4 keeps me honest about what the numbers support. Point estimates come from as few as 11 evaluations, so I bootstrap a 95% CI on every rho and on paired differences. What survives, left: the architecture split of NLL is real, and with enough evaluations — pi-0.5-full at 33, and SmolVLA-150 now at 35 after densifying the rise — every trajectory metric clears zero. What doesn't, right: DTW is still not statistically separable from L1, L2, OT or cosine — they're one family, even at n=35. The binding constraint is usually statistical power, not the choice of metric. [~1:10]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four answers. RQ1 yes, cleanly. RQ2 yes — the core positive result, architecture-general. RQ3 a qualified yes: excellent for the coarse decision, but I couldn't test the overtraining case. RQ4 qualified: the one hard, significant claim is the NLL architecture split; the rest is a family of comparable metrics limited by evaluation budget. Two green, two amber — I think that's an honest scorecard. [~1:00]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four things away as a practitioner. One: use a trajectory metric — DTW is the safe default. Two: trust the coarse call, don't stop before the knee, but don't over-trust fine ranking on the plateau. Three: match the surrogate to the architecture — token NLL for discrete, a trajectory metric for flow-matching. Four: with tiny rollout budgets, report confidence intervals, because most single-metric orderings are noise. [~1:00]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limitations, stated plainly. One: everything here is open-loop, teacher-forced chunks — a world-model rollout would test compounding error directly. Two, the big one: no run overtrained, so I can't claim early stopping prevents degradation, only that it tracks the plateau. Three: success was measured sparsely and, for pi-0.5, at mismatched horizons — denser matched evaluation would finally separate DTW from L1/L2. None of these breaks the main result; they mark where the next study starts. [~1:05]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 single offline trajectory metric, computed once per checkpoint, can be a practical, largely architecture-agnostic answer to when to stop fine-tuning a VLA. Evaluated across three architectures and five runs, with DTW as a reliable default — and honest about what's still open: the overtraining case and true closed-loop rollout. Thank you, I'm happy to take questions. [Total ~22 min in the 30-min slot, leaving time for Q&amp;A.] Backup slides / thesis tables ready for detail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 cy="685800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5371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40080"/>
            <a:ext cx="1042416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1" i="0">
                <a:solidFill>
                  <a:srgbClr val="8A8A8A"/>
                </a:solidFill>
                <a:latin typeface="Calibri"/>
              </a:rPr>
              <a:t>MSc THESIS SEMINAR  ·  AALTO UNIVERSITY</a:t>
            </a:r>
          </a:p>
        </p:txBody>
      </p:sp>
      <p:sp>
        <p:nvSpPr>
          <p:cNvPr id="6" name="TextBox 5"/>
          <p:cNvSpPr txBox="1"/>
          <p:nvPr/>
        </p:nvSpPr>
        <p:spPr>
          <a:xfrm>
            <a:off x="822960" y="1417320"/>
            <a:ext cx="10698480" cy="2377440"/>
          </a:xfrm>
          <a:prstGeom prst="rect">
            <a:avLst/>
          </a:prstGeom>
          <a:noFill/>
        </p:spPr>
        <p:txBody>
          <a:bodyPr wrap="square" anchor="t" lIns="0" rIns="0" tIns="0" bIns="0">
            <a:spAutoFit/>
          </a:bodyPr>
          <a:lstStyle/>
          <a:p>
            <a:pPr algn="l">
              <a:lnSpc>
                <a:spcPct val="102000"/>
              </a:lnSpc>
              <a:spcBef>
                <a:spcPts val="0"/>
              </a:spcBef>
              <a:spcAft>
                <a:spcPts val="600"/>
              </a:spcAft>
            </a:pPr>
            <a:r>
              <a:rPr sz="4000" b="1" i="0">
                <a:solidFill>
                  <a:srgbClr val="1A1A1A"/>
                </a:solidFill>
                <a:latin typeface="Calibri"/>
              </a:rPr>
              <a:t>Offline Trajectory Metrics for Early Stopping</a:t>
            </a:r>
          </a:p>
          <a:p>
            <a:pPr algn="l">
              <a:lnSpc>
                <a:spcPct val="102000"/>
              </a:lnSpc>
              <a:spcBef>
                <a:spcPts val="0"/>
              </a:spcBef>
              <a:spcAft>
                <a:spcPts val="600"/>
              </a:spcAft>
            </a:pPr>
            <a:r>
              <a:rPr sz="4000" b="1" i="0">
                <a:solidFill>
                  <a:srgbClr val="1A1A1A"/>
                </a:solidFill>
                <a:latin typeface="Calibri"/>
              </a:rPr>
              <a:t>in Vision-Language-Action Model Fine-Tuning</a:t>
            </a:r>
          </a:p>
        </p:txBody>
      </p:sp>
      <p:sp>
        <p:nvSpPr>
          <p:cNvPr id="7" name="TextBox 6"/>
          <p:cNvSpPr txBox="1"/>
          <p:nvPr/>
        </p:nvSpPr>
        <p:spPr>
          <a:xfrm>
            <a:off x="868680" y="3429000"/>
            <a:ext cx="10424160" cy="548640"/>
          </a:xfrm>
          <a:prstGeom prst="rect">
            <a:avLst/>
          </a:prstGeom>
          <a:noFill/>
        </p:spPr>
        <p:txBody>
          <a:bodyPr wrap="square" anchor="t" lIns="0" rIns="0" tIns="0" bIns="0">
            <a:spAutoFit/>
          </a:bodyPr>
          <a:lstStyle/>
          <a:p>
            <a:pPr algn="l">
              <a:lnSpc>
                <a:spcPct val="106000"/>
              </a:lnSpc>
              <a:spcBef>
                <a:spcPts val="0"/>
              </a:spcBef>
              <a:spcAft>
                <a:spcPts val="0"/>
              </a:spcAft>
            </a:pPr>
            <a:r>
              <a:rPr sz="1800" b="0" i="0">
                <a:solidFill>
                  <a:srgbClr val="555555"/>
                </a:solidFill>
                <a:latin typeface="Calibri"/>
              </a:rPr>
              <a:t>When should you stop fine-tuning a robot policy — </a:t>
            </a:r>
            <a:r>
              <a:rPr sz="1800" b="1" i="0">
                <a:solidFill>
                  <a:srgbClr val="006FB9"/>
                </a:solidFill>
                <a:latin typeface="Calibri"/>
              </a:rPr>
              <a:t>without running it?</a:t>
            </a:r>
          </a:p>
        </p:txBody>
      </p:sp>
      <p:sp>
        <p:nvSpPr>
          <p:cNvPr id="8" name="TextBox 7"/>
          <p:cNvSpPr txBox="1"/>
          <p:nvPr/>
        </p:nvSpPr>
        <p:spPr>
          <a:xfrm>
            <a:off x="868680" y="4800600"/>
            <a:ext cx="10424160" cy="1463040"/>
          </a:xfrm>
          <a:prstGeom prst="rect">
            <a:avLst/>
          </a:prstGeom>
          <a:noFill/>
        </p:spPr>
        <p:txBody>
          <a:bodyPr wrap="square" anchor="t" lIns="0" rIns="0" tIns="0" bIns="0">
            <a:spAutoFit/>
          </a:bodyPr>
          <a:lstStyle/>
          <a:p>
            <a:pPr algn="l">
              <a:lnSpc>
                <a:spcPct val="106000"/>
              </a:lnSpc>
              <a:spcBef>
                <a:spcPts val="0"/>
              </a:spcBef>
              <a:spcAft>
                <a:spcPts val="700"/>
              </a:spcAft>
            </a:pPr>
            <a:r>
              <a:rPr sz="2000" b="1" i="0">
                <a:solidFill>
                  <a:srgbClr val="1A1A1A"/>
                </a:solidFill>
                <a:latin typeface="Calibri"/>
              </a:rPr>
              <a:t>Yibo Zhang</a:t>
            </a:r>
          </a:p>
          <a:p>
            <a:pPr algn="l">
              <a:lnSpc>
                <a:spcPct val="106000"/>
              </a:lnSpc>
              <a:spcBef>
                <a:spcPts val="0"/>
              </a:spcBef>
              <a:spcAft>
                <a:spcPts val="700"/>
              </a:spcAft>
            </a:pPr>
            <a:r>
              <a:rPr sz="1450" b="0" i="0">
                <a:solidFill>
                  <a:srgbClr val="555555"/>
                </a:solidFill>
                <a:latin typeface="Calibri"/>
              </a:rPr>
              <a:t>Supervisor:  Prof. Joni Pajarinen        Advisor:  Dr. Wenyan Yang</a:t>
            </a:r>
          </a:p>
          <a:p>
            <a:pPr algn="l">
              <a:lnSpc>
                <a:spcPct val="106000"/>
              </a:lnSpc>
              <a:spcBef>
                <a:spcPts val="0"/>
              </a:spcBef>
              <a:spcAft>
                <a:spcPts val="700"/>
              </a:spcAft>
            </a:pPr>
            <a:r>
              <a:rPr sz="1300" b="0" i="0">
                <a:solidFill>
                  <a:srgbClr val="8A8A8A"/>
                </a:solidFill>
                <a:latin typeface="Calibri"/>
              </a:rPr>
              <a:t>Department of Electrical Engineering and Automation  ·  Aalto Robot Learning Lab</a:t>
            </a:r>
          </a:p>
          <a:p>
            <a:pPr algn="l">
              <a:lnSpc>
                <a:spcPct val="106000"/>
              </a:lnSpc>
              <a:spcBef>
                <a:spcPts val="0"/>
              </a:spcBef>
              <a:spcAft>
                <a:spcPts val="700"/>
              </a:spcAft>
            </a:pPr>
            <a:r>
              <a:rPr sz="1300" b="0" i="0">
                <a:solidFill>
                  <a:srgbClr val="8A8A8A"/>
                </a:solidFill>
                <a:latin typeface="Calibri"/>
              </a:rPr>
              <a:t>Espoo, 21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BACKGROUND</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A one-minute primer on the terms used today</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46304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57800" cy="109728"/>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737360"/>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750" b="1" i="0">
                <a:solidFill>
                  <a:srgbClr val="006FB9"/>
                </a:solidFill>
                <a:latin typeface="Calibri"/>
              </a:rPr>
              <a:t>Robot policy (VLA)</a:t>
            </a:r>
          </a:p>
        </p:txBody>
      </p:sp>
      <p:sp>
        <p:nvSpPr>
          <p:cNvPr id="12" name="TextBox 11"/>
          <p:cNvSpPr txBox="1"/>
          <p:nvPr/>
        </p:nvSpPr>
        <p:spPr>
          <a:xfrm>
            <a:off x="1005840" y="2359152"/>
            <a:ext cx="4754880" cy="914400"/>
          </a:xfrm>
          <a:prstGeom prst="rect">
            <a:avLst/>
          </a:prstGeom>
          <a:noFill/>
        </p:spPr>
        <p:txBody>
          <a:bodyPr wrap="square" anchor="t" lIns="0" rIns="0" tIns="0" bIns="0">
            <a:spAutoFit/>
          </a:bodyPr>
          <a:lstStyle/>
          <a:p>
            <a:pPr algn="l">
              <a:lnSpc>
                <a:spcPct val="112000"/>
              </a:lnSpc>
              <a:spcBef>
                <a:spcPts val="0"/>
              </a:spcBef>
              <a:spcAft>
                <a:spcPts val="0"/>
              </a:spcAft>
            </a:pPr>
            <a:r>
              <a:rPr sz="1380" b="0" i="0">
                <a:solidFill>
                  <a:srgbClr val="555555"/>
                </a:solidFill>
                <a:latin typeface="Calibri"/>
              </a:rPr>
              <a:t>A single neural network that takes a camera image plus a plain-language instruction (“put the carrot on the plate”) and outputs the robot’s next movements.</a:t>
            </a:r>
          </a:p>
        </p:txBody>
      </p:sp>
      <p:sp>
        <p:nvSpPr>
          <p:cNvPr id="13" name="Rectangle 12"/>
          <p:cNvSpPr/>
          <p:nvPr/>
        </p:nvSpPr>
        <p:spPr>
          <a:xfrm>
            <a:off x="6217920" y="146304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463040"/>
            <a:ext cx="5257800" cy="109728"/>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37360"/>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750" b="1" i="0">
                <a:solidFill>
                  <a:srgbClr val="1B8A4A"/>
                </a:solidFill>
                <a:latin typeface="Calibri"/>
              </a:rPr>
              <a:t>Fine-tuning (LoRA)</a:t>
            </a:r>
          </a:p>
        </p:txBody>
      </p:sp>
      <p:sp>
        <p:nvSpPr>
          <p:cNvPr id="16" name="TextBox 15"/>
          <p:cNvSpPr txBox="1"/>
          <p:nvPr/>
        </p:nvSpPr>
        <p:spPr>
          <a:xfrm>
            <a:off x="6492240" y="2359152"/>
            <a:ext cx="4754880" cy="914400"/>
          </a:xfrm>
          <a:prstGeom prst="rect">
            <a:avLst/>
          </a:prstGeom>
          <a:noFill/>
        </p:spPr>
        <p:txBody>
          <a:bodyPr wrap="square" anchor="t" lIns="0" rIns="0" tIns="0" bIns="0">
            <a:spAutoFit/>
          </a:bodyPr>
          <a:lstStyle/>
          <a:p>
            <a:pPr algn="l">
              <a:lnSpc>
                <a:spcPct val="112000"/>
              </a:lnSpc>
              <a:spcBef>
                <a:spcPts val="0"/>
              </a:spcBef>
              <a:spcAft>
                <a:spcPts val="0"/>
              </a:spcAft>
            </a:pPr>
            <a:r>
              <a:rPr sz="1380" b="0" i="0">
                <a:solidFill>
                  <a:srgbClr val="555555"/>
                </a:solidFill>
                <a:latin typeface="Calibri"/>
              </a:rPr>
              <a:t>Adapting a large pretrained model to a new task with only a little data and compute — here by training a small set of add-on parameters (LoRA).</a:t>
            </a:r>
          </a:p>
        </p:txBody>
      </p:sp>
      <p:sp>
        <p:nvSpPr>
          <p:cNvPr id="17" name="Rectangle 16"/>
          <p:cNvSpPr/>
          <p:nvPr/>
        </p:nvSpPr>
        <p:spPr>
          <a:xfrm>
            <a:off x="731520" y="365760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657600"/>
            <a:ext cx="5257800" cy="109728"/>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931920"/>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750" b="1" i="0">
                <a:solidFill>
                  <a:srgbClr val="8A6200"/>
                </a:solidFill>
                <a:latin typeface="Calibri"/>
              </a:rPr>
              <a:t>Checkpoint</a:t>
            </a:r>
          </a:p>
        </p:txBody>
      </p:sp>
      <p:sp>
        <p:nvSpPr>
          <p:cNvPr id="20" name="TextBox 19"/>
          <p:cNvSpPr txBox="1"/>
          <p:nvPr/>
        </p:nvSpPr>
        <p:spPr>
          <a:xfrm>
            <a:off x="1005840" y="4553712"/>
            <a:ext cx="4754880" cy="914400"/>
          </a:xfrm>
          <a:prstGeom prst="rect">
            <a:avLst/>
          </a:prstGeom>
          <a:noFill/>
        </p:spPr>
        <p:txBody>
          <a:bodyPr wrap="square" anchor="t" lIns="0" rIns="0" tIns="0" bIns="0">
            <a:spAutoFit/>
          </a:bodyPr>
          <a:lstStyle/>
          <a:p>
            <a:pPr algn="l">
              <a:lnSpc>
                <a:spcPct val="112000"/>
              </a:lnSpc>
              <a:spcBef>
                <a:spcPts val="0"/>
              </a:spcBef>
              <a:spcAft>
                <a:spcPts val="0"/>
              </a:spcAft>
            </a:pPr>
            <a:r>
              <a:rPr sz="1380" b="0" i="0">
                <a:solidFill>
                  <a:srgbClr val="555555"/>
                </a:solidFill>
                <a:latin typeface="Calibri"/>
              </a:rPr>
              <a:t>A snapshot of the model saved periodically during training. One run produces many snapshots; in the end we keep just one.</a:t>
            </a:r>
          </a:p>
        </p:txBody>
      </p:sp>
      <p:sp>
        <p:nvSpPr>
          <p:cNvPr id="21" name="Rectangle 20"/>
          <p:cNvSpPr/>
          <p:nvPr/>
        </p:nvSpPr>
        <p:spPr>
          <a:xfrm>
            <a:off x="6217920" y="365760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657600"/>
            <a:ext cx="5257800" cy="109728"/>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931920"/>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750" b="1" i="0">
                <a:solidFill>
                  <a:srgbClr val="6A3D9A"/>
                </a:solidFill>
                <a:latin typeface="Calibri"/>
              </a:rPr>
              <a:t>Early stopping</a:t>
            </a:r>
          </a:p>
        </p:txBody>
      </p:sp>
      <p:sp>
        <p:nvSpPr>
          <p:cNvPr id="24" name="TextBox 23"/>
          <p:cNvSpPr txBox="1"/>
          <p:nvPr/>
        </p:nvSpPr>
        <p:spPr>
          <a:xfrm>
            <a:off x="6492240" y="4553712"/>
            <a:ext cx="4754880" cy="914400"/>
          </a:xfrm>
          <a:prstGeom prst="rect">
            <a:avLst/>
          </a:prstGeom>
          <a:noFill/>
        </p:spPr>
        <p:txBody>
          <a:bodyPr wrap="square" anchor="t" lIns="0" rIns="0" tIns="0" bIns="0">
            <a:spAutoFit/>
          </a:bodyPr>
          <a:lstStyle/>
          <a:p>
            <a:pPr algn="l">
              <a:lnSpc>
                <a:spcPct val="112000"/>
              </a:lnSpc>
              <a:spcBef>
                <a:spcPts val="0"/>
              </a:spcBef>
              <a:spcAft>
                <a:spcPts val="0"/>
              </a:spcAft>
            </a:pPr>
            <a:r>
              <a:rPr sz="1380" b="0" i="0">
                <a:solidFill>
                  <a:srgbClr val="555555"/>
                </a:solidFill>
                <a:latin typeface="Calibri"/>
              </a:rPr>
              <a:t>Choosing which snapshot to keep. Done well, it needs a signal that predicts real robot performance — the question this thesis studies.</a:t>
            </a:r>
          </a:p>
        </p:txBody>
      </p:sp>
      <p:sp>
        <p:nvSpPr>
          <p:cNvPr id="25" name="TextBox 24"/>
          <p:cNvSpPr txBox="1"/>
          <p:nvPr/>
        </p:nvSpPr>
        <p:spPr>
          <a:xfrm>
            <a:off x="731520" y="5806440"/>
            <a:ext cx="10789920" cy="548640"/>
          </a:xfrm>
          <a:prstGeom prst="rect">
            <a:avLst/>
          </a:prstGeom>
          <a:noFill/>
        </p:spPr>
        <p:txBody>
          <a:bodyPr wrap="square" anchor="t" lIns="0" rIns="0" tIns="0" bIns="0">
            <a:spAutoFit/>
          </a:bodyPr>
          <a:lstStyle/>
          <a:p>
            <a:pPr algn="l">
              <a:lnSpc>
                <a:spcPct val="110000"/>
              </a:lnSpc>
              <a:spcBef>
                <a:spcPts val="0"/>
              </a:spcBef>
              <a:spcAft>
                <a:spcPts val="0"/>
              </a:spcAft>
            </a:pPr>
            <a:r>
              <a:rPr sz="1500" b="1" i="0">
                <a:solidFill>
                  <a:srgbClr val="1A1A1A"/>
                </a:solidFill>
                <a:latin typeface="Calibri"/>
              </a:rPr>
              <a:t>In one line:  </a:t>
            </a:r>
            <a:r>
              <a:rPr sz="1500" b="0" i="0">
                <a:solidFill>
                  <a:srgbClr val="555555"/>
                </a:solidFill>
                <a:latin typeface="Calibri"/>
              </a:rPr>
              <a:t>can we predict how well the robot will perform — without the cost of actually running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MOTIVATION</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Fine-tuning a VLA: powerful, but when do we stop?</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2</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TextBox 8"/>
          <p:cNvSpPr txBox="1"/>
          <p:nvPr/>
        </p:nvSpPr>
        <p:spPr>
          <a:xfrm>
            <a:off x="731520" y="1417320"/>
            <a:ext cx="5623560" cy="4023360"/>
          </a:xfrm>
          <a:prstGeom prst="rect">
            <a:avLst/>
          </a:prstGeom>
          <a:noFill/>
        </p:spPr>
        <p:txBody>
          <a:bodyPr wrap="square" lIns="0" rIns="0" tIns="0" bIns="0">
            <a:spAutoFit/>
          </a:bodyPr>
          <a:lstStyle/>
          <a:p>
            <a:pPr>
              <a:lnSpc>
                <a:spcPct val="108000"/>
              </a:lnSpc>
              <a:spcBef>
                <a:spcPts val="0"/>
              </a:spcBef>
              <a:spcAft>
                <a:spcPts val="1500"/>
              </a:spcAft>
            </a:pPr>
            <a:r>
              <a:rPr sz="1650" b="1">
                <a:solidFill>
                  <a:srgbClr val="FFD100"/>
                </a:solidFill>
                <a:latin typeface="Calibri"/>
              </a:rPr>
              <a:t>— </a:t>
            </a:r>
            <a:r>
              <a:rPr sz="1650" b="1">
                <a:solidFill>
                  <a:srgbClr val="1A1A1A"/>
                </a:solidFill>
                <a:latin typeface="Calibri"/>
              </a:rPr>
              <a:t>VLAs are the foundation-model recipe for robots. </a:t>
            </a:r>
            <a:r>
              <a:rPr sz="1650" b="0">
                <a:solidFill>
                  <a:srgbClr val="1A1A1A"/>
                </a:solidFill>
                <a:latin typeface="Calibri"/>
              </a:rPr>
              <a:t>One model maps camera + language instruction to robot actions.</a:t>
            </a:r>
          </a:p>
          <a:p>
            <a:pPr>
              <a:lnSpc>
                <a:spcPct val="108000"/>
              </a:lnSpc>
              <a:spcBef>
                <a:spcPts val="0"/>
              </a:spcBef>
              <a:spcAft>
                <a:spcPts val="1500"/>
              </a:spcAft>
            </a:pPr>
            <a:r>
              <a:rPr sz="1650" b="1">
                <a:solidFill>
                  <a:srgbClr val="FFD100"/>
                </a:solidFill>
                <a:latin typeface="Calibri"/>
              </a:rPr>
              <a:t>— </a:t>
            </a:r>
            <a:r>
              <a:rPr sz="1650" b="1">
                <a:solidFill>
                  <a:srgbClr val="1A1A1A"/>
                </a:solidFill>
                <a:latin typeface="Calibri"/>
              </a:rPr>
              <a:t>Deployment means fine-tuning. </a:t>
            </a:r>
            <a:r>
              <a:rPr sz="1650" b="0">
                <a:solidFill>
                  <a:srgbClr val="1A1A1A"/>
                </a:solidFill>
                <a:latin typeface="Calibri"/>
              </a:rPr>
              <a:t>A pretrained VLA is adapted with LoRA to a new task, robot, or scene.</a:t>
            </a:r>
          </a:p>
          <a:p>
            <a:pPr>
              <a:lnSpc>
                <a:spcPct val="108000"/>
              </a:lnSpc>
              <a:spcBef>
                <a:spcPts val="0"/>
              </a:spcBef>
              <a:spcAft>
                <a:spcPts val="1500"/>
              </a:spcAft>
            </a:pPr>
            <a:r>
              <a:rPr sz="1650" b="1">
                <a:solidFill>
                  <a:srgbClr val="FFD100"/>
                </a:solidFill>
                <a:latin typeface="Calibri"/>
              </a:rPr>
              <a:t>— </a:t>
            </a:r>
            <a:r>
              <a:rPr sz="1650" b="1">
                <a:solidFill>
                  <a:srgbClr val="1A1A1A"/>
                </a:solidFill>
                <a:latin typeface="Calibri"/>
              </a:rPr>
              <a:t>Training is stopped by a fixed budget. </a:t>
            </a:r>
            <a:r>
              <a:rPr sz="1650" b="0">
                <a:solidFill>
                  <a:srgbClr val="1A1A1A"/>
                </a:solidFill>
                <a:latin typeface="Calibri"/>
              </a:rPr>
              <a:t>Many current VLAs are trained for a preset number of steps, with no validation-based stopping rule.</a:t>
            </a:r>
          </a:p>
          <a:p>
            <a:pPr>
              <a:lnSpc>
                <a:spcPct val="108000"/>
              </a:lnSpc>
              <a:spcBef>
                <a:spcPts val="0"/>
              </a:spcBef>
              <a:spcAft>
                <a:spcPts val="1500"/>
              </a:spcAft>
            </a:pPr>
            <a:r>
              <a:rPr sz="1650" b="1">
                <a:solidFill>
                  <a:srgbClr val="FFD100"/>
                </a:solidFill>
                <a:latin typeface="Calibri"/>
              </a:rPr>
              <a:t>— </a:t>
            </a:r>
            <a:r>
              <a:rPr sz="1650" b="1">
                <a:solidFill>
                  <a:srgbClr val="1A1A1A"/>
                </a:solidFill>
                <a:latin typeface="Calibri"/>
              </a:rPr>
              <a:t>But the optimum is not fixed. </a:t>
            </a:r>
            <a:r>
              <a:rPr sz="1650" b="0">
                <a:solidFill>
                  <a:srgbClr val="1A1A1A"/>
                </a:solidFill>
                <a:latin typeface="Calibri"/>
              </a:rPr>
              <a:t>It shifts with dataset size, learning rate, and batch size: too long overfits, too short underfits.</a:t>
            </a:r>
          </a:p>
        </p:txBody>
      </p:sp>
      <p:sp>
        <p:nvSpPr>
          <p:cNvPr id="10" name="Rectangle 9"/>
          <p:cNvSpPr/>
          <p:nvPr/>
        </p:nvSpPr>
        <p:spPr>
          <a:xfrm>
            <a:off x="6720840" y="1554480"/>
            <a:ext cx="4800600" cy="35661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554480"/>
            <a:ext cx="91440" cy="356616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783080"/>
            <a:ext cx="4297680" cy="457200"/>
          </a:xfrm>
          <a:prstGeom prst="rect">
            <a:avLst/>
          </a:prstGeom>
          <a:noFill/>
        </p:spPr>
        <p:txBody>
          <a:bodyPr wrap="square" anchor="t" lIns="0" rIns="0" tIns="0" bIns="0">
            <a:spAutoFit/>
          </a:bodyPr>
          <a:lstStyle/>
          <a:p>
            <a:pPr algn="l">
              <a:lnSpc>
                <a:spcPct val="106000"/>
              </a:lnSpc>
              <a:spcBef>
                <a:spcPts val="0"/>
              </a:spcBef>
              <a:spcAft>
                <a:spcPts val="0"/>
              </a:spcAft>
            </a:pPr>
            <a:r>
              <a:rPr sz="1700" b="1" i="0">
                <a:solidFill>
                  <a:srgbClr val="1A1A1A"/>
                </a:solidFill>
                <a:latin typeface="Calibri"/>
              </a:rPr>
              <a:t>The core tension</a:t>
            </a:r>
          </a:p>
        </p:txBody>
      </p:sp>
      <p:sp>
        <p:nvSpPr>
          <p:cNvPr id="13" name="TextBox 12"/>
          <p:cNvSpPr txBox="1"/>
          <p:nvPr/>
        </p:nvSpPr>
        <p:spPr>
          <a:xfrm>
            <a:off x="6995160" y="2331720"/>
            <a:ext cx="4343400" cy="2651760"/>
          </a:xfrm>
          <a:prstGeom prst="rect">
            <a:avLst/>
          </a:prstGeom>
          <a:noFill/>
        </p:spPr>
        <p:txBody>
          <a:bodyPr wrap="square" lIns="0" rIns="0" tIns="0" bIns="0">
            <a:spAutoFit/>
          </a:bodyPr>
          <a:lstStyle/>
          <a:p>
            <a:pPr>
              <a:lnSpc>
                <a:spcPct val="108000"/>
              </a:lnSpc>
              <a:spcBef>
                <a:spcPts val="0"/>
              </a:spcBef>
              <a:spcAft>
                <a:spcPts val="1300"/>
              </a:spcAft>
            </a:pPr>
            <a:r>
              <a:rPr sz="1500" b="1">
                <a:solidFill>
                  <a:srgbClr val="FFD100"/>
                </a:solidFill>
                <a:latin typeface="Calibri"/>
              </a:rPr>
              <a:t>— </a:t>
            </a:r>
            <a:r>
              <a:rPr sz="1500" b="1">
                <a:solidFill>
                  <a:srgbClr val="555555"/>
                </a:solidFill>
                <a:latin typeface="Calibri"/>
              </a:rPr>
              <a:t>Online success = what we ultimately want, </a:t>
            </a:r>
            <a:r>
              <a:rPr sz="1500" b="0">
                <a:solidFill>
                  <a:srgbClr val="555555"/>
                </a:solidFill>
                <a:latin typeface="Calibri"/>
              </a:rPr>
              <a:t>but a rollout per checkpoint is slow, high-variance, and can wear on hardware.</a:t>
            </a:r>
          </a:p>
          <a:p>
            <a:pPr>
              <a:lnSpc>
                <a:spcPct val="108000"/>
              </a:lnSpc>
              <a:spcBef>
                <a:spcPts val="0"/>
              </a:spcBef>
              <a:spcAft>
                <a:spcPts val="1300"/>
              </a:spcAft>
            </a:pPr>
            <a:r>
              <a:rPr sz="1500" b="1">
                <a:solidFill>
                  <a:srgbClr val="FFD100"/>
                </a:solidFill>
                <a:latin typeface="Calibri"/>
              </a:rPr>
              <a:t>— </a:t>
            </a:r>
            <a:r>
              <a:rPr sz="1500" b="1">
                <a:solidFill>
                  <a:srgbClr val="555555"/>
                </a:solidFill>
                <a:latin typeface="Calibri"/>
              </a:rPr>
              <a:t>Training loss = cheap, </a:t>
            </a:r>
            <a:r>
              <a:rPr sz="1500" b="0">
                <a:solidFill>
                  <a:srgbClr val="555555"/>
                </a:solidFill>
                <a:latin typeface="Calibri"/>
              </a:rPr>
              <a:t>but a poor proxy for closed-loop task success.</a:t>
            </a:r>
          </a:p>
          <a:p>
            <a:pPr>
              <a:lnSpc>
                <a:spcPct val="108000"/>
              </a:lnSpc>
              <a:spcBef>
                <a:spcPts val="0"/>
              </a:spcBef>
              <a:spcAft>
                <a:spcPts val="1300"/>
              </a:spcAft>
            </a:pPr>
            <a:r>
              <a:rPr sz="1500" b="1">
                <a:solidFill>
                  <a:srgbClr val="FFD100"/>
                </a:solidFill>
                <a:latin typeface="Calibri"/>
              </a:rPr>
              <a:t>— </a:t>
            </a:r>
            <a:r>
              <a:rPr sz="1500" b="1">
                <a:solidFill>
                  <a:srgbClr val="555555"/>
                </a:solidFill>
                <a:latin typeface="Calibri"/>
              </a:rPr>
              <a:t>We need a middle ground: </a:t>
            </a:r>
            <a:r>
              <a:rPr sz="1500" b="0">
                <a:solidFill>
                  <a:srgbClr val="555555"/>
                </a:solidFill>
                <a:latin typeface="Calibri"/>
              </a:rPr>
              <a:t>an offline signal, computed every checkpoint, that predicts success.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THE PROBLEM</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Why training loss is a limited stopping signal</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3</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600200"/>
            <a:ext cx="3529584" cy="33832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00200"/>
            <a:ext cx="3529584" cy="128016"/>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3072384" cy="9144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006FB9"/>
                </a:solidFill>
                <a:latin typeface="Calibri"/>
              </a:rPr>
              <a:t>Teacher-forced, per-step</a:t>
            </a:r>
          </a:p>
        </p:txBody>
      </p:sp>
      <p:sp>
        <p:nvSpPr>
          <p:cNvPr id="12" name="TextBox 11"/>
          <p:cNvSpPr txBox="1"/>
          <p:nvPr/>
        </p:nvSpPr>
        <p:spPr>
          <a:xfrm>
            <a:off x="960120" y="2834640"/>
            <a:ext cx="3072384" cy="2011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Loss is computed on ground-truth context, one timestep at a time. It never sees a rolled-out trajectory, so it can miss compounding error.</a:t>
            </a:r>
          </a:p>
        </p:txBody>
      </p:sp>
      <p:sp>
        <p:nvSpPr>
          <p:cNvPr id="13" name="Rectangle 12"/>
          <p:cNvSpPr/>
          <p:nvPr/>
        </p:nvSpPr>
        <p:spPr>
          <a:xfrm>
            <a:off x="4535424" y="1600200"/>
            <a:ext cx="3529584" cy="33832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35424" y="1600200"/>
            <a:ext cx="3529584" cy="128016"/>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64024" y="1920240"/>
            <a:ext cx="3072384" cy="9144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C02A2A"/>
                </a:solidFill>
                <a:latin typeface="Calibri"/>
              </a:rPr>
              <a:t>Weakly aligned with success</a:t>
            </a:r>
          </a:p>
        </p:txBody>
      </p:sp>
      <p:sp>
        <p:nvSpPr>
          <p:cNvPr id="16" name="TextBox 15"/>
          <p:cNvSpPr txBox="1"/>
          <p:nvPr/>
        </p:nvSpPr>
        <p:spPr>
          <a:xfrm>
            <a:off x="4764024" y="2834640"/>
            <a:ext cx="3072384" cy="2011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In behaviour cloning, validation loss often correlates only weakly with closed-loop success, so the loss-minimising checkpoint need not be the success-maximising one.</a:t>
            </a:r>
          </a:p>
        </p:txBody>
      </p:sp>
      <p:sp>
        <p:nvSpPr>
          <p:cNvPr id="17" name="Rectangle 16"/>
          <p:cNvSpPr/>
          <p:nvPr/>
        </p:nvSpPr>
        <p:spPr>
          <a:xfrm>
            <a:off x="8339328" y="1600200"/>
            <a:ext cx="3529584" cy="33832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39328" y="1600200"/>
            <a:ext cx="3529584" cy="128016"/>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7928" y="1920240"/>
            <a:ext cx="3072384" cy="9144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1B8A4A"/>
                </a:solidFill>
                <a:latin typeface="Calibri"/>
              </a:rPr>
              <a:t>Averaging hides structure</a:t>
            </a:r>
          </a:p>
        </p:txBody>
      </p:sp>
      <p:sp>
        <p:nvSpPr>
          <p:cNvPr id="20" name="TextBox 19"/>
          <p:cNvSpPr txBox="1"/>
          <p:nvPr/>
        </p:nvSpPr>
        <p:spPr>
          <a:xfrm>
            <a:off x="8567928" y="2834640"/>
            <a:ext cx="3072384" cy="2011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A scalar mean of per-step errors does not distinguish a smooth-but-lagged motion from a jittery-but-timed one — errors of shape vs. phase.</a:t>
            </a:r>
          </a:p>
        </p:txBody>
      </p:sp>
      <p:sp>
        <p:nvSpPr>
          <p:cNvPr id="21" name="TextBox 20"/>
          <p:cNvSpPr txBox="1"/>
          <p:nvPr/>
        </p:nvSpPr>
        <p:spPr>
          <a:xfrm>
            <a:off x="731520" y="5349240"/>
            <a:ext cx="10789920" cy="914400"/>
          </a:xfrm>
          <a:prstGeom prst="rect">
            <a:avLst/>
          </a:prstGeom>
          <a:noFill/>
        </p:spPr>
        <p:txBody>
          <a:bodyPr wrap="square" anchor="t" lIns="0" rIns="0" tIns="0" bIns="0">
            <a:spAutoFit/>
          </a:bodyPr>
          <a:lstStyle/>
          <a:p>
            <a:pPr algn="l">
              <a:lnSpc>
                <a:spcPct val="110000"/>
              </a:lnSpc>
              <a:spcBef>
                <a:spcPts val="0"/>
              </a:spcBef>
              <a:spcAft>
                <a:spcPts val="0"/>
              </a:spcAft>
            </a:pPr>
            <a:r>
              <a:rPr sz="1600" b="1" i="0">
                <a:solidFill>
                  <a:srgbClr val="1A1A1A"/>
                </a:solidFill>
                <a:latin typeface="Calibri"/>
              </a:rPr>
              <a:t>Consequence  </a:t>
            </a:r>
            <a:r>
              <a:rPr sz="1600" b="0" i="0">
                <a:solidFill>
                  <a:srgbClr val="555555"/>
                </a:solidFill>
                <a:latin typeface="Calibri"/>
              </a:rPr>
              <a:t>— early stopping on loss can pick a checkpoint that is worse in the sense that matters most at deployment: closed-loop success. This thesis measures that cost directly as </a:t>
            </a:r>
            <a:r>
              <a:rPr sz="1600" b="1" i="0">
                <a:solidFill>
                  <a:srgbClr val="006FB9"/>
                </a:solidFill>
                <a:latin typeface="Calibri"/>
              </a:rPr>
              <a:t>selection regret.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PROPOSED IDEA</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Compare whole trajectories, not single steps</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4</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TextBox 8"/>
          <p:cNvSpPr txBox="1"/>
          <p:nvPr/>
        </p:nvSpPr>
        <p:spPr>
          <a:xfrm>
            <a:off x="731520" y="1325880"/>
            <a:ext cx="10698480" cy="685800"/>
          </a:xfrm>
          <a:prstGeom prst="rect">
            <a:avLst/>
          </a:prstGeom>
          <a:noFill/>
        </p:spPr>
        <p:txBody>
          <a:bodyPr wrap="square" anchor="t" lIns="0" rIns="0" tIns="0" bIns="0">
            <a:spAutoFit/>
          </a:bodyPr>
          <a:lstStyle/>
          <a:p>
            <a:pPr algn="l">
              <a:lnSpc>
                <a:spcPct val="112000"/>
              </a:lnSpc>
              <a:spcBef>
                <a:spcPts val="0"/>
              </a:spcBef>
              <a:spcAft>
                <a:spcPts val="0"/>
              </a:spcAft>
            </a:pPr>
            <a:r>
              <a:rPr sz="1700" b="0" i="0">
                <a:solidFill>
                  <a:srgbClr val="1A1A1A"/>
                </a:solidFill>
                <a:latin typeface="Calibri"/>
              </a:rPr>
              <a:t>Chunking VLAs predict a short </a:t>
            </a:r>
            <a:r>
              <a:rPr sz="1700" b="1" i="0">
                <a:solidFill>
                  <a:srgbClr val="006FB9"/>
                </a:solidFill>
                <a:latin typeface="Calibri"/>
              </a:rPr>
              <a:t>sequence</a:t>
            </a:r>
            <a:r>
              <a:rPr sz="1700" b="0" i="0">
                <a:solidFill>
                  <a:srgbClr val="1A1A1A"/>
                </a:solidFill>
                <a:latin typeface="Calibri"/>
              </a:rPr>
              <a:t> of future actions. That makes the unit of comparison a </a:t>
            </a:r>
            <a:r>
              <a:rPr sz="1700" b="1" i="0">
                <a:solidFill>
                  <a:srgbClr val="006FB9"/>
                </a:solidFill>
                <a:latin typeface="Calibri"/>
              </a:rPr>
              <a:t>trajectory segment</a:t>
            </a:r>
            <a:r>
              <a:rPr sz="1700" b="0" i="0">
                <a:solidFill>
                  <a:srgbClr val="1A1A1A"/>
                </a:solidFill>
                <a:latin typeface="Calibri"/>
              </a:rPr>
              <a:t> — so geometric, sequence-level similarity to the expert becomes measurable.</a:t>
            </a:r>
          </a:p>
        </p:txBody>
      </p:sp>
      <p:sp>
        <p:nvSpPr>
          <p:cNvPr id="10" name="Rectangle 9"/>
          <p:cNvSpPr/>
          <p:nvPr/>
        </p:nvSpPr>
        <p:spPr>
          <a:xfrm>
            <a:off x="731520" y="2423160"/>
            <a:ext cx="2615184" cy="2697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423160"/>
            <a:ext cx="2615184" cy="566928"/>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615184" cy="411480"/>
          </a:xfrm>
          <a:prstGeom prst="rect">
            <a:avLst/>
          </a:prstGeom>
          <a:noFill/>
        </p:spPr>
        <p:txBody>
          <a:bodyPr wrap="square" anchor="t" lIns="0" rIns="0" tIns="0" bIns="0">
            <a:spAutoFit/>
          </a:bodyPr>
          <a:lstStyle/>
          <a:p>
            <a:pPr algn="ctr">
              <a:lnSpc>
                <a:spcPct val="106000"/>
              </a:lnSpc>
              <a:spcBef>
                <a:spcPts val="0"/>
              </a:spcBef>
              <a:spcAft>
                <a:spcPts val="0"/>
              </a:spcAft>
            </a:pPr>
            <a:r>
              <a:rPr sz="2100" b="1" i="0">
                <a:solidFill>
                  <a:srgbClr val="FFFFFF"/>
                </a:solidFill>
                <a:latin typeface="Calibri"/>
              </a:rPr>
              <a:t>DTW</a:t>
            </a:r>
          </a:p>
        </p:txBody>
      </p:sp>
      <p:sp>
        <p:nvSpPr>
          <p:cNvPr id="13" name="TextBox 12"/>
          <p:cNvSpPr txBox="1"/>
          <p:nvPr/>
        </p:nvSpPr>
        <p:spPr>
          <a:xfrm>
            <a:off x="914400" y="3136392"/>
            <a:ext cx="2249424" cy="457200"/>
          </a:xfrm>
          <a:prstGeom prst="rect">
            <a:avLst/>
          </a:prstGeom>
          <a:noFill/>
        </p:spPr>
        <p:txBody>
          <a:bodyPr wrap="square" anchor="t" lIns="0" rIns="0" tIns="0" bIns="0">
            <a:spAutoFit/>
          </a:bodyPr>
          <a:lstStyle/>
          <a:p>
            <a:pPr algn="ctr">
              <a:lnSpc>
                <a:spcPct val="106000"/>
              </a:lnSpc>
              <a:spcBef>
                <a:spcPts val="0"/>
              </a:spcBef>
              <a:spcAft>
                <a:spcPts val="0"/>
              </a:spcAft>
            </a:pPr>
            <a:r>
              <a:rPr sz="1350" b="1" i="0">
                <a:solidFill>
                  <a:srgbClr val="1A1A1A"/>
                </a:solidFill>
                <a:latin typeface="Calibri"/>
              </a:rPr>
              <a:t>Dynamic Time Warping</a:t>
            </a:r>
          </a:p>
        </p:txBody>
      </p:sp>
      <p:sp>
        <p:nvSpPr>
          <p:cNvPr id="14" name="TextBox 13"/>
          <p:cNvSpPr txBox="1"/>
          <p:nvPr/>
        </p:nvSpPr>
        <p:spPr>
          <a:xfrm>
            <a:off x="914400" y="3611880"/>
            <a:ext cx="2249424" cy="1463040"/>
          </a:xfrm>
          <a:prstGeom prst="rect">
            <a:avLst/>
          </a:prstGeom>
          <a:noFill/>
        </p:spPr>
        <p:txBody>
          <a:bodyPr wrap="square" anchor="t" lIns="0" rIns="0" tIns="0" bIns="0">
            <a:spAutoFit/>
          </a:bodyPr>
          <a:lstStyle/>
          <a:p>
            <a:pPr algn="ctr">
              <a:lnSpc>
                <a:spcPct val="108000"/>
              </a:lnSpc>
              <a:spcBef>
                <a:spcPts val="0"/>
              </a:spcBef>
              <a:spcAft>
                <a:spcPts val="0"/>
              </a:spcAft>
            </a:pPr>
            <a:r>
              <a:rPr sz="1250" b="0" i="0">
                <a:solidFill>
                  <a:srgbClr val="555555"/>
                </a:solidFill>
                <a:latin typeface="Calibri"/>
              </a:rPr>
              <a:t>Aligns two sequences in time. Tolerant of pace / phase lag — forgives a correct shape run slightly fast or slow.</a:t>
            </a:r>
          </a:p>
        </p:txBody>
      </p:sp>
      <p:sp>
        <p:nvSpPr>
          <p:cNvPr id="15" name="Rectangle 14"/>
          <p:cNvSpPr/>
          <p:nvPr/>
        </p:nvSpPr>
        <p:spPr>
          <a:xfrm>
            <a:off x="3520440" y="2423160"/>
            <a:ext cx="2615184" cy="2697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0440" y="2423160"/>
            <a:ext cx="2615184" cy="566928"/>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2505456"/>
            <a:ext cx="2615184" cy="411480"/>
          </a:xfrm>
          <a:prstGeom prst="rect">
            <a:avLst/>
          </a:prstGeom>
          <a:noFill/>
        </p:spPr>
        <p:txBody>
          <a:bodyPr wrap="square" anchor="t" lIns="0" rIns="0" tIns="0" bIns="0">
            <a:spAutoFit/>
          </a:bodyPr>
          <a:lstStyle/>
          <a:p>
            <a:pPr algn="ctr">
              <a:lnSpc>
                <a:spcPct val="106000"/>
              </a:lnSpc>
              <a:spcBef>
                <a:spcPts val="0"/>
              </a:spcBef>
              <a:spcAft>
                <a:spcPts val="0"/>
              </a:spcAft>
            </a:pPr>
            <a:r>
              <a:rPr sz="2100" b="1" i="0">
                <a:solidFill>
                  <a:srgbClr val="FFFFFF"/>
                </a:solidFill>
                <a:latin typeface="Calibri"/>
              </a:rPr>
              <a:t>OT</a:t>
            </a:r>
          </a:p>
        </p:txBody>
      </p:sp>
      <p:sp>
        <p:nvSpPr>
          <p:cNvPr id="18" name="TextBox 17"/>
          <p:cNvSpPr txBox="1"/>
          <p:nvPr/>
        </p:nvSpPr>
        <p:spPr>
          <a:xfrm>
            <a:off x="3703320" y="3136392"/>
            <a:ext cx="2249424" cy="457200"/>
          </a:xfrm>
          <a:prstGeom prst="rect">
            <a:avLst/>
          </a:prstGeom>
          <a:noFill/>
        </p:spPr>
        <p:txBody>
          <a:bodyPr wrap="square" anchor="t" lIns="0" rIns="0" tIns="0" bIns="0">
            <a:spAutoFit/>
          </a:bodyPr>
          <a:lstStyle/>
          <a:p>
            <a:pPr algn="ctr">
              <a:lnSpc>
                <a:spcPct val="106000"/>
              </a:lnSpc>
              <a:spcBef>
                <a:spcPts val="0"/>
              </a:spcBef>
              <a:spcAft>
                <a:spcPts val="0"/>
              </a:spcAft>
            </a:pPr>
            <a:r>
              <a:rPr sz="1350" b="1" i="0">
                <a:solidFill>
                  <a:srgbClr val="1A1A1A"/>
                </a:solidFill>
                <a:latin typeface="Calibri"/>
              </a:rPr>
              <a:t>Optimal Transport</a:t>
            </a:r>
          </a:p>
        </p:txBody>
      </p:sp>
      <p:sp>
        <p:nvSpPr>
          <p:cNvPr id="19" name="TextBox 18"/>
          <p:cNvSpPr txBox="1"/>
          <p:nvPr/>
        </p:nvSpPr>
        <p:spPr>
          <a:xfrm>
            <a:off x="3703320" y="3611880"/>
            <a:ext cx="2249424" cy="1463040"/>
          </a:xfrm>
          <a:prstGeom prst="rect">
            <a:avLst/>
          </a:prstGeom>
          <a:noFill/>
        </p:spPr>
        <p:txBody>
          <a:bodyPr wrap="square" anchor="t" lIns="0" rIns="0" tIns="0" bIns="0">
            <a:spAutoFit/>
          </a:bodyPr>
          <a:lstStyle/>
          <a:p>
            <a:pPr algn="ctr">
              <a:lnSpc>
                <a:spcPct val="108000"/>
              </a:lnSpc>
              <a:spcBef>
                <a:spcPts val="0"/>
              </a:spcBef>
              <a:spcAft>
                <a:spcPts val="0"/>
              </a:spcAft>
            </a:pPr>
            <a:r>
              <a:rPr sz="1250" b="0" i="0">
                <a:solidFill>
                  <a:srgbClr val="555555"/>
                </a:solidFill>
                <a:latin typeface="Calibri"/>
              </a:rPr>
              <a:t>Matches sequences as distributions of waypoints (entropic Sinkhorn). Geometry-aware and a true metric.</a:t>
            </a:r>
          </a:p>
        </p:txBody>
      </p:sp>
      <p:sp>
        <p:nvSpPr>
          <p:cNvPr id="20" name="Rectangle 19"/>
          <p:cNvSpPr/>
          <p:nvPr/>
        </p:nvSpPr>
        <p:spPr>
          <a:xfrm>
            <a:off x="6309360" y="2423160"/>
            <a:ext cx="2615184" cy="2697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423160"/>
            <a:ext cx="2615184" cy="566928"/>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505456"/>
            <a:ext cx="2615184" cy="411480"/>
          </a:xfrm>
          <a:prstGeom prst="rect">
            <a:avLst/>
          </a:prstGeom>
          <a:noFill/>
        </p:spPr>
        <p:txBody>
          <a:bodyPr wrap="square" anchor="t" lIns="0" rIns="0" tIns="0" bIns="0">
            <a:spAutoFit/>
          </a:bodyPr>
          <a:lstStyle/>
          <a:p>
            <a:pPr algn="ctr">
              <a:lnSpc>
                <a:spcPct val="106000"/>
              </a:lnSpc>
              <a:spcBef>
                <a:spcPts val="0"/>
              </a:spcBef>
              <a:spcAft>
                <a:spcPts val="0"/>
              </a:spcAft>
            </a:pPr>
            <a:r>
              <a:rPr sz="2100" b="1" i="0">
                <a:solidFill>
                  <a:srgbClr val="FFFFFF"/>
                </a:solidFill>
                <a:latin typeface="Calibri"/>
              </a:rPr>
              <a:t>COS</a:t>
            </a:r>
          </a:p>
        </p:txBody>
      </p:sp>
      <p:sp>
        <p:nvSpPr>
          <p:cNvPr id="23" name="TextBox 22"/>
          <p:cNvSpPr txBox="1"/>
          <p:nvPr/>
        </p:nvSpPr>
        <p:spPr>
          <a:xfrm>
            <a:off x="6492240" y="3136392"/>
            <a:ext cx="2249424" cy="457200"/>
          </a:xfrm>
          <a:prstGeom prst="rect">
            <a:avLst/>
          </a:prstGeom>
          <a:noFill/>
        </p:spPr>
        <p:txBody>
          <a:bodyPr wrap="square" anchor="t" lIns="0" rIns="0" tIns="0" bIns="0">
            <a:spAutoFit/>
          </a:bodyPr>
          <a:lstStyle/>
          <a:p>
            <a:pPr algn="ctr">
              <a:lnSpc>
                <a:spcPct val="106000"/>
              </a:lnSpc>
              <a:spcBef>
                <a:spcPts val="0"/>
              </a:spcBef>
              <a:spcAft>
                <a:spcPts val="0"/>
              </a:spcAft>
            </a:pPr>
            <a:r>
              <a:rPr sz="1350" b="1" i="0">
                <a:solidFill>
                  <a:srgbClr val="1A1A1A"/>
                </a:solidFill>
                <a:latin typeface="Calibri"/>
              </a:rPr>
              <a:t>Cosine distance</a:t>
            </a:r>
          </a:p>
        </p:txBody>
      </p:sp>
      <p:sp>
        <p:nvSpPr>
          <p:cNvPr id="24" name="TextBox 23"/>
          <p:cNvSpPr txBox="1"/>
          <p:nvPr/>
        </p:nvSpPr>
        <p:spPr>
          <a:xfrm>
            <a:off x="6492240" y="3611880"/>
            <a:ext cx="2249424" cy="1463040"/>
          </a:xfrm>
          <a:prstGeom prst="rect">
            <a:avLst/>
          </a:prstGeom>
          <a:noFill/>
        </p:spPr>
        <p:txBody>
          <a:bodyPr wrap="square" anchor="t" lIns="0" rIns="0" tIns="0" bIns="0">
            <a:spAutoFit/>
          </a:bodyPr>
          <a:lstStyle/>
          <a:p>
            <a:pPr algn="ctr">
              <a:lnSpc>
                <a:spcPct val="108000"/>
              </a:lnSpc>
              <a:spcBef>
                <a:spcPts val="0"/>
              </a:spcBef>
              <a:spcAft>
                <a:spcPts val="0"/>
              </a:spcAft>
            </a:pPr>
            <a:r>
              <a:rPr sz="1250" b="0" i="0">
                <a:solidFill>
                  <a:srgbClr val="555555"/>
                </a:solidFill>
                <a:latin typeface="Calibri"/>
              </a:rPr>
              <a:t>Per-step direction agreement, magnitude-blind. Cheap; used alongside, never alone.</a:t>
            </a:r>
          </a:p>
        </p:txBody>
      </p:sp>
      <p:sp>
        <p:nvSpPr>
          <p:cNvPr id="25" name="Rectangle 24"/>
          <p:cNvSpPr/>
          <p:nvPr/>
        </p:nvSpPr>
        <p:spPr>
          <a:xfrm>
            <a:off x="9098280" y="2423160"/>
            <a:ext cx="2615184" cy="2697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2423160"/>
            <a:ext cx="2615184" cy="566928"/>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2505456"/>
            <a:ext cx="2615184" cy="411480"/>
          </a:xfrm>
          <a:prstGeom prst="rect">
            <a:avLst/>
          </a:prstGeom>
          <a:noFill/>
        </p:spPr>
        <p:txBody>
          <a:bodyPr wrap="square" anchor="t" lIns="0" rIns="0" tIns="0" bIns="0">
            <a:spAutoFit/>
          </a:bodyPr>
          <a:lstStyle/>
          <a:p>
            <a:pPr algn="ctr">
              <a:lnSpc>
                <a:spcPct val="106000"/>
              </a:lnSpc>
              <a:spcBef>
                <a:spcPts val="0"/>
              </a:spcBef>
              <a:spcAft>
                <a:spcPts val="0"/>
              </a:spcAft>
            </a:pPr>
            <a:r>
              <a:rPr sz="2100" b="1" i="0">
                <a:solidFill>
                  <a:srgbClr val="FFFFFF"/>
                </a:solidFill>
                <a:latin typeface="Calibri"/>
              </a:rPr>
              <a:t>NLL</a:t>
            </a:r>
          </a:p>
        </p:txBody>
      </p:sp>
      <p:sp>
        <p:nvSpPr>
          <p:cNvPr id="28" name="TextBox 27"/>
          <p:cNvSpPr txBox="1"/>
          <p:nvPr/>
        </p:nvSpPr>
        <p:spPr>
          <a:xfrm>
            <a:off x="9281160" y="3136392"/>
            <a:ext cx="2249424" cy="457200"/>
          </a:xfrm>
          <a:prstGeom prst="rect">
            <a:avLst/>
          </a:prstGeom>
          <a:noFill/>
        </p:spPr>
        <p:txBody>
          <a:bodyPr wrap="square" anchor="t" lIns="0" rIns="0" tIns="0" bIns="0">
            <a:spAutoFit/>
          </a:bodyPr>
          <a:lstStyle/>
          <a:p>
            <a:pPr algn="ctr">
              <a:lnSpc>
                <a:spcPct val="106000"/>
              </a:lnSpc>
              <a:spcBef>
                <a:spcPts val="0"/>
              </a:spcBef>
              <a:spcAft>
                <a:spcPts val="0"/>
              </a:spcAft>
            </a:pPr>
            <a:r>
              <a:rPr sz="1350" b="1" i="0">
                <a:solidFill>
                  <a:srgbClr val="1A1A1A"/>
                </a:solidFill>
                <a:latin typeface="Calibri"/>
              </a:rPr>
              <a:t>Likelihood surrogate</a:t>
            </a:r>
          </a:p>
        </p:txBody>
      </p:sp>
      <p:sp>
        <p:nvSpPr>
          <p:cNvPr id="29" name="TextBox 28"/>
          <p:cNvSpPr txBox="1"/>
          <p:nvPr/>
        </p:nvSpPr>
        <p:spPr>
          <a:xfrm>
            <a:off x="9281160" y="3611880"/>
            <a:ext cx="2249424" cy="1463040"/>
          </a:xfrm>
          <a:prstGeom prst="rect">
            <a:avLst/>
          </a:prstGeom>
          <a:noFill/>
        </p:spPr>
        <p:txBody>
          <a:bodyPr wrap="square" anchor="t" lIns="0" rIns="0" tIns="0" bIns="0">
            <a:spAutoFit/>
          </a:bodyPr>
          <a:lstStyle/>
          <a:p>
            <a:pPr algn="ctr">
              <a:lnSpc>
                <a:spcPct val="108000"/>
              </a:lnSpc>
              <a:spcBef>
                <a:spcPts val="0"/>
              </a:spcBef>
              <a:spcAft>
                <a:spcPts val="0"/>
              </a:spcAft>
            </a:pPr>
            <a:r>
              <a:rPr sz="1250" b="0" i="0">
                <a:solidFill>
                  <a:srgbClr val="555555"/>
                </a:solidFill>
                <a:latin typeface="Calibri"/>
              </a:rPr>
              <a:t>Token NLL for discrete policies; the flow-matching / L1–L2 loss stands in for continuous ones.</a:t>
            </a:r>
          </a:p>
        </p:txBody>
      </p:sp>
      <p:sp>
        <p:nvSpPr>
          <p:cNvPr id="30" name="TextBox 29"/>
          <p:cNvSpPr txBox="1"/>
          <p:nvPr/>
        </p:nvSpPr>
        <p:spPr>
          <a:xfrm>
            <a:off x="731520" y="5440680"/>
            <a:ext cx="10789920" cy="731520"/>
          </a:xfrm>
          <a:prstGeom prst="rect">
            <a:avLst/>
          </a:prstGeom>
          <a:noFill/>
        </p:spPr>
        <p:txBody>
          <a:bodyPr wrap="square" anchor="t" lIns="0" rIns="0" tIns="0" bIns="0">
            <a:spAutoFit/>
          </a:bodyPr>
          <a:lstStyle/>
          <a:p>
            <a:pPr algn="l">
              <a:lnSpc>
                <a:spcPct val="110000"/>
              </a:lnSpc>
              <a:spcBef>
                <a:spcPts val="0"/>
              </a:spcBef>
              <a:spcAft>
                <a:spcPts val="0"/>
              </a:spcAft>
            </a:pPr>
            <a:r>
              <a:rPr sz="1500" b="0" i="0">
                <a:solidFill>
                  <a:srgbClr val="555555"/>
                </a:solidFill>
                <a:latin typeface="Calibri"/>
              </a:rPr>
              <a:t>All metrics normalised per action dimension, </a:t>
            </a:r>
            <a:r>
              <a:rPr sz="1500" b="1" i="0">
                <a:solidFill>
                  <a:srgbClr val="1A1A1A"/>
                </a:solidFill>
                <a:latin typeface="Calibri"/>
              </a:rPr>
              <a:t>lower = better</a:t>
            </a:r>
            <a:r>
              <a:rPr sz="1500" b="0" i="0">
                <a:solidFill>
                  <a:srgbClr val="555555"/>
                </a:solidFill>
                <a:latin typeface="Calibri"/>
              </a:rPr>
              <a:t>. L1 / L2 per-step distances serve as the baseline against which the geometric metrics are tested.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METHOD</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The pipeline: score → select → judge</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5</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554480"/>
            <a:ext cx="10698480" cy="1170432"/>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54480"/>
            <a:ext cx="1170432" cy="1170432"/>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1170432" cy="640080"/>
          </a:xfrm>
          <a:prstGeom prst="rect">
            <a:avLst/>
          </a:prstGeom>
          <a:noFill/>
        </p:spPr>
        <p:txBody>
          <a:bodyPr wrap="square" anchor="t" lIns="0" rIns="0" tIns="0" bIns="0">
            <a:spAutoFit/>
          </a:bodyPr>
          <a:lstStyle/>
          <a:p>
            <a:pPr algn="ctr">
              <a:lnSpc>
                <a:spcPct val="106000"/>
              </a:lnSpc>
              <a:spcBef>
                <a:spcPts val="0"/>
              </a:spcBef>
              <a:spcAft>
                <a:spcPts val="0"/>
              </a:spcAft>
            </a:pPr>
            <a:r>
              <a:rPr sz="3400" b="1" i="0">
                <a:solidFill>
                  <a:srgbClr val="FFFFFF"/>
                </a:solidFill>
                <a:latin typeface="Calibri"/>
              </a:rPr>
              <a:t>1</a:t>
            </a:r>
          </a:p>
        </p:txBody>
      </p:sp>
      <p:sp>
        <p:nvSpPr>
          <p:cNvPr id="12" name="TextBox 11"/>
          <p:cNvSpPr txBox="1"/>
          <p:nvPr/>
        </p:nvSpPr>
        <p:spPr>
          <a:xfrm>
            <a:off x="2194560" y="1737360"/>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1A1A1A"/>
                </a:solidFill>
                <a:latin typeface="Calibri"/>
              </a:rPr>
              <a:t>Score every checkpoint</a:t>
            </a:r>
          </a:p>
        </p:txBody>
      </p:sp>
      <p:sp>
        <p:nvSpPr>
          <p:cNvPr id="13" name="TextBox 12"/>
          <p:cNvSpPr txBox="1"/>
          <p:nvPr/>
        </p:nvSpPr>
        <p:spPr>
          <a:xfrm>
            <a:off x="2194560" y="2176272"/>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450" b="0" i="0">
                <a:solidFill>
                  <a:srgbClr val="555555"/>
                </a:solidFill>
                <a:latin typeface="Calibri"/>
              </a:rPr>
              <a:t>On held-out expert data, compute the trajectory metric  m̄(k)  for each saved checkpoint.</a:t>
            </a:r>
          </a:p>
        </p:txBody>
      </p:sp>
      <p:sp>
        <p:nvSpPr>
          <p:cNvPr id="14" name="Rectangle 13"/>
          <p:cNvSpPr/>
          <p:nvPr/>
        </p:nvSpPr>
        <p:spPr>
          <a:xfrm>
            <a:off x="731520" y="2980944"/>
            <a:ext cx="10698480" cy="1170432"/>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980944"/>
            <a:ext cx="1170432" cy="1170432"/>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255264"/>
            <a:ext cx="1170432" cy="640080"/>
          </a:xfrm>
          <a:prstGeom prst="rect">
            <a:avLst/>
          </a:prstGeom>
          <a:noFill/>
        </p:spPr>
        <p:txBody>
          <a:bodyPr wrap="square" anchor="t" lIns="0" rIns="0" tIns="0" bIns="0">
            <a:spAutoFit/>
          </a:bodyPr>
          <a:lstStyle/>
          <a:p>
            <a:pPr algn="ctr">
              <a:lnSpc>
                <a:spcPct val="106000"/>
              </a:lnSpc>
              <a:spcBef>
                <a:spcPts val="0"/>
              </a:spcBef>
              <a:spcAft>
                <a:spcPts val="0"/>
              </a:spcAft>
            </a:pPr>
            <a:r>
              <a:rPr sz="3400" b="1" i="0">
                <a:solidFill>
                  <a:srgbClr val="FFFFFF"/>
                </a:solidFill>
                <a:latin typeface="Calibri"/>
              </a:rPr>
              <a:t>2</a:t>
            </a:r>
          </a:p>
        </p:txBody>
      </p:sp>
      <p:sp>
        <p:nvSpPr>
          <p:cNvPr id="17" name="TextBox 16"/>
          <p:cNvSpPr txBox="1"/>
          <p:nvPr/>
        </p:nvSpPr>
        <p:spPr>
          <a:xfrm>
            <a:off x="2194560" y="3163824"/>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1A1A1A"/>
                </a:solidFill>
                <a:latin typeface="Calibri"/>
              </a:rPr>
              <a:t>Select one checkpoint</a:t>
            </a:r>
          </a:p>
        </p:txBody>
      </p:sp>
      <p:sp>
        <p:nvSpPr>
          <p:cNvPr id="18" name="TextBox 17"/>
          <p:cNvSpPr txBox="1"/>
          <p:nvPr/>
        </p:nvSpPr>
        <p:spPr>
          <a:xfrm>
            <a:off x="2194560" y="3602736"/>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450" b="0" i="0">
                <a:solidFill>
                  <a:srgbClr val="555555"/>
                </a:solidFill>
                <a:latin typeface="Calibri"/>
              </a:rPr>
              <a:t>Early-stopping rule: earliest checkpoint within 1% of the metric's best value  →  k*_m.</a:t>
            </a:r>
          </a:p>
        </p:txBody>
      </p:sp>
      <p:sp>
        <p:nvSpPr>
          <p:cNvPr id="19" name="Rectangle 18"/>
          <p:cNvSpPr/>
          <p:nvPr/>
        </p:nvSpPr>
        <p:spPr>
          <a:xfrm>
            <a:off x="731520" y="4407408"/>
            <a:ext cx="10698480" cy="1170432"/>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07408"/>
            <a:ext cx="1170432" cy="1170432"/>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681728"/>
            <a:ext cx="1170432" cy="640080"/>
          </a:xfrm>
          <a:prstGeom prst="rect">
            <a:avLst/>
          </a:prstGeom>
          <a:noFill/>
        </p:spPr>
        <p:txBody>
          <a:bodyPr wrap="square" anchor="t" lIns="0" rIns="0" tIns="0" bIns="0">
            <a:spAutoFit/>
          </a:bodyPr>
          <a:lstStyle/>
          <a:p>
            <a:pPr algn="ctr">
              <a:lnSpc>
                <a:spcPct val="106000"/>
              </a:lnSpc>
              <a:spcBef>
                <a:spcPts val="0"/>
              </a:spcBef>
              <a:spcAft>
                <a:spcPts val="0"/>
              </a:spcAft>
            </a:pPr>
            <a:r>
              <a:rPr sz="3400" b="1" i="0">
                <a:solidFill>
                  <a:srgbClr val="FFFFFF"/>
                </a:solidFill>
                <a:latin typeface="Calibri"/>
              </a:rPr>
              <a:t>3</a:t>
            </a:r>
          </a:p>
        </p:txBody>
      </p:sp>
      <p:sp>
        <p:nvSpPr>
          <p:cNvPr id="22" name="TextBox 21"/>
          <p:cNvSpPr txBox="1"/>
          <p:nvPr/>
        </p:nvSpPr>
        <p:spPr>
          <a:xfrm>
            <a:off x="2194560" y="4590288"/>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1A1A1A"/>
                </a:solidFill>
                <a:latin typeface="Calibri"/>
              </a:rPr>
              <a:t>Judge the metric</a:t>
            </a:r>
          </a:p>
        </p:txBody>
      </p:sp>
      <p:sp>
        <p:nvSpPr>
          <p:cNvPr id="23" name="TextBox 22"/>
          <p:cNvSpPr txBox="1"/>
          <p:nvPr/>
        </p:nvSpPr>
        <p:spPr>
          <a:xfrm>
            <a:off x="2194560" y="5029200"/>
            <a:ext cx="8869680" cy="457200"/>
          </a:xfrm>
          <a:prstGeom prst="rect">
            <a:avLst/>
          </a:prstGeom>
          <a:noFill/>
        </p:spPr>
        <p:txBody>
          <a:bodyPr wrap="square" anchor="t" lIns="0" rIns="0" tIns="0" bIns="0">
            <a:spAutoFit/>
          </a:bodyPr>
          <a:lstStyle/>
          <a:p>
            <a:pPr algn="l">
              <a:lnSpc>
                <a:spcPct val="106000"/>
              </a:lnSpc>
              <a:spcBef>
                <a:spcPts val="0"/>
              </a:spcBef>
              <a:spcAft>
                <a:spcPts val="0"/>
              </a:spcAft>
            </a:pPr>
            <a:r>
              <a:rPr sz="1450" b="0" i="0">
                <a:solidFill>
                  <a:srgbClr val="555555"/>
                </a:solidFill>
                <a:latin typeface="Calibri"/>
              </a:rPr>
              <a:t>Against true success Q(k):  Spearman ρ (rank agreement, +1 to −1) and selection regret (success forgone).</a:t>
            </a:r>
          </a:p>
        </p:txBody>
      </p:sp>
      <p:sp>
        <p:nvSpPr>
          <p:cNvPr id="24" name="TextBox 23"/>
          <p:cNvSpPr txBox="1"/>
          <p:nvPr/>
        </p:nvSpPr>
        <p:spPr>
          <a:xfrm>
            <a:off x="731520" y="5806440"/>
            <a:ext cx="10789920" cy="640080"/>
          </a:xfrm>
          <a:prstGeom prst="rect">
            <a:avLst/>
          </a:prstGeom>
          <a:noFill/>
        </p:spPr>
        <p:txBody>
          <a:bodyPr wrap="square" anchor="t" lIns="0" rIns="0" tIns="0" bIns="0">
            <a:spAutoFit/>
          </a:bodyPr>
          <a:lstStyle/>
          <a:p>
            <a:pPr algn="l">
              <a:lnSpc>
                <a:spcPct val="106000"/>
              </a:lnSpc>
              <a:spcBef>
                <a:spcPts val="0"/>
              </a:spcBef>
              <a:spcAft>
                <a:spcPts val="0"/>
              </a:spcAft>
            </a:pPr>
            <a:r>
              <a:rPr sz="1400" b="1" i="0">
                <a:solidFill>
                  <a:srgbClr val="1A1A1A"/>
                </a:solidFill>
                <a:latin typeface="Calibri"/>
              </a:rPr>
              <a:t>Selection rule:   </a:t>
            </a:r>
            <a:r>
              <a:rPr sz="1500" b="0" i="1">
                <a:solidFill>
                  <a:srgbClr val="006FB9"/>
                </a:solidFill>
                <a:latin typeface="Calibri"/>
              </a:rPr>
              <a:t>k*_m = min { k : m̄(k) ≤ min m̄ + η },   η = 0.01 · |m̄(0) − min m̄|</a:t>
            </a:r>
            <a:r>
              <a:rPr sz="1500" b="0" i="1">
                <a:solidFill>
                  <a:srgbClr val="555555"/>
                </a:solidFill>
                <a:latin typeface="Calibri"/>
              </a:rPr>
              <a:t>      Regret(m) = max_k Q(k) − Q(k*_m)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RESEARCH QUESTIONS</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Four questions, each a check on the last</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6</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508760"/>
            <a:ext cx="5257800" cy="19659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08760"/>
            <a:ext cx="109728" cy="1965960"/>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709928"/>
            <a:ext cx="4663440" cy="411480"/>
          </a:xfrm>
          <a:prstGeom prst="rect">
            <a:avLst/>
          </a:prstGeom>
          <a:noFill/>
        </p:spPr>
        <p:txBody>
          <a:bodyPr wrap="square" anchor="t" lIns="0" rIns="0" tIns="0" bIns="0">
            <a:spAutoFit/>
          </a:bodyPr>
          <a:lstStyle/>
          <a:p>
            <a:pPr algn="l">
              <a:lnSpc>
                <a:spcPct val="106000"/>
              </a:lnSpc>
              <a:spcBef>
                <a:spcPts val="0"/>
              </a:spcBef>
              <a:spcAft>
                <a:spcPts val="0"/>
              </a:spcAft>
            </a:pPr>
            <a:r>
              <a:rPr sz="1800" b="1" i="0">
                <a:solidFill>
                  <a:srgbClr val="006FB9"/>
                </a:solidFill>
                <a:latin typeface="Calibri"/>
              </a:rPr>
              <a:t>RQ1   </a:t>
            </a:r>
            <a:r>
              <a:rPr sz="1650" b="1" i="0">
                <a:solidFill>
                  <a:srgbClr val="1A1A1A"/>
                </a:solidFill>
                <a:latin typeface="Calibri"/>
              </a:rPr>
              <a:t>Do the metrics carry any information at all?</a:t>
            </a:r>
          </a:p>
        </p:txBody>
      </p:sp>
      <p:sp>
        <p:nvSpPr>
          <p:cNvPr id="12" name="TextBox 11"/>
          <p:cNvSpPr txBox="1"/>
          <p:nvPr/>
        </p:nvSpPr>
        <p:spPr>
          <a:xfrm>
            <a:off x="1024128" y="2295144"/>
            <a:ext cx="4709160" cy="1005840"/>
          </a:xfrm>
          <a:prstGeom prst="rect">
            <a:avLst/>
          </a:prstGeom>
          <a:noFill/>
        </p:spPr>
        <p:txBody>
          <a:bodyPr wrap="square" anchor="t" lIns="0" rIns="0" tIns="0" bIns="0">
            <a:spAutoFit/>
          </a:bodyPr>
          <a:lstStyle/>
          <a:p>
            <a:pPr algn="l">
              <a:lnSpc>
                <a:spcPct val="110000"/>
              </a:lnSpc>
              <a:spcBef>
                <a:spcPts val="0"/>
              </a:spcBef>
              <a:spcAft>
                <a:spcPts val="0"/>
              </a:spcAft>
            </a:pPr>
            <a:r>
              <a:rPr sz="1380" b="0" i="0">
                <a:solidFill>
                  <a:srgbClr val="555555"/>
                </a:solidFill>
                <a:latin typeface="Calibri"/>
              </a:rPr>
              <a:t>Model-independent precondition: can a metric tell same-task from different-task expert trajectories? If not, it is disqualified.</a:t>
            </a:r>
          </a:p>
        </p:txBody>
      </p:sp>
      <p:sp>
        <p:nvSpPr>
          <p:cNvPr id="13" name="Rectangle 12"/>
          <p:cNvSpPr/>
          <p:nvPr/>
        </p:nvSpPr>
        <p:spPr>
          <a:xfrm>
            <a:off x="6172200" y="1508760"/>
            <a:ext cx="5257800" cy="19659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508760"/>
            <a:ext cx="109728" cy="196596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1709928"/>
            <a:ext cx="4663440" cy="411480"/>
          </a:xfrm>
          <a:prstGeom prst="rect">
            <a:avLst/>
          </a:prstGeom>
          <a:noFill/>
        </p:spPr>
        <p:txBody>
          <a:bodyPr wrap="square" anchor="t" lIns="0" rIns="0" tIns="0" bIns="0">
            <a:spAutoFit/>
          </a:bodyPr>
          <a:lstStyle/>
          <a:p>
            <a:pPr algn="l">
              <a:lnSpc>
                <a:spcPct val="106000"/>
              </a:lnSpc>
              <a:spcBef>
                <a:spcPts val="0"/>
              </a:spcBef>
              <a:spcAft>
                <a:spcPts val="0"/>
              </a:spcAft>
            </a:pPr>
            <a:r>
              <a:rPr sz="1800" b="1" i="0">
                <a:solidFill>
                  <a:srgbClr val="1B8A4A"/>
                </a:solidFill>
                <a:latin typeface="Calibri"/>
              </a:rPr>
              <a:t>RQ2   </a:t>
            </a:r>
            <a:r>
              <a:rPr sz="1650" b="1" i="0">
                <a:solidFill>
                  <a:srgbClr val="1A1A1A"/>
                </a:solidFill>
                <a:latin typeface="Calibri"/>
              </a:rPr>
              <a:t>Do they correlate with closed-loop success?</a:t>
            </a:r>
          </a:p>
        </p:txBody>
      </p:sp>
      <p:sp>
        <p:nvSpPr>
          <p:cNvPr id="16" name="TextBox 15"/>
          <p:cNvSpPr txBox="1"/>
          <p:nvPr/>
        </p:nvSpPr>
        <p:spPr>
          <a:xfrm>
            <a:off x="6464808" y="2295144"/>
            <a:ext cx="4709160" cy="1005840"/>
          </a:xfrm>
          <a:prstGeom prst="rect">
            <a:avLst/>
          </a:prstGeom>
          <a:noFill/>
        </p:spPr>
        <p:txBody>
          <a:bodyPr wrap="square" anchor="t" lIns="0" rIns="0" tIns="0" bIns="0">
            <a:spAutoFit/>
          </a:bodyPr>
          <a:lstStyle/>
          <a:p>
            <a:pPr algn="l">
              <a:lnSpc>
                <a:spcPct val="110000"/>
              </a:lnSpc>
              <a:spcBef>
                <a:spcPts val="0"/>
              </a:spcBef>
              <a:spcAft>
                <a:spcPts val="0"/>
              </a:spcAft>
            </a:pPr>
            <a:r>
              <a:rPr sz="1380" b="0" i="0">
                <a:solidFill>
                  <a:srgbClr val="555555"/>
                </a:solidFill>
                <a:latin typeface="Calibri"/>
              </a:rPr>
              <a:t>The central question — across 3 architectures and 2 data sizes, does the offline signal predict online success Q(k)?</a:t>
            </a:r>
          </a:p>
        </p:txBody>
      </p:sp>
      <p:sp>
        <p:nvSpPr>
          <p:cNvPr id="17" name="Rectangle 16"/>
          <p:cNvSpPr/>
          <p:nvPr/>
        </p:nvSpPr>
        <p:spPr>
          <a:xfrm>
            <a:off x="731520" y="3730752"/>
            <a:ext cx="5257800" cy="19659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30752"/>
            <a:ext cx="109728" cy="196596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3931920"/>
            <a:ext cx="4663440" cy="411480"/>
          </a:xfrm>
          <a:prstGeom prst="rect">
            <a:avLst/>
          </a:prstGeom>
          <a:noFill/>
        </p:spPr>
        <p:txBody>
          <a:bodyPr wrap="square" anchor="t" lIns="0" rIns="0" tIns="0" bIns="0">
            <a:spAutoFit/>
          </a:bodyPr>
          <a:lstStyle/>
          <a:p>
            <a:pPr algn="l">
              <a:lnSpc>
                <a:spcPct val="106000"/>
              </a:lnSpc>
              <a:spcBef>
                <a:spcPts val="0"/>
              </a:spcBef>
              <a:spcAft>
                <a:spcPts val="0"/>
              </a:spcAft>
            </a:pPr>
            <a:r>
              <a:rPr sz="1800" b="1" i="0">
                <a:solidFill>
                  <a:srgbClr val="C02A2A"/>
                </a:solidFill>
                <a:latin typeface="Calibri"/>
              </a:rPr>
              <a:t>RQ3   </a:t>
            </a:r>
            <a:r>
              <a:rPr sz="1650" b="1" i="0">
                <a:solidFill>
                  <a:srgbClr val="1A1A1A"/>
                </a:solidFill>
                <a:latin typeface="Calibri"/>
              </a:rPr>
              <a:t>Is metric-based early stopping effective?</a:t>
            </a:r>
          </a:p>
        </p:txBody>
      </p:sp>
      <p:sp>
        <p:nvSpPr>
          <p:cNvPr id="20" name="TextBox 19"/>
          <p:cNvSpPr txBox="1"/>
          <p:nvPr/>
        </p:nvSpPr>
        <p:spPr>
          <a:xfrm>
            <a:off x="1024128" y="4517136"/>
            <a:ext cx="4709160" cy="1005840"/>
          </a:xfrm>
          <a:prstGeom prst="rect">
            <a:avLst/>
          </a:prstGeom>
          <a:noFill/>
        </p:spPr>
        <p:txBody>
          <a:bodyPr wrap="square" anchor="t" lIns="0" rIns="0" tIns="0" bIns="0">
            <a:spAutoFit/>
          </a:bodyPr>
          <a:lstStyle/>
          <a:p>
            <a:pPr algn="l">
              <a:lnSpc>
                <a:spcPct val="110000"/>
              </a:lnSpc>
              <a:spcBef>
                <a:spcPts val="0"/>
              </a:spcBef>
              <a:spcAft>
                <a:spcPts val="0"/>
              </a:spcAft>
            </a:pPr>
            <a:r>
              <a:rPr sz="1380" b="0" i="0">
                <a:solidFill>
                  <a:srgbClr val="555555"/>
                </a:solidFill>
                <a:latin typeface="Calibri"/>
              </a:rPr>
              <a:t>Does the signal survive the hard, converged plateau — and can it catch genuine overtraining when it happens?</a:t>
            </a:r>
          </a:p>
        </p:txBody>
      </p:sp>
      <p:sp>
        <p:nvSpPr>
          <p:cNvPr id="21" name="Rectangle 20"/>
          <p:cNvSpPr/>
          <p:nvPr/>
        </p:nvSpPr>
        <p:spPr>
          <a:xfrm>
            <a:off x="6172200" y="3730752"/>
            <a:ext cx="5257800" cy="19659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730752"/>
            <a:ext cx="109728" cy="196596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3931920"/>
            <a:ext cx="4663440" cy="411480"/>
          </a:xfrm>
          <a:prstGeom prst="rect">
            <a:avLst/>
          </a:prstGeom>
          <a:noFill/>
        </p:spPr>
        <p:txBody>
          <a:bodyPr wrap="square" anchor="t" lIns="0" rIns="0" tIns="0" bIns="0">
            <a:spAutoFit/>
          </a:bodyPr>
          <a:lstStyle/>
          <a:p>
            <a:pPr algn="l">
              <a:lnSpc>
                <a:spcPct val="106000"/>
              </a:lnSpc>
              <a:spcBef>
                <a:spcPts val="0"/>
              </a:spcBef>
              <a:spcAft>
                <a:spcPts val="0"/>
              </a:spcAft>
            </a:pPr>
            <a:r>
              <a:rPr sz="1800" b="1" i="0">
                <a:solidFill>
                  <a:srgbClr val="6A3D9A"/>
                </a:solidFill>
                <a:latin typeface="Calibri"/>
              </a:rPr>
              <a:t>RQ4   </a:t>
            </a:r>
            <a:r>
              <a:rPr sz="1650" b="1" i="0">
                <a:solidFill>
                  <a:srgbClr val="1A1A1A"/>
                </a:solidFill>
                <a:latin typeface="Calibri"/>
              </a:rPr>
              <a:t>Which differences are statistically real?</a:t>
            </a:r>
          </a:p>
        </p:txBody>
      </p:sp>
      <p:sp>
        <p:nvSpPr>
          <p:cNvPr id="24" name="TextBox 23"/>
          <p:cNvSpPr txBox="1"/>
          <p:nvPr/>
        </p:nvSpPr>
        <p:spPr>
          <a:xfrm>
            <a:off x="6464808" y="4517136"/>
            <a:ext cx="4709160" cy="1005840"/>
          </a:xfrm>
          <a:prstGeom prst="rect">
            <a:avLst/>
          </a:prstGeom>
          <a:noFill/>
        </p:spPr>
        <p:txBody>
          <a:bodyPr wrap="square" anchor="t" lIns="0" rIns="0" tIns="0" bIns="0">
            <a:spAutoFit/>
          </a:bodyPr>
          <a:lstStyle/>
          <a:p>
            <a:pPr algn="l">
              <a:lnSpc>
                <a:spcPct val="110000"/>
              </a:lnSpc>
              <a:spcBef>
                <a:spcPts val="0"/>
              </a:spcBef>
              <a:spcAft>
                <a:spcPts val="0"/>
              </a:spcAft>
            </a:pPr>
            <a:r>
              <a:rPr sz="1380" b="0" i="0">
                <a:solidFill>
                  <a:srgbClr val="555555"/>
                </a:solidFill>
                <a:latin typeface="Calibri"/>
              </a:rPr>
              <a:t>With as few as 11 evaluations per run, which rankings survive bootstrap resampling rather than sampling noise?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EXPERIMENTAL SETUP</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Three architectures, five LoRA runs, one benchmark</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7</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TextBox 8"/>
          <p:cNvSpPr txBox="1"/>
          <p:nvPr/>
        </p:nvSpPr>
        <p:spPr>
          <a:xfrm>
            <a:off x="731520" y="1417320"/>
            <a:ext cx="4937760" cy="4206240"/>
          </a:xfrm>
          <a:prstGeom prst="rect">
            <a:avLst/>
          </a:prstGeom>
          <a:noFill/>
        </p:spPr>
        <p:txBody>
          <a:bodyPr wrap="square" lIns="0" rIns="0" tIns="0" bIns="0">
            <a:spAutoFit/>
          </a:bodyPr>
          <a:lstStyle/>
          <a:p>
            <a:pPr>
              <a:lnSpc>
                <a:spcPct val="108000"/>
              </a:lnSpc>
              <a:spcBef>
                <a:spcPts val="0"/>
              </a:spcBef>
              <a:spcAft>
                <a:spcPts val="1400"/>
              </a:spcAft>
            </a:pPr>
            <a:r>
              <a:rPr sz="1550" b="1">
                <a:solidFill>
                  <a:srgbClr val="FFD100"/>
                </a:solidFill>
                <a:latin typeface="Calibri"/>
              </a:rPr>
              <a:t>— </a:t>
            </a:r>
            <a:r>
              <a:rPr sz="1550" b="1">
                <a:solidFill>
                  <a:srgbClr val="1A1A1A"/>
                </a:solidFill>
                <a:latin typeface="Calibri"/>
              </a:rPr>
              <a:t>OpenVLA (7B) </a:t>
            </a:r>
            <a:r>
              <a:rPr sz="1550" b="0">
                <a:solidFill>
                  <a:srgbClr val="1A1A1A"/>
                </a:solidFill>
                <a:latin typeface="Calibri"/>
              </a:rPr>
              <a:t>— discrete-token, autoregressive.  The likelihood is a genuine token NLL.</a:t>
            </a:r>
          </a:p>
          <a:p>
            <a:pPr>
              <a:lnSpc>
                <a:spcPct val="108000"/>
              </a:lnSpc>
              <a:spcBef>
                <a:spcPts val="0"/>
              </a:spcBef>
              <a:spcAft>
                <a:spcPts val="1400"/>
              </a:spcAft>
            </a:pPr>
            <a:r>
              <a:rPr sz="1550" b="1">
                <a:solidFill>
                  <a:srgbClr val="FFD100"/>
                </a:solidFill>
                <a:latin typeface="Calibri"/>
              </a:rPr>
              <a:t>— </a:t>
            </a:r>
            <a:r>
              <a:rPr sz="1550" b="1">
                <a:solidFill>
                  <a:srgbClr val="1A1A1A"/>
                </a:solidFill>
                <a:latin typeface="Calibri"/>
              </a:rPr>
              <a:t>SmolVLA (450M) </a:t>
            </a:r>
            <a:r>
              <a:rPr sz="1550" b="0">
                <a:solidFill>
                  <a:srgbClr val="1A1A1A"/>
                </a:solidFill>
                <a:latin typeface="Calibri"/>
              </a:rPr>
              <a:t>— flow-matching, edge-scale.</a:t>
            </a:r>
          </a:p>
          <a:p>
            <a:pPr>
              <a:lnSpc>
                <a:spcPct val="108000"/>
              </a:lnSpc>
              <a:spcBef>
                <a:spcPts val="0"/>
              </a:spcBef>
              <a:spcAft>
                <a:spcPts val="1400"/>
              </a:spcAft>
            </a:pPr>
            <a:r>
              <a:rPr sz="1550" b="1">
                <a:solidFill>
                  <a:srgbClr val="FFD100"/>
                </a:solidFill>
                <a:latin typeface="Calibri"/>
              </a:rPr>
              <a:t>— </a:t>
            </a:r>
            <a:r>
              <a:rPr sz="1550" b="1">
                <a:solidFill>
                  <a:srgbClr val="1A1A1A"/>
                </a:solidFill>
                <a:latin typeface="Calibri"/>
              </a:rPr>
              <a:t>π₀.₅ (4B) </a:t>
            </a:r>
            <a:r>
              <a:rPr sz="1550" b="0">
                <a:solidFill>
                  <a:srgbClr val="1A1A1A"/>
                </a:solidFill>
                <a:latin typeface="Calibri"/>
              </a:rPr>
              <a:t>— flow-matching, Physical Intelligence.</a:t>
            </a:r>
          </a:p>
          <a:p>
            <a:pPr>
              <a:lnSpc>
                <a:spcPct val="108000"/>
              </a:lnSpc>
              <a:spcBef>
                <a:spcPts val="0"/>
              </a:spcBef>
              <a:spcAft>
                <a:spcPts val="1400"/>
              </a:spcAft>
            </a:pPr>
            <a:r>
              <a:rPr sz="1550" b="1">
                <a:solidFill>
                  <a:srgbClr val="FFD100"/>
                </a:solidFill>
                <a:latin typeface="Calibri"/>
              </a:rPr>
              <a:t>— </a:t>
            </a:r>
            <a:r>
              <a:rPr sz="1550" b="1">
                <a:solidFill>
                  <a:srgbClr val="1A1A1A"/>
                </a:solidFill>
                <a:latin typeface="Calibri"/>
              </a:rPr>
              <a:t>Benchmark: LIBERO-Goal </a:t>
            </a:r>
            <a:r>
              <a:rPr sz="1550" b="0">
                <a:solidFill>
                  <a:srgbClr val="1A1A1A"/>
                </a:solidFill>
                <a:latin typeface="Calibri"/>
              </a:rPr>
              <a:t>— 10 tasks, shared scene, varying instruction: the LIBERO suite with the most instruction-driven action diversity.</a:t>
            </a:r>
          </a:p>
          <a:p>
            <a:pPr>
              <a:lnSpc>
                <a:spcPct val="108000"/>
              </a:lnSpc>
              <a:spcBef>
                <a:spcPts val="0"/>
              </a:spcBef>
              <a:spcAft>
                <a:spcPts val="1400"/>
              </a:spcAft>
            </a:pPr>
            <a:r>
              <a:rPr sz="1550" b="1">
                <a:solidFill>
                  <a:srgbClr val="FFD100"/>
                </a:solidFill>
                <a:latin typeface="Calibri"/>
              </a:rPr>
              <a:t>— </a:t>
            </a:r>
            <a:r>
              <a:rPr sz="1550" b="1">
                <a:solidFill>
                  <a:srgbClr val="1A1A1A"/>
                </a:solidFill>
                <a:latin typeface="Calibri"/>
              </a:rPr>
              <a:t>Ground truth Q(k) </a:t>
            </a:r>
            <a:r>
              <a:rPr sz="1550" b="0">
                <a:solidFill>
                  <a:srgbClr val="1A1A1A"/>
                </a:solidFill>
                <a:latin typeface="Calibri"/>
              </a:rPr>
              <a:t>— 100-episode simulated success, ±5% noise; sparse by design (11–35 evals per run).</a:t>
            </a:r>
          </a:p>
        </p:txBody>
      </p:sp>
      <p:sp>
        <p:nvSpPr>
          <p:cNvPr id="10" name="Rectangle 9"/>
          <p:cNvSpPr/>
          <p:nvPr/>
        </p:nvSpPr>
        <p:spPr>
          <a:xfrm>
            <a:off x="5989320" y="1417320"/>
            <a:ext cx="5532120" cy="3977639"/>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554480"/>
            <a:ext cx="5120640" cy="365760"/>
          </a:xfrm>
          <a:prstGeom prst="rect">
            <a:avLst/>
          </a:prstGeom>
          <a:noFill/>
        </p:spPr>
        <p:txBody>
          <a:bodyPr wrap="square" anchor="t" lIns="0" rIns="0" tIns="0" bIns="0">
            <a:spAutoFit/>
          </a:bodyPr>
          <a:lstStyle/>
          <a:p>
            <a:pPr algn="l">
              <a:lnSpc>
                <a:spcPct val="106000"/>
              </a:lnSpc>
              <a:spcBef>
                <a:spcPts val="0"/>
              </a:spcBef>
              <a:spcAft>
                <a:spcPts val="0"/>
              </a:spcAft>
            </a:pPr>
            <a:r>
              <a:rPr sz="1550" b="1" i="0">
                <a:solidFill>
                  <a:srgbClr val="1A1A1A"/>
                </a:solidFill>
                <a:latin typeface="Calibri"/>
              </a:rPr>
              <a:t>The five fine-tuning runs</a:t>
            </a:r>
          </a:p>
        </p:txBody>
      </p:sp>
      <p:sp>
        <p:nvSpPr>
          <p:cNvPr id="12" name="Rectangle 11"/>
          <p:cNvSpPr/>
          <p:nvPr/>
        </p:nvSpPr>
        <p:spPr>
          <a:xfrm>
            <a:off x="6217920" y="2011680"/>
            <a:ext cx="5074920"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0848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FFFFFF"/>
                </a:solidFill>
                <a:latin typeface="Calibri"/>
              </a:rPr>
              <a:t>Run</a:t>
            </a:r>
          </a:p>
        </p:txBody>
      </p:sp>
      <p:sp>
        <p:nvSpPr>
          <p:cNvPr id="14" name="TextBox 13"/>
          <p:cNvSpPr txBox="1"/>
          <p:nvPr/>
        </p:nvSpPr>
        <p:spPr>
          <a:xfrm>
            <a:off x="8321040" y="20848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FFFFFF"/>
                </a:solidFill>
                <a:latin typeface="Calibri"/>
              </a:rPr>
              <a:t>Arch.</a:t>
            </a:r>
          </a:p>
        </p:txBody>
      </p:sp>
      <p:sp>
        <p:nvSpPr>
          <p:cNvPr id="15" name="TextBox 14"/>
          <p:cNvSpPr txBox="1"/>
          <p:nvPr/>
        </p:nvSpPr>
        <p:spPr>
          <a:xfrm>
            <a:off x="9601200" y="20848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FFFFFF"/>
                </a:solidFill>
                <a:latin typeface="Calibri"/>
              </a:rPr>
              <a:t>Train</a:t>
            </a:r>
          </a:p>
        </p:txBody>
      </p:sp>
      <p:sp>
        <p:nvSpPr>
          <p:cNvPr id="16" name="TextBox 15"/>
          <p:cNvSpPr txBox="1"/>
          <p:nvPr/>
        </p:nvSpPr>
        <p:spPr>
          <a:xfrm>
            <a:off x="10515600" y="20848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FFFFFF"/>
                </a:solidFill>
                <a:latin typeface="Calibri"/>
              </a:rPr>
              <a:t>Peak Q</a:t>
            </a:r>
          </a:p>
        </p:txBody>
      </p:sp>
      <p:sp>
        <p:nvSpPr>
          <p:cNvPr id="17" name="TextBox 16"/>
          <p:cNvSpPr txBox="1"/>
          <p:nvPr/>
        </p:nvSpPr>
        <p:spPr>
          <a:xfrm>
            <a:off x="6217920" y="25420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SmolVLA-150</a:t>
            </a:r>
          </a:p>
        </p:txBody>
      </p:sp>
      <p:sp>
        <p:nvSpPr>
          <p:cNvPr id="18" name="TextBox 17"/>
          <p:cNvSpPr txBox="1"/>
          <p:nvPr/>
        </p:nvSpPr>
        <p:spPr>
          <a:xfrm>
            <a:off x="8321040" y="25420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FM 450M</a:t>
            </a:r>
          </a:p>
        </p:txBody>
      </p:sp>
      <p:sp>
        <p:nvSpPr>
          <p:cNvPr id="19" name="TextBox 18"/>
          <p:cNvSpPr txBox="1"/>
          <p:nvPr/>
        </p:nvSpPr>
        <p:spPr>
          <a:xfrm>
            <a:off x="9601200" y="25420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150</a:t>
            </a:r>
          </a:p>
        </p:txBody>
      </p:sp>
      <p:sp>
        <p:nvSpPr>
          <p:cNvPr id="20" name="TextBox 19"/>
          <p:cNvSpPr txBox="1"/>
          <p:nvPr/>
        </p:nvSpPr>
        <p:spPr>
          <a:xfrm>
            <a:off x="10515600" y="25420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0.68</a:t>
            </a:r>
          </a:p>
        </p:txBody>
      </p:sp>
      <p:sp>
        <p:nvSpPr>
          <p:cNvPr id="21" name="Rectangle 20"/>
          <p:cNvSpPr/>
          <p:nvPr/>
        </p:nvSpPr>
        <p:spPr>
          <a:xfrm>
            <a:off x="6217920" y="2926080"/>
            <a:ext cx="5074920" cy="4572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9992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OpenVLA-150</a:t>
            </a:r>
          </a:p>
        </p:txBody>
      </p:sp>
      <p:sp>
        <p:nvSpPr>
          <p:cNvPr id="23" name="TextBox 22"/>
          <p:cNvSpPr txBox="1"/>
          <p:nvPr/>
        </p:nvSpPr>
        <p:spPr>
          <a:xfrm>
            <a:off x="8321040" y="29992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tok 7B</a:t>
            </a:r>
          </a:p>
        </p:txBody>
      </p:sp>
      <p:sp>
        <p:nvSpPr>
          <p:cNvPr id="24" name="TextBox 23"/>
          <p:cNvSpPr txBox="1"/>
          <p:nvPr/>
        </p:nvSpPr>
        <p:spPr>
          <a:xfrm>
            <a:off x="9601200" y="29992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150</a:t>
            </a:r>
          </a:p>
        </p:txBody>
      </p:sp>
      <p:sp>
        <p:nvSpPr>
          <p:cNvPr id="25" name="TextBox 24"/>
          <p:cNvSpPr txBox="1"/>
          <p:nvPr/>
        </p:nvSpPr>
        <p:spPr>
          <a:xfrm>
            <a:off x="10515600" y="29992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0.83</a:t>
            </a:r>
          </a:p>
        </p:txBody>
      </p:sp>
      <p:sp>
        <p:nvSpPr>
          <p:cNvPr id="26" name="TextBox 25"/>
          <p:cNvSpPr txBox="1"/>
          <p:nvPr/>
        </p:nvSpPr>
        <p:spPr>
          <a:xfrm>
            <a:off x="6217920" y="34564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OpenVLA-full</a:t>
            </a:r>
          </a:p>
        </p:txBody>
      </p:sp>
      <p:sp>
        <p:nvSpPr>
          <p:cNvPr id="27" name="TextBox 26"/>
          <p:cNvSpPr txBox="1"/>
          <p:nvPr/>
        </p:nvSpPr>
        <p:spPr>
          <a:xfrm>
            <a:off x="8321040" y="34564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tok 7B</a:t>
            </a:r>
          </a:p>
        </p:txBody>
      </p:sp>
      <p:sp>
        <p:nvSpPr>
          <p:cNvPr id="28" name="TextBox 27"/>
          <p:cNvSpPr txBox="1"/>
          <p:nvPr/>
        </p:nvSpPr>
        <p:spPr>
          <a:xfrm>
            <a:off x="9601200" y="34564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342</a:t>
            </a:r>
          </a:p>
        </p:txBody>
      </p:sp>
      <p:sp>
        <p:nvSpPr>
          <p:cNvPr id="29" name="TextBox 28"/>
          <p:cNvSpPr txBox="1"/>
          <p:nvPr/>
        </p:nvSpPr>
        <p:spPr>
          <a:xfrm>
            <a:off x="10515600" y="34564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0.78</a:t>
            </a:r>
          </a:p>
        </p:txBody>
      </p:sp>
      <p:sp>
        <p:nvSpPr>
          <p:cNvPr id="30" name="Rectangle 29"/>
          <p:cNvSpPr/>
          <p:nvPr/>
        </p:nvSpPr>
        <p:spPr>
          <a:xfrm>
            <a:off x="6217920" y="3840480"/>
            <a:ext cx="5074920" cy="4572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39136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π₀.₅-full</a:t>
            </a:r>
          </a:p>
        </p:txBody>
      </p:sp>
      <p:sp>
        <p:nvSpPr>
          <p:cNvPr id="32" name="TextBox 31"/>
          <p:cNvSpPr txBox="1"/>
          <p:nvPr/>
        </p:nvSpPr>
        <p:spPr>
          <a:xfrm>
            <a:off x="8321040" y="39136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FM 4B</a:t>
            </a:r>
          </a:p>
        </p:txBody>
      </p:sp>
      <p:sp>
        <p:nvSpPr>
          <p:cNvPr id="33" name="TextBox 32"/>
          <p:cNvSpPr txBox="1"/>
          <p:nvPr/>
        </p:nvSpPr>
        <p:spPr>
          <a:xfrm>
            <a:off x="9601200" y="39136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342</a:t>
            </a:r>
          </a:p>
        </p:txBody>
      </p:sp>
      <p:sp>
        <p:nvSpPr>
          <p:cNvPr id="34" name="TextBox 33"/>
          <p:cNvSpPr txBox="1"/>
          <p:nvPr/>
        </p:nvSpPr>
        <p:spPr>
          <a:xfrm>
            <a:off x="10515600" y="39136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0.18†</a:t>
            </a:r>
          </a:p>
        </p:txBody>
      </p:sp>
      <p:sp>
        <p:nvSpPr>
          <p:cNvPr id="35" name="TextBox 34"/>
          <p:cNvSpPr txBox="1"/>
          <p:nvPr/>
        </p:nvSpPr>
        <p:spPr>
          <a:xfrm>
            <a:off x="6217920" y="4370832"/>
            <a:ext cx="2103120" cy="36576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π₀.₅-150</a:t>
            </a:r>
          </a:p>
        </p:txBody>
      </p:sp>
      <p:sp>
        <p:nvSpPr>
          <p:cNvPr id="36" name="TextBox 35"/>
          <p:cNvSpPr txBox="1"/>
          <p:nvPr/>
        </p:nvSpPr>
        <p:spPr>
          <a:xfrm>
            <a:off x="8321040" y="4370832"/>
            <a:ext cx="128016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FM 4B</a:t>
            </a:r>
          </a:p>
        </p:txBody>
      </p:sp>
      <p:sp>
        <p:nvSpPr>
          <p:cNvPr id="37" name="TextBox 36"/>
          <p:cNvSpPr txBox="1"/>
          <p:nvPr/>
        </p:nvSpPr>
        <p:spPr>
          <a:xfrm>
            <a:off x="9601200" y="43708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150</a:t>
            </a:r>
          </a:p>
        </p:txBody>
      </p:sp>
      <p:sp>
        <p:nvSpPr>
          <p:cNvPr id="38" name="TextBox 37"/>
          <p:cNvSpPr txBox="1"/>
          <p:nvPr/>
        </p:nvSpPr>
        <p:spPr>
          <a:xfrm>
            <a:off x="10515600" y="4370832"/>
            <a:ext cx="914400" cy="36576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0.38†</a:t>
            </a:r>
          </a:p>
        </p:txBody>
      </p:sp>
      <p:sp>
        <p:nvSpPr>
          <p:cNvPr id="39" name="TextBox 38"/>
          <p:cNvSpPr txBox="1"/>
          <p:nvPr/>
        </p:nvSpPr>
        <p:spPr>
          <a:xfrm>
            <a:off x="6217920" y="4956048"/>
            <a:ext cx="5120640" cy="457200"/>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8A8A8A"/>
                </a:solidFill>
                <a:latin typeface="Calibri"/>
              </a:rPr>
              <a:t>† π₀.₅ rows use different replan horizons — only relative metric ranking is meaningful.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RQ1</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Do the metrics carry task information? At the trajectory level, yes.</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8</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pic>
        <p:nvPicPr>
          <p:cNvPr id="9" name="Picture 8" descr="task_discriminative_validity_traj.png"/>
          <p:cNvPicPr>
            <a:picLocks noChangeAspect="1"/>
          </p:cNvPicPr>
          <p:nvPr/>
        </p:nvPicPr>
        <p:blipFill>
          <a:blip r:embed="rId2"/>
          <a:stretch>
            <a:fillRect/>
          </a:stretch>
        </p:blipFill>
        <p:spPr>
          <a:xfrm>
            <a:off x="640080" y="1325880"/>
            <a:ext cx="6720840" cy="3780472"/>
          </a:xfrm>
          <a:prstGeom prst="rect">
            <a:avLst/>
          </a:prstGeom>
        </p:spPr>
      </p:pic>
      <p:sp>
        <p:nvSpPr>
          <p:cNvPr id="10" name="Rectangle 9"/>
          <p:cNvSpPr/>
          <p:nvPr/>
        </p:nvSpPr>
        <p:spPr>
          <a:xfrm>
            <a:off x="7635240" y="1463040"/>
            <a:ext cx="3977639" cy="43434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35240" y="1463040"/>
            <a:ext cx="91440" cy="4343400"/>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1645920"/>
            <a:ext cx="3566160" cy="457200"/>
          </a:xfrm>
          <a:prstGeom prst="rect">
            <a:avLst/>
          </a:prstGeom>
          <a:noFill/>
        </p:spPr>
        <p:txBody>
          <a:bodyPr wrap="square" anchor="t" lIns="0" rIns="0" tIns="0" bIns="0">
            <a:spAutoFit/>
          </a:bodyPr>
          <a:lstStyle/>
          <a:p>
            <a:pPr algn="l">
              <a:lnSpc>
                <a:spcPct val="106000"/>
              </a:lnSpc>
              <a:spcBef>
                <a:spcPts val="0"/>
              </a:spcBef>
              <a:spcAft>
                <a:spcPts val="0"/>
              </a:spcAft>
            </a:pPr>
            <a:r>
              <a:rPr sz="1400" b="1" i="0">
                <a:solidFill>
                  <a:srgbClr val="8A8A8A"/>
                </a:solidFill>
                <a:latin typeface="Calibri"/>
              </a:rPr>
              <a:t>Test</a:t>
            </a:r>
          </a:p>
        </p:txBody>
      </p:sp>
      <p:sp>
        <p:nvSpPr>
          <p:cNvPr id="13" name="TextBox 12"/>
          <p:cNvSpPr txBox="1"/>
          <p:nvPr/>
        </p:nvSpPr>
        <p:spPr>
          <a:xfrm>
            <a:off x="7863840" y="1965960"/>
            <a:ext cx="3566160" cy="914400"/>
          </a:xfrm>
          <a:prstGeom prst="rect">
            <a:avLst/>
          </a:prstGeom>
          <a:noFill/>
        </p:spPr>
        <p:txBody>
          <a:bodyPr wrap="square" anchor="t" lIns="0" rIns="0" tIns="0" bIns="0">
            <a:spAutoFit/>
          </a:bodyPr>
          <a:lstStyle/>
          <a:p>
            <a:pPr algn="l">
              <a:lnSpc>
                <a:spcPct val="112000"/>
              </a:lnSpc>
              <a:spcBef>
                <a:spcPts val="0"/>
              </a:spcBef>
              <a:spcAft>
                <a:spcPts val="0"/>
              </a:spcAft>
            </a:pPr>
            <a:r>
              <a:rPr sz="1450" b="0" i="0">
                <a:solidFill>
                  <a:srgbClr val="1A1A1A"/>
                </a:solidFill>
                <a:latin typeface="Calibri"/>
              </a:rPr>
              <a:t>Same-task trajectories should score closer than different-task ones — measured by AUROC (0.5 = chance, 1.0 = perfect separation).</a:t>
            </a:r>
          </a:p>
        </p:txBody>
      </p:sp>
      <p:sp>
        <p:nvSpPr>
          <p:cNvPr id="14" name="TextBox 13"/>
          <p:cNvSpPr txBox="1"/>
          <p:nvPr/>
        </p:nvSpPr>
        <p:spPr>
          <a:xfrm>
            <a:off x="7863840" y="3063240"/>
            <a:ext cx="3566160" cy="2377440"/>
          </a:xfrm>
          <a:prstGeom prst="rect">
            <a:avLst/>
          </a:prstGeom>
          <a:noFill/>
        </p:spPr>
        <p:txBody>
          <a:bodyPr wrap="square" lIns="0" rIns="0" tIns="0" bIns="0">
            <a:spAutoFit/>
          </a:bodyPr>
          <a:lstStyle/>
          <a:p>
            <a:pPr>
              <a:lnSpc>
                <a:spcPct val="108000"/>
              </a:lnSpc>
              <a:spcBef>
                <a:spcPts val="0"/>
              </a:spcBef>
              <a:spcAft>
                <a:spcPts val="1100"/>
              </a:spcAft>
            </a:pPr>
            <a:r>
              <a:rPr sz="1380" b="1">
                <a:solidFill>
                  <a:srgbClr val="FFD100"/>
                </a:solidFill>
                <a:latin typeface="Calibri"/>
              </a:rPr>
              <a:t>— </a:t>
            </a:r>
            <a:r>
              <a:rPr sz="1380" b="1">
                <a:solidFill>
                  <a:srgbClr val="555555"/>
                </a:solidFill>
                <a:latin typeface="Calibri"/>
              </a:rPr>
              <a:t>Single chunk: </a:t>
            </a:r>
            <a:r>
              <a:rPr sz="1380" b="0">
                <a:solidFill>
                  <a:srgbClr val="555555"/>
                </a:solidFill>
                <a:latin typeface="Calibri"/>
              </a:rPr>
              <a:t>AUROC 0.65–0.69 — tasks share a common motion vocabulary.</a:t>
            </a:r>
          </a:p>
          <a:p>
            <a:pPr>
              <a:lnSpc>
                <a:spcPct val="108000"/>
              </a:lnSpc>
              <a:spcBef>
                <a:spcPts val="0"/>
              </a:spcBef>
              <a:spcAft>
                <a:spcPts val="1100"/>
              </a:spcAft>
            </a:pPr>
            <a:r>
              <a:rPr sz="1380" b="1">
                <a:solidFill>
                  <a:srgbClr val="FFD100"/>
                </a:solidFill>
                <a:latin typeface="Calibri"/>
              </a:rPr>
              <a:t>— </a:t>
            </a:r>
            <a:r>
              <a:rPr sz="1380" b="1">
                <a:solidFill>
                  <a:srgbClr val="555555"/>
                </a:solidFill>
                <a:latin typeface="Calibri"/>
              </a:rPr>
              <a:t>Trajectory-level: </a:t>
            </a:r>
            <a:r>
              <a:rPr sz="1380" b="0">
                <a:solidFill>
                  <a:srgbClr val="555555"/>
                </a:solidFill>
                <a:latin typeface="Calibri"/>
              </a:rPr>
              <a:t>AUROC ≥ 0.90 for every metric — Cohen's d roughly triples.</a:t>
            </a:r>
          </a:p>
          <a:p>
            <a:pPr>
              <a:lnSpc>
                <a:spcPct val="108000"/>
              </a:lnSpc>
              <a:spcBef>
                <a:spcPts val="0"/>
              </a:spcBef>
              <a:spcAft>
                <a:spcPts val="1100"/>
              </a:spcAft>
            </a:pPr>
            <a:r>
              <a:rPr sz="1380" b="1">
                <a:solidFill>
                  <a:srgbClr val="FFD100"/>
                </a:solidFill>
                <a:latin typeface="Calibri"/>
              </a:rPr>
              <a:t>— </a:t>
            </a:r>
            <a:r>
              <a:rPr sz="1380" b="1">
                <a:solidFill>
                  <a:srgbClr val="555555"/>
                </a:solidFill>
                <a:latin typeface="Calibri"/>
              </a:rPr>
              <a:t>Phase alignment, not averaging, </a:t>
            </a:r>
            <a:r>
              <a:rPr sz="1380" b="0">
                <a:solidFill>
                  <a:srgbClr val="555555"/>
                </a:solidFill>
                <a:latin typeface="Calibri"/>
              </a:rPr>
              <a:t>drives the gain (DTW intra-distance 7.06 → 1.84).</a:t>
            </a:r>
          </a:p>
        </p:txBody>
      </p:sp>
      <p:sp>
        <p:nvSpPr>
          <p:cNvPr id="15" name="TextBox 14"/>
          <p:cNvSpPr txBox="1"/>
          <p:nvPr/>
        </p:nvSpPr>
        <p:spPr>
          <a:xfrm>
            <a:off x="640080" y="6126480"/>
            <a:ext cx="676656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1" i="0">
                <a:solidFill>
                  <a:srgbClr val="1B8A4A"/>
                </a:solidFill>
                <a:latin typeface="Calibri"/>
              </a:rPr>
              <a:t>Verdict: all five metrics pass the precondition — none is disqualified.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RQ2</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Trajectory metrics track success across all five runs</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9</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pic>
        <p:nvPicPr>
          <p:cNvPr id="9" name="Picture 8" descr="crossmodel_early_stopping_shared5.png"/>
          <p:cNvPicPr>
            <a:picLocks noChangeAspect="1"/>
          </p:cNvPicPr>
          <p:nvPr/>
        </p:nvPicPr>
        <p:blipFill>
          <a:blip r:embed="rId2"/>
          <a:stretch>
            <a:fillRect/>
          </a:stretch>
        </p:blipFill>
        <p:spPr>
          <a:xfrm>
            <a:off x="2085535" y="1325880"/>
            <a:ext cx="7990449" cy="3246120"/>
          </a:xfrm>
          <a:prstGeom prst="rect">
            <a:avLst/>
          </a:prstGeom>
        </p:spPr>
      </p:pic>
      <p:sp>
        <p:nvSpPr>
          <p:cNvPr id="10" name="Rectangle 9"/>
          <p:cNvSpPr/>
          <p:nvPr/>
        </p:nvSpPr>
        <p:spPr>
          <a:xfrm>
            <a:off x="731520" y="4800600"/>
            <a:ext cx="10744200" cy="141732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00600"/>
            <a:ext cx="91440" cy="141732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956048"/>
            <a:ext cx="10332720" cy="1188720"/>
          </a:xfrm>
          <a:prstGeom prst="rect">
            <a:avLst/>
          </a:prstGeom>
          <a:noFill/>
        </p:spPr>
        <p:txBody>
          <a:bodyPr wrap="square" anchor="t" lIns="0" rIns="0" tIns="0" bIns="0">
            <a:spAutoFit/>
          </a:bodyPr>
          <a:lstStyle/>
          <a:p>
            <a:pPr algn="l">
              <a:lnSpc>
                <a:spcPct val="112000"/>
              </a:lnSpc>
              <a:spcBef>
                <a:spcPts val="0"/>
              </a:spcBef>
              <a:spcAft>
                <a:spcPts val="800"/>
              </a:spcAft>
            </a:pPr>
            <a:r>
              <a:rPr sz="1650" b="1" i="0">
                <a:solidFill>
                  <a:srgbClr val="1A1A1A"/>
                </a:solidFill>
                <a:latin typeface="Calibri"/>
              </a:rPr>
              <a:t>DTW is positive in all five runs — </a:t>
            </a:r>
            <a:r>
              <a:rPr sz="1650" b="0" i="1">
                <a:solidFill>
                  <a:srgbClr val="006FB9"/>
                </a:solidFill>
                <a:latin typeface="Calibri"/>
              </a:rPr>
              <a:t>ρ = 0.72 / 0.75 / 0.85 / 0.90 / 0.72</a:t>
            </a:r>
            <a:r>
              <a:rPr sz="1650" b="1" i="0">
                <a:solidFill>
                  <a:srgbClr val="1A1A1A"/>
                </a:solidFill>
                <a:latin typeface="Calibri"/>
              </a:rPr>
              <a:t> — and its selection regret never exceeds 0.17.</a:t>
            </a:r>
          </a:p>
          <a:p>
            <a:pPr algn="l">
              <a:lnSpc>
                <a:spcPct val="112000"/>
              </a:lnSpc>
              <a:spcBef>
                <a:spcPts val="0"/>
              </a:spcBef>
              <a:spcAft>
                <a:spcPts val="800"/>
              </a:spcAft>
            </a:pPr>
            <a:r>
              <a:rPr sz="1400" b="0" i="0">
                <a:solidFill>
                  <a:srgbClr val="555555"/>
                </a:solidFill>
                <a:latin typeface="Calibri"/>
              </a:rPr>
              <a:t>Trajectory (DTW/OT/cosine) and regression (L1/L2) metrics are positive across both architecture families (discrete-token and flow-matching) and both data sizes. The likelihood family (right-hand bars) is the one that appears to split by architecture.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RQ2</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Per-run rankings: a family of comparable metrics</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10</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463040"/>
            <a:ext cx="3429000" cy="36118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3429000" cy="457200"/>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36192"/>
            <a:ext cx="3429000" cy="365760"/>
          </a:xfrm>
          <a:prstGeom prst="rect">
            <a:avLst/>
          </a:prstGeom>
          <a:noFill/>
        </p:spPr>
        <p:txBody>
          <a:bodyPr wrap="square" anchor="t" lIns="0" rIns="0" tIns="0" bIns="0">
            <a:spAutoFit/>
          </a:bodyPr>
          <a:lstStyle/>
          <a:p>
            <a:pPr algn="ctr">
              <a:lnSpc>
                <a:spcPct val="106000"/>
              </a:lnSpc>
              <a:spcBef>
                <a:spcPts val="0"/>
              </a:spcBef>
              <a:spcAft>
                <a:spcPts val="0"/>
              </a:spcAft>
            </a:pPr>
            <a:r>
              <a:rPr sz="1450" b="1" i="0">
                <a:solidFill>
                  <a:srgbClr val="FFFFFF"/>
                </a:solidFill>
                <a:latin typeface="Calibri"/>
              </a:rPr>
              <a:t>OpenVLA-full  (discrete-token)</a:t>
            </a:r>
          </a:p>
        </p:txBody>
      </p:sp>
      <p:sp>
        <p:nvSpPr>
          <p:cNvPr id="12" name="TextBox 11"/>
          <p:cNvSpPr txBox="1"/>
          <p:nvPr/>
        </p:nvSpPr>
        <p:spPr>
          <a:xfrm>
            <a:off x="960120" y="2011680"/>
            <a:ext cx="1463040" cy="320040"/>
          </a:xfrm>
          <a:prstGeom prst="rect">
            <a:avLst/>
          </a:prstGeom>
          <a:noFill/>
        </p:spPr>
        <p:txBody>
          <a:bodyPr wrap="square" anchor="t" lIns="0" rIns="0" tIns="0" bIns="0">
            <a:spAutoFit/>
          </a:bodyPr>
          <a:lstStyle/>
          <a:p>
            <a:pPr algn="l">
              <a:lnSpc>
                <a:spcPct val="106000"/>
              </a:lnSpc>
              <a:spcBef>
                <a:spcPts val="0"/>
              </a:spcBef>
              <a:spcAft>
                <a:spcPts val="0"/>
              </a:spcAft>
            </a:pPr>
            <a:r>
              <a:rPr sz="1150" b="1" i="0">
                <a:solidFill>
                  <a:srgbClr val="8A8A8A"/>
                </a:solidFill>
                <a:latin typeface="Calibri"/>
              </a:rPr>
              <a:t>Metric</a:t>
            </a:r>
          </a:p>
        </p:txBody>
      </p:sp>
      <p:sp>
        <p:nvSpPr>
          <p:cNvPr id="13" name="TextBox 12"/>
          <p:cNvSpPr txBox="1"/>
          <p:nvPr/>
        </p:nvSpPr>
        <p:spPr>
          <a:xfrm>
            <a:off x="2560320" y="201168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ρ</a:t>
            </a:r>
          </a:p>
        </p:txBody>
      </p:sp>
      <p:sp>
        <p:nvSpPr>
          <p:cNvPr id="14" name="TextBox 13"/>
          <p:cNvSpPr txBox="1"/>
          <p:nvPr/>
        </p:nvSpPr>
        <p:spPr>
          <a:xfrm>
            <a:off x="3337560" y="201168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Regret</a:t>
            </a:r>
          </a:p>
        </p:txBody>
      </p:sp>
      <p:sp>
        <p:nvSpPr>
          <p:cNvPr id="15" name="TextBox 14"/>
          <p:cNvSpPr txBox="1"/>
          <p:nvPr/>
        </p:nvSpPr>
        <p:spPr>
          <a:xfrm>
            <a:off x="960120" y="240487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Cosine</a:t>
            </a:r>
          </a:p>
        </p:txBody>
      </p:sp>
      <p:sp>
        <p:nvSpPr>
          <p:cNvPr id="16" name="TextBox 15"/>
          <p:cNvSpPr txBox="1"/>
          <p:nvPr/>
        </p:nvSpPr>
        <p:spPr>
          <a:xfrm>
            <a:off x="2560320" y="240487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+0.89</a:t>
            </a:r>
          </a:p>
        </p:txBody>
      </p:sp>
      <p:sp>
        <p:nvSpPr>
          <p:cNvPr id="17" name="TextBox 16"/>
          <p:cNvSpPr txBox="1"/>
          <p:nvPr/>
        </p:nvSpPr>
        <p:spPr>
          <a:xfrm>
            <a:off x="3337560" y="240487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0.05</a:t>
            </a:r>
          </a:p>
        </p:txBody>
      </p:sp>
      <p:sp>
        <p:nvSpPr>
          <p:cNvPr id="18" name="TextBox 17"/>
          <p:cNvSpPr txBox="1"/>
          <p:nvPr/>
        </p:nvSpPr>
        <p:spPr>
          <a:xfrm>
            <a:off x="960120" y="2788920"/>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DTW</a:t>
            </a:r>
          </a:p>
        </p:txBody>
      </p:sp>
      <p:sp>
        <p:nvSpPr>
          <p:cNvPr id="19" name="TextBox 18"/>
          <p:cNvSpPr txBox="1"/>
          <p:nvPr/>
        </p:nvSpPr>
        <p:spPr>
          <a:xfrm>
            <a:off x="2560320" y="278892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+0.85</a:t>
            </a:r>
          </a:p>
        </p:txBody>
      </p:sp>
      <p:sp>
        <p:nvSpPr>
          <p:cNvPr id="20" name="TextBox 19"/>
          <p:cNvSpPr txBox="1"/>
          <p:nvPr/>
        </p:nvSpPr>
        <p:spPr>
          <a:xfrm>
            <a:off x="3337560" y="278892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0.00</a:t>
            </a:r>
          </a:p>
        </p:txBody>
      </p:sp>
      <p:sp>
        <p:nvSpPr>
          <p:cNvPr id="21" name="TextBox 20"/>
          <p:cNvSpPr txBox="1"/>
          <p:nvPr/>
        </p:nvSpPr>
        <p:spPr>
          <a:xfrm>
            <a:off x="960120" y="3172968"/>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L₂</a:t>
            </a:r>
          </a:p>
        </p:txBody>
      </p:sp>
      <p:sp>
        <p:nvSpPr>
          <p:cNvPr id="22" name="TextBox 21"/>
          <p:cNvSpPr txBox="1"/>
          <p:nvPr/>
        </p:nvSpPr>
        <p:spPr>
          <a:xfrm>
            <a:off x="2560320" y="3172968"/>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+0.85</a:t>
            </a:r>
          </a:p>
        </p:txBody>
      </p:sp>
      <p:sp>
        <p:nvSpPr>
          <p:cNvPr id="23" name="TextBox 22"/>
          <p:cNvSpPr txBox="1"/>
          <p:nvPr/>
        </p:nvSpPr>
        <p:spPr>
          <a:xfrm>
            <a:off x="3337560" y="3172968"/>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0.00</a:t>
            </a:r>
          </a:p>
        </p:txBody>
      </p:sp>
      <p:sp>
        <p:nvSpPr>
          <p:cNvPr id="24" name="TextBox 23"/>
          <p:cNvSpPr txBox="1"/>
          <p:nvPr/>
        </p:nvSpPr>
        <p:spPr>
          <a:xfrm>
            <a:off x="960120" y="3557016"/>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L₁</a:t>
            </a:r>
          </a:p>
        </p:txBody>
      </p:sp>
      <p:sp>
        <p:nvSpPr>
          <p:cNvPr id="25" name="TextBox 24"/>
          <p:cNvSpPr txBox="1"/>
          <p:nvPr/>
        </p:nvSpPr>
        <p:spPr>
          <a:xfrm>
            <a:off x="2560320" y="3557016"/>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+0.85</a:t>
            </a:r>
          </a:p>
        </p:txBody>
      </p:sp>
      <p:sp>
        <p:nvSpPr>
          <p:cNvPr id="26" name="TextBox 25"/>
          <p:cNvSpPr txBox="1"/>
          <p:nvPr/>
        </p:nvSpPr>
        <p:spPr>
          <a:xfrm>
            <a:off x="3337560" y="3557016"/>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0.05</a:t>
            </a:r>
          </a:p>
        </p:txBody>
      </p:sp>
      <p:sp>
        <p:nvSpPr>
          <p:cNvPr id="27" name="TextBox 26"/>
          <p:cNvSpPr txBox="1"/>
          <p:nvPr/>
        </p:nvSpPr>
        <p:spPr>
          <a:xfrm>
            <a:off x="960120" y="3941064"/>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CE / Acc / NLL</a:t>
            </a:r>
          </a:p>
        </p:txBody>
      </p:sp>
      <p:sp>
        <p:nvSpPr>
          <p:cNvPr id="28" name="TextBox 27"/>
          <p:cNvSpPr txBox="1"/>
          <p:nvPr/>
        </p:nvSpPr>
        <p:spPr>
          <a:xfrm>
            <a:off x="2560320" y="3941064"/>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+0.83</a:t>
            </a:r>
          </a:p>
        </p:txBody>
      </p:sp>
      <p:sp>
        <p:nvSpPr>
          <p:cNvPr id="29" name="TextBox 28"/>
          <p:cNvSpPr txBox="1"/>
          <p:nvPr/>
        </p:nvSpPr>
        <p:spPr>
          <a:xfrm>
            <a:off x="3337560" y="3941064"/>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0.04</a:t>
            </a:r>
          </a:p>
        </p:txBody>
      </p:sp>
      <p:sp>
        <p:nvSpPr>
          <p:cNvPr id="30" name="TextBox 29"/>
          <p:cNvSpPr txBox="1"/>
          <p:nvPr/>
        </p:nvSpPr>
        <p:spPr>
          <a:xfrm>
            <a:off x="960120" y="432511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OT</a:t>
            </a:r>
          </a:p>
        </p:txBody>
      </p:sp>
      <p:sp>
        <p:nvSpPr>
          <p:cNvPr id="31" name="TextBox 30"/>
          <p:cNvSpPr txBox="1"/>
          <p:nvPr/>
        </p:nvSpPr>
        <p:spPr>
          <a:xfrm>
            <a:off x="2560320" y="432511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+0.66</a:t>
            </a:r>
          </a:p>
        </p:txBody>
      </p:sp>
      <p:sp>
        <p:nvSpPr>
          <p:cNvPr id="32" name="TextBox 31"/>
          <p:cNvSpPr txBox="1"/>
          <p:nvPr/>
        </p:nvSpPr>
        <p:spPr>
          <a:xfrm>
            <a:off x="3337560" y="432511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0.04</a:t>
            </a:r>
          </a:p>
        </p:txBody>
      </p:sp>
      <p:sp>
        <p:nvSpPr>
          <p:cNvPr id="33" name="Rectangle 32"/>
          <p:cNvSpPr/>
          <p:nvPr/>
        </p:nvSpPr>
        <p:spPr>
          <a:xfrm>
            <a:off x="4379976" y="1463040"/>
            <a:ext cx="3429000" cy="36118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79976" y="1463040"/>
            <a:ext cx="3429000" cy="45720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9976" y="1536192"/>
            <a:ext cx="3429000" cy="365760"/>
          </a:xfrm>
          <a:prstGeom prst="rect">
            <a:avLst/>
          </a:prstGeom>
          <a:noFill/>
        </p:spPr>
        <p:txBody>
          <a:bodyPr wrap="square" anchor="t" lIns="0" rIns="0" tIns="0" bIns="0">
            <a:spAutoFit/>
          </a:bodyPr>
          <a:lstStyle/>
          <a:p>
            <a:pPr algn="ctr">
              <a:lnSpc>
                <a:spcPct val="106000"/>
              </a:lnSpc>
              <a:spcBef>
                <a:spcPts val="0"/>
              </a:spcBef>
              <a:spcAft>
                <a:spcPts val="0"/>
              </a:spcAft>
            </a:pPr>
            <a:r>
              <a:rPr sz="1450" b="1" i="0">
                <a:solidFill>
                  <a:srgbClr val="FFFFFF"/>
                </a:solidFill>
                <a:latin typeface="Calibri"/>
              </a:rPr>
              <a:t>π₀.₅-150  (flow-matching)</a:t>
            </a:r>
          </a:p>
        </p:txBody>
      </p:sp>
      <p:sp>
        <p:nvSpPr>
          <p:cNvPr id="36" name="TextBox 35"/>
          <p:cNvSpPr txBox="1"/>
          <p:nvPr/>
        </p:nvSpPr>
        <p:spPr>
          <a:xfrm>
            <a:off x="4608576" y="2011680"/>
            <a:ext cx="1463040" cy="320040"/>
          </a:xfrm>
          <a:prstGeom prst="rect">
            <a:avLst/>
          </a:prstGeom>
          <a:noFill/>
        </p:spPr>
        <p:txBody>
          <a:bodyPr wrap="square" anchor="t" lIns="0" rIns="0" tIns="0" bIns="0">
            <a:spAutoFit/>
          </a:bodyPr>
          <a:lstStyle/>
          <a:p>
            <a:pPr algn="l">
              <a:lnSpc>
                <a:spcPct val="106000"/>
              </a:lnSpc>
              <a:spcBef>
                <a:spcPts val="0"/>
              </a:spcBef>
              <a:spcAft>
                <a:spcPts val="0"/>
              </a:spcAft>
            </a:pPr>
            <a:r>
              <a:rPr sz="1150" b="1" i="0">
                <a:solidFill>
                  <a:srgbClr val="8A8A8A"/>
                </a:solidFill>
                <a:latin typeface="Calibri"/>
              </a:rPr>
              <a:t>Metric</a:t>
            </a:r>
          </a:p>
        </p:txBody>
      </p:sp>
      <p:sp>
        <p:nvSpPr>
          <p:cNvPr id="37" name="TextBox 36"/>
          <p:cNvSpPr txBox="1"/>
          <p:nvPr/>
        </p:nvSpPr>
        <p:spPr>
          <a:xfrm>
            <a:off x="6208776" y="201168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ρ</a:t>
            </a:r>
          </a:p>
        </p:txBody>
      </p:sp>
      <p:sp>
        <p:nvSpPr>
          <p:cNvPr id="38" name="TextBox 37"/>
          <p:cNvSpPr txBox="1"/>
          <p:nvPr/>
        </p:nvSpPr>
        <p:spPr>
          <a:xfrm>
            <a:off x="6986016" y="201168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Regret</a:t>
            </a:r>
          </a:p>
        </p:txBody>
      </p:sp>
      <p:sp>
        <p:nvSpPr>
          <p:cNvPr id="39" name="TextBox 38"/>
          <p:cNvSpPr txBox="1"/>
          <p:nvPr/>
        </p:nvSpPr>
        <p:spPr>
          <a:xfrm>
            <a:off x="4608576" y="240487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L₁</a:t>
            </a:r>
          </a:p>
        </p:txBody>
      </p:sp>
      <p:sp>
        <p:nvSpPr>
          <p:cNvPr id="40" name="TextBox 39"/>
          <p:cNvSpPr txBox="1"/>
          <p:nvPr/>
        </p:nvSpPr>
        <p:spPr>
          <a:xfrm>
            <a:off x="6208776" y="240487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+0.78</a:t>
            </a:r>
          </a:p>
        </p:txBody>
      </p:sp>
      <p:sp>
        <p:nvSpPr>
          <p:cNvPr id="41" name="TextBox 40"/>
          <p:cNvSpPr txBox="1"/>
          <p:nvPr/>
        </p:nvSpPr>
        <p:spPr>
          <a:xfrm>
            <a:off x="6986016" y="240487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0.05</a:t>
            </a:r>
          </a:p>
        </p:txBody>
      </p:sp>
      <p:sp>
        <p:nvSpPr>
          <p:cNvPr id="42" name="TextBox 41"/>
          <p:cNvSpPr txBox="1"/>
          <p:nvPr/>
        </p:nvSpPr>
        <p:spPr>
          <a:xfrm>
            <a:off x="4608576" y="2788920"/>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Cosine</a:t>
            </a:r>
          </a:p>
        </p:txBody>
      </p:sp>
      <p:sp>
        <p:nvSpPr>
          <p:cNvPr id="43" name="TextBox 42"/>
          <p:cNvSpPr txBox="1"/>
          <p:nvPr/>
        </p:nvSpPr>
        <p:spPr>
          <a:xfrm>
            <a:off x="6208776" y="278892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+0.77</a:t>
            </a:r>
          </a:p>
        </p:txBody>
      </p:sp>
      <p:sp>
        <p:nvSpPr>
          <p:cNvPr id="44" name="TextBox 43"/>
          <p:cNvSpPr txBox="1"/>
          <p:nvPr/>
        </p:nvSpPr>
        <p:spPr>
          <a:xfrm>
            <a:off x="6986016" y="278892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0.04</a:t>
            </a:r>
          </a:p>
        </p:txBody>
      </p:sp>
      <p:sp>
        <p:nvSpPr>
          <p:cNvPr id="45" name="TextBox 44"/>
          <p:cNvSpPr txBox="1"/>
          <p:nvPr/>
        </p:nvSpPr>
        <p:spPr>
          <a:xfrm>
            <a:off x="4608576" y="3172968"/>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L₂</a:t>
            </a:r>
          </a:p>
        </p:txBody>
      </p:sp>
      <p:sp>
        <p:nvSpPr>
          <p:cNvPr id="46" name="TextBox 45"/>
          <p:cNvSpPr txBox="1"/>
          <p:nvPr/>
        </p:nvSpPr>
        <p:spPr>
          <a:xfrm>
            <a:off x="6208776" y="3172968"/>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+0.73</a:t>
            </a:r>
          </a:p>
        </p:txBody>
      </p:sp>
      <p:sp>
        <p:nvSpPr>
          <p:cNvPr id="47" name="TextBox 46"/>
          <p:cNvSpPr txBox="1"/>
          <p:nvPr/>
        </p:nvSpPr>
        <p:spPr>
          <a:xfrm>
            <a:off x="6986016" y="3172968"/>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0.08</a:t>
            </a:r>
          </a:p>
        </p:txBody>
      </p:sp>
      <p:sp>
        <p:nvSpPr>
          <p:cNvPr id="48" name="TextBox 47"/>
          <p:cNvSpPr txBox="1"/>
          <p:nvPr/>
        </p:nvSpPr>
        <p:spPr>
          <a:xfrm>
            <a:off x="4608576" y="3557016"/>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DTW</a:t>
            </a:r>
          </a:p>
        </p:txBody>
      </p:sp>
      <p:sp>
        <p:nvSpPr>
          <p:cNvPr id="49" name="TextBox 48"/>
          <p:cNvSpPr txBox="1"/>
          <p:nvPr/>
        </p:nvSpPr>
        <p:spPr>
          <a:xfrm>
            <a:off x="6208776" y="3557016"/>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+0.72</a:t>
            </a:r>
          </a:p>
        </p:txBody>
      </p:sp>
      <p:sp>
        <p:nvSpPr>
          <p:cNvPr id="50" name="TextBox 49"/>
          <p:cNvSpPr txBox="1"/>
          <p:nvPr/>
        </p:nvSpPr>
        <p:spPr>
          <a:xfrm>
            <a:off x="6986016" y="3557016"/>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0.07</a:t>
            </a:r>
          </a:p>
        </p:txBody>
      </p:sp>
      <p:sp>
        <p:nvSpPr>
          <p:cNvPr id="51" name="TextBox 50"/>
          <p:cNvSpPr txBox="1"/>
          <p:nvPr/>
        </p:nvSpPr>
        <p:spPr>
          <a:xfrm>
            <a:off x="4608576" y="3941064"/>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OT</a:t>
            </a:r>
          </a:p>
        </p:txBody>
      </p:sp>
      <p:sp>
        <p:nvSpPr>
          <p:cNvPr id="52" name="TextBox 51"/>
          <p:cNvSpPr txBox="1"/>
          <p:nvPr/>
        </p:nvSpPr>
        <p:spPr>
          <a:xfrm>
            <a:off x="6208776" y="3941064"/>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+0.68</a:t>
            </a:r>
          </a:p>
        </p:txBody>
      </p:sp>
      <p:sp>
        <p:nvSpPr>
          <p:cNvPr id="53" name="TextBox 52"/>
          <p:cNvSpPr txBox="1"/>
          <p:nvPr/>
        </p:nvSpPr>
        <p:spPr>
          <a:xfrm>
            <a:off x="6986016" y="3941064"/>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0.17</a:t>
            </a:r>
          </a:p>
        </p:txBody>
      </p:sp>
      <p:sp>
        <p:nvSpPr>
          <p:cNvPr id="54" name="TextBox 53"/>
          <p:cNvSpPr txBox="1"/>
          <p:nvPr/>
        </p:nvSpPr>
        <p:spPr>
          <a:xfrm>
            <a:off x="4608576" y="432511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C02A2A"/>
                </a:solidFill>
                <a:latin typeface="Calibri"/>
              </a:rPr>
              <a:t>NLL / FM</a:t>
            </a:r>
          </a:p>
        </p:txBody>
      </p:sp>
      <p:sp>
        <p:nvSpPr>
          <p:cNvPr id="55" name="TextBox 54"/>
          <p:cNvSpPr txBox="1"/>
          <p:nvPr/>
        </p:nvSpPr>
        <p:spPr>
          <a:xfrm>
            <a:off x="6208776" y="432511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C02A2A"/>
                </a:solidFill>
                <a:latin typeface="Calibri"/>
              </a:rPr>
              <a:t>−0.16</a:t>
            </a:r>
          </a:p>
        </p:txBody>
      </p:sp>
      <p:sp>
        <p:nvSpPr>
          <p:cNvPr id="56" name="TextBox 55"/>
          <p:cNvSpPr txBox="1"/>
          <p:nvPr/>
        </p:nvSpPr>
        <p:spPr>
          <a:xfrm>
            <a:off x="6986016" y="432511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C02A2A"/>
                </a:solidFill>
                <a:latin typeface="Calibri"/>
              </a:rPr>
              <a:t>0.20</a:t>
            </a:r>
          </a:p>
        </p:txBody>
      </p:sp>
      <p:sp>
        <p:nvSpPr>
          <p:cNvPr id="57" name="Rectangle 56"/>
          <p:cNvSpPr/>
          <p:nvPr/>
        </p:nvSpPr>
        <p:spPr>
          <a:xfrm>
            <a:off x="8028431" y="1463040"/>
            <a:ext cx="3429000" cy="36118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028431" y="1463040"/>
            <a:ext cx="3429000" cy="45720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28431" y="1536192"/>
            <a:ext cx="3429000" cy="365760"/>
          </a:xfrm>
          <a:prstGeom prst="rect">
            <a:avLst/>
          </a:prstGeom>
          <a:noFill/>
        </p:spPr>
        <p:txBody>
          <a:bodyPr wrap="square" anchor="t" lIns="0" rIns="0" tIns="0" bIns="0">
            <a:spAutoFit/>
          </a:bodyPr>
          <a:lstStyle/>
          <a:p>
            <a:pPr algn="ctr">
              <a:lnSpc>
                <a:spcPct val="106000"/>
              </a:lnSpc>
              <a:spcBef>
                <a:spcPts val="0"/>
              </a:spcBef>
              <a:spcAft>
                <a:spcPts val="0"/>
              </a:spcAft>
            </a:pPr>
            <a:r>
              <a:rPr sz="1450" b="1" i="0">
                <a:solidFill>
                  <a:srgbClr val="FFFFFF"/>
                </a:solidFill>
                <a:latin typeface="Calibri"/>
              </a:rPr>
              <a:t>SmolVLA-150  (flow-matching)</a:t>
            </a:r>
          </a:p>
        </p:txBody>
      </p:sp>
      <p:sp>
        <p:nvSpPr>
          <p:cNvPr id="60" name="TextBox 59"/>
          <p:cNvSpPr txBox="1"/>
          <p:nvPr/>
        </p:nvSpPr>
        <p:spPr>
          <a:xfrm>
            <a:off x="8257031" y="2011680"/>
            <a:ext cx="1463040" cy="320040"/>
          </a:xfrm>
          <a:prstGeom prst="rect">
            <a:avLst/>
          </a:prstGeom>
          <a:noFill/>
        </p:spPr>
        <p:txBody>
          <a:bodyPr wrap="square" anchor="t" lIns="0" rIns="0" tIns="0" bIns="0">
            <a:spAutoFit/>
          </a:bodyPr>
          <a:lstStyle/>
          <a:p>
            <a:pPr algn="l">
              <a:lnSpc>
                <a:spcPct val="106000"/>
              </a:lnSpc>
              <a:spcBef>
                <a:spcPts val="0"/>
              </a:spcBef>
              <a:spcAft>
                <a:spcPts val="0"/>
              </a:spcAft>
            </a:pPr>
            <a:r>
              <a:rPr sz="1150" b="1" i="0">
                <a:solidFill>
                  <a:srgbClr val="8A8A8A"/>
                </a:solidFill>
                <a:latin typeface="Calibri"/>
              </a:rPr>
              <a:t>Metric</a:t>
            </a:r>
          </a:p>
        </p:txBody>
      </p:sp>
      <p:sp>
        <p:nvSpPr>
          <p:cNvPr id="61" name="TextBox 60"/>
          <p:cNvSpPr txBox="1"/>
          <p:nvPr/>
        </p:nvSpPr>
        <p:spPr>
          <a:xfrm>
            <a:off x="9857231" y="201168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ρ</a:t>
            </a:r>
          </a:p>
        </p:txBody>
      </p:sp>
      <p:sp>
        <p:nvSpPr>
          <p:cNvPr id="62" name="TextBox 61"/>
          <p:cNvSpPr txBox="1"/>
          <p:nvPr/>
        </p:nvSpPr>
        <p:spPr>
          <a:xfrm>
            <a:off x="10634471" y="201168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150" b="1" i="0">
                <a:solidFill>
                  <a:srgbClr val="8A8A8A"/>
                </a:solidFill>
                <a:latin typeface="Calibri"/>
              </a:rPr>
              <a:t>Regret</a:t>
            </a:r>
          </a:p>
        </p:txBody>
      </p:sp>
      <p:sp>
        <p:nvSpPr>
          <p:cNvPr id="63" name="TextBox 62"/>
          <p:cNvSpPr txBox="1"/>
          <p:nvPr/>
        </p:nvSpPr>
        <p:spPr>
          <a:xfrm>
            <a:off x="8257031" y="240487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L₁</a:t>
            </a:r>
          </a:p>
        </p:txBody>
      </p:sp>
      <p:sp>
        <p:nvSpPr>
          <p:cNvPr id="64" name="TextBox 63"/>
          <p:cNvSpPr txBox="1"/>
          <p:nvPr/>
        </p:nvSpPr>
        <p:spPr>
          <a:xfrm>
            <a:off x="9857231" y="240487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+0.77</a:t>
            </a:r>
          </a:p>
        </p:txBody>
      </p:sp>
      <p:sp>
        <p:nvSpPr>
          <p:cNvPr id="65" name="TextBox 64"/>
          <p:cNvSpPr txBox="1"/>
          <p:nvPr/>
        </p:nvSpPr>
        <p:spPr>
          <a:xfrm>
            <a:off x="10634471" y="240487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0.15</a:t>
            </a:r>
          </a:p>
        </p:txBody>
      </p:sp>
      <p:sp>
        <p:nvSpPr>
          <p:cNvPr id="66" name="TextBox 65"/>
          <p:cNvSpPr txBox="1"/>
          <p:nvPr/>
        </p:nvSpPr>
        <p:spPr>
          <a:xfrm>
            <a:off x="8257031" y="2788920"/>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DTW</a:t>
            </a:r>
          </a:p>
        </p:txBody>
      </p:sp>
      <p:sp>
        <p:nvSpPr>
          <p:cNvPr id="67" name="TextBox 66"/>
          <p:cNvSpPr txBox="1"/>
          <p:nvPr/>
        </p:nvSpPr>
        <p:spPr>
          <a:xfrm>
            <a:off x="9857231" y="2788920"/>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+0.72</a:t>
            </a:r>
          </a:p>
        </p:txBody>
      </p:sp>
      <p:sp>
        <p:nvSpPr>
          <p:cNvPr id="68" name="TextBox 67"/>
          <p:cNvSpPr txBox="1"/>
          <p:nvPr/>
        </p:nvSpPr>
        <p:spPr>
          <a:xfrm>
            <a:off x="10634471" y="2788920"/>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0.17</a:t>
            </a:r>
          </a:p>
        </p:txBody>
      </p:sp>
      <p:sp>
        <p:nvSpPr>
          <p:cNvPr id="69" name="TextBox 68"/>
          <p:cNvSpPr txBox="1"/>
          <p:nvPr/>
        </p:nvSpPr>
        <p:spPr>
          <a:xfrm>
            <a:off x="8257031" y="3172968"/>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L₂</a:t>
            </a:r>
          </a:p>
        </p:txBody>
      </p:sp>
      <p:sp>
        <p:nvSpPr>
          <p:cNvPr id="70" name="TextBox 69"/>
          <p:cNvSpPr txBox="1"/>
          <p:nvPr/>
        </p:nvSpPr>
        <p:spPr>
          <a:xfrm>
            <a:off x="9857231" y="3172968"/>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+0.70</a:t>
            </a:r>
          </a:p>
        </p:txBody>
      </p:sp>
      <p:sp>
        <p:nvSpPr>
          <p:cNvPr id="71" name="TextBox 70"/>
          <p:cNvSpPr txBox="1"/>
          <p:nvPr/>
        </p:nvSpPr>
        <p:spPr>
          <a:xfrm>
            <a:off x="10634471" y="3172968"/>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0.14</a:t>
            </a:r>
          </a:p>
        </p:txBody>
      </p:sp>
      <p:sp>
        <p:nvSpPr>
          <p:cNvPr id="72" name="TextBox 71"/>
          <p:cNvSpPr txBox="1"/>
          <p:nvPr/>
        </p:nvSpPr>
        <p:spPr>
          <a:xfrm>
            <a:off x="8257031" y="3557016"/>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Cosine</a:t>
            </a:r>
          </a:p>
        </p:txBody>
      </p:sp>
      <p:sp>
        <p:nvSpPr>
          <p:cNvPr id="73" name="TextBox 72"/>
          <p:cNvSpPr txBox="1"/>
          <p:nvPr/>
        </p:nvSpPr>
        <p:spPr>
          <a:xfrm>
            <a:off x="9857231" y="3557016"/>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+0.68</a:t>
            </a:r>
          </a:p>
        </p:txBody>
      </p:sp>
      <p:sp>
        <p:nvSpPr>
          <p:cNvPr id="74" name="TextBox 73"/>
          <p:cNvSpPr txBox="1"/>
          <p:nvPr/>
        </p:nvSpPr>
        <p:spPr>
          <a:xfrm>
            <a:off x="10634471" y="3557016"/>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0.16</a:t>
            </a:r>
          </a:p>
        </p:txBody>
      </p:sp>
      <p:sp>
        <p:nvSpPr>
          <p:cNvPr id="75" name="TextBox 74"/>
          <p:cNvSpPr txBox="1"/>
          <p:nvPr/>
        </p:nvSpPr>
        <p:spPr>
          <a:xfrm>
            <a:off x="8257031" y="3941064"/>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OT</a:t>
            </a:r>
          </a:p>
        </p:txBody>
      </p:sp>
      <p:sp>
        <p:nvSpPr>
          <p:cNvPr id="76" name="TextBox 75"/>
          <p:cNvSpPr txBox="1"/>
          <p:nvPr/>
        </p:nvSpPr>
        <p:spPr>
          <a:xfrm>
            <a:off x="9857231" y="3941064"/>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+0.62</a:t>
            </a:r>
          </a:p>
        </p:txBody>
      </p:sp>
      <p:sp>
        <p:nvSpPr>
          <p:cNvPr id="77" name="TextBox 76"/>
          <p:cNvSpPr txBox="1"/>
          <p:nvPr/>
        </p:nvSpPr>
        <p:spPr>
          <a:xfrm>
            <a:off x="10634471" y="3941064"/>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0.20</a:t>
            </a:r>
          </a:p>
        </p:txBody>
      </p:sp>
      <p:sp>
        <p:nvSpPr>
          <p:cNvPr id="78" name="TextBox 77"/>
          <p:cNvSpPr txBox="1"/>
          <p:nvPr/>
        </p:nvSpPr>
        <p:spPr>
          <a:xfrm>
            <a:off x="8257031" y="4325112"/>
            <a:ext cx="155448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C02A2A"/>
                </a:solidFill>
                <a:latin typeface="Calibri"/>
              </a:rPr>
              <a:t>NLL / FM</a:t>
            </a:r>
          </a:p>
        </p:txBody>
      </p:sp>
      <p:sp>
        <p:nvSpPr>
          <p:cNvPr id="79" name="TextBox 78"/>
          <p:cNvSpPr txBox="1"/>
          <p:nvPr/>
        </p:nvSpPr>
        <p:spPr>
          <a:xfrm>
            <a:off x="9857231" y="4325112"/>
            <a:ext cx="82296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C02A2A"/>
                </a:solidFill>
                <a:latin typeface="Calibri"/>
              </a:rPr>
              <a:t>−0.35</a:t>
            </a:r>
          </a:p>
        </p:txBody>
      </p:sp>
      <p:sp>
        <p:nvSpPr>
          <p:cNvPr id="80" name="TextBox 79"/>
          <p:cNvSpPr txBox="1"/>
          <p:nvPr/>
        </p:nvSpPr>
        <p:spPr>
          <a:xfrm>
            <a:off x="10634471" y="4325112"/>
            <a:ext cx="77724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C02A2A"/>
                </a:solidFill>
                <a:latin typeface="Calibri"/>
              </a:rPr>
              <a:t>0.14</a:t>
            </a:r>
          </a:p>
        </p:txBody>
      </p:sp>
      <p:sp>
        <p:nvSpPr>
          <p:cNvPr id="81" name="TextBox 80"/>
          <p:cNvSpPr txBox="1"/>
          <p:nvPr/>
        </p:nvSpPr>
        <p:spPr>
          <a:xfrm>
            <a:off x="731520" y="5303520"/>
            <a:ext cx="10789920" cy="1097280"/>
          </a:xfrm>
          <a:prstGeom prst="rect">
            <a:avLst/>
          </a:prstGeom>
          <a:noFill/>
        </p:spPr>
        <p:txBody>
          <a:bodyPr wrap="square" anchor="t" lIns="0" rIns="0" tIns="0" bIns="0">
            <a:spAutoFit/>
          </a:bodyPr>
          <a:lstStyle/>
          <a:p>
            <a:pPr algn="l">
              <a:lnSpc>
                <a:spcPct val="112000"/>
              </a:lnSpc>
              <a:spcBef>
                <a:spcPts val="0"/>
              </a:spcBef>
              <a:spcAft>
                <a:spcPts val="0"/>
              </a:spcAft>
            </a:pPr>
            <a:r>
              <a:rPr sz="1500" b="1" i="0">
                <a:solidFill>
                  <a:srgbClr val="1A1A1A"/>
                </a:solidFill>
                <a:latin typeface="Calibri"/>
              </a:rPr>
              <a:t>Two patterns:  </a:t>
            </a:r>
            <a:r>
              <a:rPr sz="1500" b="0" i="0">
                <a:solidFill>
                  <a:srgbClr val="555555"/>
                </a:solidFill>
                <a:latin typeface="Calibri"/>
              </a:rPr>
              <a:t>(1) on OpenVLA-full, DTW and L₂ pick the </a:t>
            </a:r>
            <a:r>
              <a:rPr sz="1500" b="1" i="0">
                <a:solidFill>
                  <a:srgbClr val="1A1A1A"/>
                </a:solidFill>
                <a:latin typeface="Calibri"/>
              </a:rPr>
              <a:t>identical</a:t>
            </a:r>
            <a:r>
              <a:rPr sz="1500" b="0" i="0">
                <a:solidFill>
                  <a:srgbClr val="555555"/>
                </a:solidFill>
                <a:latin typeface="Calibri"/>
              </a:rPr>
              <a:t> checkpoint (21499) with identical ρ and zero regret;  (2) the NLL/FM surrogate drops sharply on flow-matching runs (green, purple) while staying strong on discrete-token (blue).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RQ3</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Effective for the coarse decision; harder on the plateau</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11</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pic>
        <p:nvPicPr>
          <p:cNvPr id="9" name="Picture 8" descr="plateau_restriction.png"/>
          <p:cNvPicPr>
            <a:picLocks noChangeAspect="1"/>
          </p:cNvPicPr>
          <p:nvPr/>
        </p:nvPicPr>
        <p:blipFill>
          <a:blip r:embed="rId2"/>
          <a:stretch>
            <a:fillRect/>
          </a:stretch>
        </p:blipFill>
        <p:spPr>
          <a:xfrm>
            <a:off x="640080" y="1371600"/>
            <a:ext cx="6583680" cy="2532184"/>
          </a:xfrm>
          <a:prstGeom prst="rect">
            <a:avLst/>
          </a:prstGeom>
        </p:spPr>
      </p:pic>
      <p:sp>
        <p:nvSpPr>
          <p:cNvPr id="10" name="Rectangle 9"/>
          <p:cNvSpPr/>
          <p:nvPr/>
        </p:nvSpPr>
        <p:spPr>
          <a:xfrm>
            <a:off x="7452360" y="1417320"/>
            <a:ext cx="4114800" cy="32004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1572768"/>
            <a:ext cx="3703320" cy="411480"/>
          </a:xfrm>
          <a:prstGeom prst="rect">
            <a:avLst/>
          </a:prstGeom>
          <a:noFill/>
        </p:spPr>
        <p:txBody>
          <a:bodyPr wrap="square" anchor="t" lIns="0" rIns="0" tIns="0" bIns="0">
            <a:spAutoFit/>
          </a:bodyPr>
          <a:lstStyle/>
          <a:p>
            <a:pPr algn="l">
              <a:lnSpc>
                <a:spcPct val="106000"/>
              </a:lnSpc>
              <a:spcBef>
                <a:spcPts val="0"/>
              </a:spcBef>
              <a:spcAft>
                <a:spcPts val="0"/>
              </a:spcAft>
            </a:pPr>
            <a:r>
              <a:rPr sz="1400" b="1" i="0">
                <a:solidFill>
                  <a:srgbClr val="1A1A1A"/>
                </a:solidFill>
                <a:latin typeface="Calibri"/>
              </a:rPr>
              <a:t>Full range  vs.  converged plateau</a:t>
            </a:r>
          </a:p>
        </p:txBody>
      </p:sp>
      <p:sp>
        <p:nvSpPr>
          <p:cNvPr id="12" name="Rectangle 11"/>
          <p:cNvSpPr/>
          <p:nvPr/>
        </p:nvSpPr>
        <p:spPr>
          <a:xfrm>
            <a:off x="7635240" y="2057400"/>
            <a:ext cx="3749039"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084832"/>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FFFFFF"/>
                </a:solidFill>
                <a:latin typeface="Calibri"/>
              </a:rPr>
              <a:t>Run</a:t>
            </a:r>
          </a:p>
        </p:txBody>
      </p:sp>
      <p:sp>
        <p:nvSpPr>
          <p:cNvPr id="14" name="TextBox 13"/>
          <p:cNvSpPr txBox="1"/>
          <p:nvPr/>
        </p:nvSpPr>
        <p:spPr>
          <a:xfrm>
            <a:off x="9509760" y="2084832"/>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FFFFFF"/>
                </a:solidFill>
                <a:latin typeface="Calibri"/>
              </a:rPr>
              <a:t>ρ full</a:t>
            </a:r>
          </a:p>
        </p:txBody>
      </p:sp>
      <p:sp>
        <p:nvSpPr>
          <p:cNvPr id="15" name="TextBox 14"/>
          <p:cNvSpPr txBox="1"/>
          <p:nvPr/>
        </p:nvSpPr>
        <p:spPr>
          <a:xfrm>
            <a:off x="10424160" y="2084832"/>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FFFFFF"/>
                </a:solidFill>
                <a:latin typeface="Calibri"/>
              </a:rPr>
              <a:t>ρ plat</a:t>
            </a:r>
          </a:p>
        </p:txBody>
      </p:sp>
      <p:sp>
        <p:nvSpPr>
          <p:cNvPr id="16" name="TextBox 15"/>
          <p:cNvSpPr txBox="1"/>
          <p:nvPr/>
        </p:nvSpPr>
        <p:spPr>
          <a:xfrm>
            <a:off x="7772400" y="2468880"/>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SmolVLA-150</a:t>
            </a:r>
          </a:p>
        </p:txBody>
      </p:sp>
      <p:sp>
        <p:nvSpPr>
          <p:cNvPr id="17" name="TextBox 16"/>
          <p:cNvSpPr txBox="1"/>
          <p:nvPr/>
        </p:nvSpPr>
        <p:spPr>
          <a:xfrm>
            <a:off x="9509760" y="2468880"/>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+0.72</a:t>
            </a:r>
          </a:p>
        </p:txBody>
      </p:sp>
      <p:sp>
        <p:nvSpPr>
          <p:cNvPr id="18" name="TextBox 17"/>
          <p:cNvSpPr txBox="1"/>
          <p:nvPr/>
        </p:nvSpPr>
        <p:spPr>
          <a:xfrm>
            <a:off x="10424160" y="2468880"/>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+0.55</a:t>
            </a:r>
          </a:p>
        </p:txBody>
      </p:sp>
      <p:sp>
        <p:nvSpPr>
          <p:cNvPr id="19" name="Rectangle 18"/>
          <p:cNvSpPr/>
          <p:nvPr/>
        </p:nvSpPr>
        <p:spPr>
          <a:xfrm>
            <a:off x="7635240" y="2825496"/>
            <a:ext cx="3749039" cy="365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852928"/>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OpenVLA-150</a:t>
            </a:r>
          </a:p>
        </p:txBody>
      </p:sp>
      <p:sp>
        <p:nvSpPr>
          <p:cNvPr id="21" name="TextBox 20"/>
          <p:cNvSpPr txBox="1"/>
          <p:nvPr/>
        </p:nvSpPr>
        <p:spPr>
          <a:xfrm>
            <a:off x="9509760" y="2852928"/>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+0.75</a:t>
            </a:r>
          </a:p>
        </p:txBody>
      </p:sp>
      <p:sp>
        <p:nvSpPr>
          <p:cNvPr id="22" name="TextBox 21"/>
          <p:cNvSpPr txBox="1"/>
          <p:nvPr/>
        </p:nvSpPr>
        <p:spPr>
          <a:xfrm>
            <a:off x="10424160" y="2852928"/>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+0.59</a:t>
            </a:r>
          </a:p>
        </p:txBody>
      </p:sp>
      <p:sp>
        <p:nvSpPr>
          <p:cNvPr id="23" name="TextBox 22"/>
          <p:cNvSpPr txBox="1"/>
          <p:nvPr/>
        </p:nvSpPr>
        <p:spPr>
          <a:xfrm>
            <a:off x="7772400" y="3236976"/>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OpenVLA-full</a:t>
            </a:r>
          </a:p>
        </p:txBody>
      </p:sp>
      <p:sp>
        <p:nvSpPr>
          <p:cNvPr id="24" name="TextBox 23"/>
          <p:cNvSpPr txBox="1"/>
          <p:nvPr/>
        </p:nvSpPr>
        <p:spPr>
          <a:xfrm>
            <a:off x="9509760" y="3236976"/>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+0.86</a:t>
            </a:r>
          </a:p>
        </p:txBody>
      </p:sp>
      <p:sp>
        <p:nvSpPr>
          <p:cNvPr id="25" name="TextBox 24"/>
          <p:cNvSpPr txBox="1"/>
          <p:nvPr/>
        </p:nvSpPr>
        <p:spPr>
          <a:xfrm>
            <a:off x="10424160" y="3236976"/>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+0.73</a:t>
            </a:r>
          </a:p>
        </p:txBody>
      </p:sp>
      <p:sp>
        <p:nvSpPr>
          <p:cNvPr id="26" name="Rectangle 25"/>
          <p:cNvSpPr/>
          <p:nvPr/>
        </p:nvSpPr>
        <p:spPr>
          <a:xfrm>
            <a:off x="7635240" y="3593592"/>
            <a:ext cx="3749039" cy="365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621024"/>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1A1A1A"/>
                </a:solidFill>
                <a:latin typeface="Calibri"/>
              </a:rPr>
              <a:t>π₀.₅-full</a:t>
            </a:r>
          </a:p>
        </p:txBody>
      </p:sp>
      <p:sp>
        <p:nvSpPr>
          <p:cNvPr id="28" name="TextBox 27"/>
          <p:cNvSpPr txBox="1"/>
          <p:nvPr/>
        </p:nvSpPr>
        <p:spPr>
          <a:xfrm>
            <a:off x="9509760" y="3621024"/>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+0.91</a:t>
            </a:r>
          </a:p>
        </p:txBody>
      </p:sp>
      <p:sp>
        <p:nvSpPr>
          <p:cNvPr id="29" name="TextBox 28"/>
          <p:cNvSpPr txBox="1"/>
          <p:nvPr/>
        </p:nvSpPr>
        <p:spPr>
          <a:xfrm>
            <a:off x="10424160" y="3621024"/>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1A1A1A"/>
                </a:solidFill>
                <a:latin typeface="Calibri"/>
              </a:rPr>
              <a:t>+0.80</a:t>
            </a:r>
          </a:p>
        </p:txBody>
      </p:sp>
      <p:sp>
        <p:nvSpPr>
          <p:cNvPr id="30" name="Rectangle 29"/>
          <p:cNvSpPr/>
          <p:nvPr/>
        </p:nvSpPr>
        <p:spPr>
          <a:xfrm>
            <a:off x="7635240" y="3977640"/>
            <a:ext cx="3749039" cy="365760"/>
          </a:xfrm>
          <a:prstGeom prst="rect">
            <a:avLst/>
          </a:prstGeom>
          <a:solidFill>
            <a:srgbClr val="FF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0" y="4005072"/>
            <a:ext cx="1828800" cy="320040"/>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C02A2A"/>
                </a:solidFill>
                <a:latin typeface="Calibri"/>
              </a:rPr>
              <a:t>π₀.₅-150</a:t>
            </a:r>
          </a:p>
        </p:txBody>
      </p:sp>
      <p:sp>
        <p:nvSpPr>
          <p:cNvPr id="32" name="TextBox 31"/>
          <p:cNvSpPr txBox="1"/>
          <p:nvPr/>
        </p:nvSpPr>
        <p:spPr>
          <a:xfrm>
            <a:off x="9509760" y="4005072"/>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0" i="0">
                <a:solidFill>
                  <a:srgbClr val="C02A2A"/>
                </a:solidFill>
                <a:latin typeface="Calibri"/>
              </a:rPr>
              <a:t>+0.72</a:t>
            </a:r>
          </a:p>
        </p:txBody>
      </p:sp>
      <p:sp>
        <p:nvSpPr>
          <p:cNvPr id="33" name="TextBox 32"/>
          <p:cNvSpPr txBox="1"/>
          <p:nvPr/>
        </p:nvSpPr>
        <p:spPr>
          <a:xfrm>
            <a:off x="10424160" y="4005072"/>
            <a:ext cx="868680" cy="320040"/>
          </a:xfrm>
          <a:prstGeom prst="rect">
            <a:avLst/>
          </a:prstGeom>
          <a:noFill/>
        </p:spPr>
        <p:txBody>
          <a:bodyPr wrap="square" anchor="t" lIns="0" rIns="0" tIns="0" bIns="0">
            <a:spAutoFit/>
          </a:bodyPr>
          <a:lstStyle/>
          <a:p>
            <a:pPr algn="ctr">
              <a:lnSpc>
                <a:spcPct val="106000"/>
              </a:lnSpc>
              <a:spcBef>
                <a:spcPts val="0"/>
              </a:spcBef>
              <a:spcAft>
                <a:spcPts val="0"/>
              </a:spcAft>
            </a:pPr>
            <a:r>
              <a:rPr sz="1250" b="1" i="0">
                <a:solidFill>
                  <a:srgbClr val="C02A2A"/>
                </a:solidFill>
                <a:latin typeface="Calibri"/>
              </a:rPr>
              <a:t>+0.43</a:t>
            </a:r>
          </a:p>
        </p:txBody>
      </p:sp>
      <p:sp>
        <p:nvSpPr>
          <p:cNvPr id="34" name="TextBox 33"/>
          <p:cNvSpPr txBox="1"/>
          <p:nvPr/>
        </p:nvSpPr>
        <p:spPr>
          <a:xfrm>
            <a:off x="731520" y="4709160"/>
            <a:ext cx="10789920" cy="1737360"/>
          </a:xfrm>
          <a:prstGeom prst="rect">
            <a:avLst/>
          </a:prstGeom>
          <a:noFill/>
        </p:spPr>
        <p:txBody>
          <a:bodyPr wrap="square" lIns="0" rIns="0" tIns="0" bIns="0">
            <a:spAutoFit/>
          </a:bodyPr>
          <a:lstStyle/>
          <a:p>
            <a:pPr>
              <a:lnSpc>
                <a:spcPct val="108000"/>
              </a:lnSpc>
              <a:spcBef>
                <a:spcPts val="0"/>
              </a:spcBef>
              <a:spcAft>
                <a:spcPts val="900"/>
              </a:spcAft>
            </a:pPr>
            <a:r>
              <a:rPr sz="1400" b="1">
                <a:solidFill>
                  <a:srgbClr val="FFD100"/>
                </a:solidFill>
                <a:latin typeface="Calibri"/>
              </a:rPr>
              <a:t>— </a:t>
            </a:r>
            <a:r>
              <a:rPr sz="1400" b="1">
                <a:solidFill>
                  <a:srgbClr val="1A1A1A"/>
                </a:solidFill>
                <a:latin typeface="Calibri"/>
              </a:rPr>
              <a:t>Coarse decision is robust: </a:t>
            </a:r>
            <a:r>
              <a:rPr sz="1400" b="0">
                <a:solidFill>
                  <a:srgbClr val="1A1A1A"/>
                </a:solidFill>
                <a:latin typeface="Calibri"/>
              </a:rPr>
              <a:t>“do not stop before the knee” holds at ρ ≈ 0.8–0.9 over the full descent in all five runs.</a:t>
            </a:r>
          </a:p>
          <a:p>
            <a:pPr>
              <a:lnSpc>
                <a:spcPct val="108000"/>
              </a:lnSpc>
              <a:spcBef>
                <a:spcPts val="0"/>
              </a:spcBef>
              <a:spcAft>
                <a:spcPts val="900"/>
              </a:spcAft>
            </a:pPr>
            <a:r>
              <a:rPr sz="1400" b="1">
                <a:solidFill>
                  <a:srgbClr val="FFD100"/>
                </a:solidFill>
                <a:latin typeface="Calibri"/>
              </a:rPr>
              <a:t>— </a:t>
            </a:r>
            <a:r>
              <a:rPr sz="1400" b="1">
                <a:solidFill>
                  <a:srgbClr val="1A1A1A"/>
                </a:solidFill>
                <a:latin typeface="Calibri"/>
              </a:rPr>
              <a:t>Fine-ranking the plateau is harder </a:t>
            </a:r>
            <a:r>
              <a:rPr sz="1400" b="0">
                <a:solidFill>
                  <a:srgbClr val="1A1A1A"/>
                </a:solidFill>
                <a:latin typeface="Calibri"/>
              </a:rPr>
              <a:t>but stays usable (ρ ≥ 0.55) for four of the five runs.</a:t>
            </a:r>
          </a:p>
          <a:p>
            <a:pPr>
              <a:lnSpc>
                <a:spcPct val="108000"/>
              </a:lnSpc>
              <a:spcBef>
                <a:spcPts val="0"/>
              </a:spcBef>
              <a:spcAft>
                <a:spcPts val="900"/>
              </a:spcAft>
            </a:pPr>
            <a:r>
              <a:rPr sz="1400" b="1">
                <a:solidFill>
                  <a:srgbClr val="FFD100"/>
                </a:solidFill>
                <a:latin typeface="Calibri"/>
              </a:rPr>
              <a:t>— </a:t>
            </a:r>
            <a:r>
              <a:rPr sz="1400" b="1">
                <a:solidFill>
                  <a:srgbClr val="1A1A1A"/>
                </a:solidFill>
                <a:latin typeface="Calibri"/>
              </a:rPr>
              <a:t>π₀.₅-150 is the exception, and it appears to be an artifact: </a:t>
            </a:r>
            <a:r>
              <a:rPr sz="1400" b="0">
                <a:solidFill>
                  <a:srgbClr val="1A1A1A"/>
                </a:solidFill>
                <a:latin typeface="Calibri"/>
              </a:rPr>
              <a:t>the apparent 31%→23% dip recovers to 38% once training is extended — consistent with a noisy low ceiling rather than genuine overtraining.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RQ3</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The overtraining we aimed to induce did not appear</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12</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pic>
        <p:nvPicPr>
          <p:cNvPr id="9" name="Picture 8" descr="success_vs_val_metrics_timeseries_pi_150.png"/>
          <p:cNvPicPr>
            <a:picLocks noChangeAspect="1"/>
          </p:cNvPicPr>
          <p:nvPr/>
        </p:nvPicPr>
        <p:blipFill>
          <a:blip r:embed="rId2"/>
          <a:stretch>
            <a:fillRect/>
          </a:stretch>
        </p:blipFill>
        <p:spPr>
          <a:xfrm>
            <a:off x="1148712" y="1280160"/>
            <a:ext cx="3097536" cy="4846320"/>
          </a:xfrm>
          <a:prstGeom prst="rect">
            <a:avLst/>
          </a:prstGeom>
        </p:spPr>
      </p:pic>
      <p:sp>
        <p:nvSpPr>
          <p:cNvPr id="10" name="TextBox 9"/>
          <p:cNvSpPr txBox="1"/>
          <p:nvPr/>
        </p:nvSpPr>
        <p:spPr>
          <a:xfrm>
            <a:off x="5029200" y="1463040"/>
            <a:ext cx="6492240" cy="548640"/>
          </a:xfrm>
          <a:prstGeom prst="rect">
            <a:avLst/>
          </a:prstGeom>
          <a:noFill/>
        </p:spPr>
        <p:txBody>
          <a:bodyPr wrap="square" anchor="t" lIns="0" rIns="0" tIns="0" bIns="0">
            <a:spAutoFit/>
          </a:bodyPr>
          <a:lstStyle/>
          <a:p>
            <a:pPr algn="l">
              <a:lnSpc>
                <a:spcPct val="106000"/>
              </a:lnSpc>
              <a:spcBef>
                <a:spcPts val="0"/>
              </a:spcBef>
              <a:spcAft>
                <a:spcPts val="0"/>
              </a:spcAft>
            </a:pPr>
            <a:r>
              <a:rPr sz="1900" b="1" i="0">
                <a:solidFill>
                  <a:srgbClr val="1A1A1A"/>
                </a:solidFill>
                <a:latin typeface="Calibri"/>
              </a:rPr>
              <a:t>Three runs were designed to overtrain</a:t>
            </a:r>
          </a:p>
        </p:txBody>
      </p:sp>
      <p:sp>
        <p:nvSpPr>
          <p:cNvPr id="11" name="TextBox 10"/>
          <p:cNvSpPr txBox="1"/>
          <p:nvPr/>
        </p:nvSpPr>
        <p:spPr>
          <a:xfrm>
            <a:off x="5029200" y="2148840"/>
            <a:ext cx="6492240" cy="2743200"/>
          </a:xfrm>
          <a:prstGeom prst="rect">
            <a:avLst/>
          </a:prstGeom>
          <a:noFill/>
        </p:spPr>
        <p:txBody>
          <a:bodyPr wrap="square" lIns="0" rIns="0" tIns="0" bIns="0">
            <a:spAutoFit/>
          </a:bodyPr>
          <a:lstStyle/>
          <a:p>
            <a:pPr>
              <a:lnSpc>
                <a:spcPct val="108000"/>
              </a:lnSpc>
              <a:spcBef>
                <a:spcPts val="0"/>
              </a:spcBef>
              <a:spcAft>
                <a:spcPts val="1300"/>
              </a:spcAft>
            </a:pPr>
            <a:r>
              <a:rPr sz="1550" b="1">
                <a:solidFill>
                  <a:srgbClr val="FFD100"/>
                </a:solidFill>
                <a:latin typeface="Calibri"/>
              </a:rPr>
              <a:t>— </a:t>
            </a:r>
            <a:r>
              <a:rPr sz="1550" b="1">
                <a:solidFill>
                  <a:srgbClr val="1A1A1A"/>
                </a:solidFill>
                <a:latin typeface="Calibri"/>
              </a:rPr>
              <a:t>SmolVLA-150 &amp; OpenVLA-150 </a:t>
            </a:r>
            <a:r>
              <a:rPr sz="1550" b="0">
                <a:solidFill>
                  <a:srgbClr val="1A1A1A"/>
                </a:solidFill>
                <a:latin typeface="Calibri"/>
              </a:rPr>
              <a:t>— small data, pushed well past convergence.</a:t>
            </a:r>
          </a:p>
          <a:p>
            <a:pPr>
              <a:lnSpc>
                <a:spcPct val="108000"/>
              </a:lnSpc>
              <a:spcBef>
                <a:spcPts val="0"/>
              </a:spcBef>
              <a:spcAft>
                <a:spcPts val="1300"/>
              </a:spcAft>
            </a:pPr>
            <a:r>
              <a:rPr sz="1550" b="1">
                <a:solidFill>
                  <a:srgbClr val="FFD100"/>
                </a:solidFill>
                <a:latin typeface="Calibri"/>
              </a:rPr>
              <a:t>— </a:t>
            </a:r>
            <a:r>
              <a:rPr sz="1550" b="1">
                <a:solidFill>
                  <a:srgbClr val="1A1A1A"/>
                </a:solidFill>
                <a:latin typeface="Calibri"/>
              </a:rPr>
              <a:t>π₀.₅-150 </a:t>
            </a:r>
            <a:r>
              <a:rPr sz="1550" b="0">
                <a:solidFill>
                  <a:srgbClr val="1A1A1A"/>
                </a:solidFill>
                <a:latin typeface="Calibri"/>
              </a:rPr>
              <a:t>— aggressive LR (6×), a non-decaying schedule, 40k steps.</a:t>
            </a:r>
          </a:p>
          <a:p>
            <a:pPr>
              <a:lnSpc>
                <a:spcPct val="108000"/>
              </a:lnSpc>
              <a:spcBef>
                <a:spcPts val="0"/>
              </a:spcBef>
              <a:spcAft>
                <a:spcPts val="1300"/>
              </a:spcAft>
            </a:pPr>
            <a:r>
              <a:rPr sz="1550" b="1">
                <a:solidFill>
                  <a:srgbClr val="FFD100"/>
                </a:solidFill>
                <a:latin typeface="Calibri"/>
              </a:rPr>
              <a:t>— </a:t>
            </a:r>
            <a:r>
              <a:rPr sz="1550" b="1">
                <a:solidFill>
                  <a:srgbClr val="1A1A1A"/>
                </a:solidFill>
                <a:latin typeface="Calibri"/>
              </a:rPr>
              <a:t>Outcome: </a:t>
            </a:r>
            <a:r>
              <a:rPr sz="1550" b="0">
                <a:solidFill>
                  <a:srgbClr val="1A1A1A"/>
                </a:solidFill>
                <a:latin typeface="Calibri"/>
              </a:rPr>
              <a:t>every run settled into a noisy plateau in both the offline metrics and Q(k) — no monotone late decline.</a:t>
            </a:r>
          </a:p>
        </p:txBody>
      </p:sp>
      <p:sp>
        <p:nvSpPr>
          <p:cNvPr id="12" name="Rectangle 11"/>
          <p:cNvSpPr/>
          <p:nvPr/>
        </p:nvSpPr>
        <p:spPr>
          <a:xfrm>
            <a:off x="5029200" y="4892040"/>
            <a:ext cx="6492240" cy="12344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0" y="4892040"/>
            <a:ext cx="91440" cy="123444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5029200"/>
            <a:ext cx="6126480" cy="1005840"/>
          </a:xfrm>
          <a:prstGeom prst="rect">
            <a:avLst/>
          </a:prstGeom>
          <a:noFill/>
        </p:spPr>
        <p:txBody>
          <a:bodyPr wrap="square" anchor="t" lIns="0" rIns="0" tIns="0" bIns="0">
            <a:spAutoFit/>
          </a:bodyPr>
          <a:lstStyle/>
          <a:p>
            <a:pPr algn="l">
              <a:lnSpc>
                <a:spcPct val="112000"/>
              </a:lnSpc>
              <a:spcBef>
                <a:spcPts val="0"/>
              </a:spcBef>
              <a:spcAft>
                <a:spcPts val="0"/>
              </a:spcAft>
            </a:pPr>
            <a:r>
              <a:rPr sz="1550" b="1" i="0">
                <a:solidFill>
                  <a:srgbClr val="C02A2A"/>
                </a:solidFill>
                <a:latin typeface="Calibri"/>
              </a:rPr>
              <a:t>Honest limitation. </a:t>
            </a:r>
            <a:r>
              <a:rPr sz="1450" b="0" i="0">
                <a:solidFill>
                  <a:srgbClr val="555555"/>
                </a:solidFill>
                <a:latin typeface="Calibri"/>
              </a:rPr>
              <a:t>Because no run genuinely overtrained, I cannot show the metrics catching a real decline — only that they reliably track the rise and plateau. Proving the preventive value of early stopping needs a run that actually degrades.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RESULT · RQ4</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How much of the ranking is real? Power is the limit</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13</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pic>
        <p:nvPicPr>
          <p:cNvPr id="9" name="Picture 8" descr="crossmodel_bootstrap_ci.png"/>
          <p:cNvPicPr>
            <a:picLocks noChangeAspect="1"/>
          </p:cNvPicPr>
          <p:nvPr/>
        </p:nvPicPr>
        <p:blipFill>
          <a:blip r:embed="rId2"/>
          <a:stretch>
            <a:fillRect/>
          </a:stretch>
        </p:blipFill>
        <p:spPr>
          <a:xfrm>
            <a:off x="2025595" y="1280160"/>
            <a:ext cx="8110330" cy="2331720"/>
          </a:xfrm>
          <a:prstGeom prst="rect">
            <a:avLst/>
          </a:prstGeom>
        </p:spPr>
      </p:pic>
      <p:sp>
        <p:nvSpPr>
          <p:cNvPr id="10" name="Rectangle 9"/>
          <p:cNvSpPr/>
          <p:nvPr/>
        </p:nvSpPr>
        <p:spPr>
          <a:xfrm>
            <a:off x="731520" y="3840480"/>
            <a:ext cx="5303520" cy="2286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40480"/>
            <a:ext cx="91440" cy="228600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005072"/>
            <a:ext cx="4754880" cy="365760"/>
          </a:xfrm>
          <a:prstGeom prst="rect">
            <a:avLst/>
          </a:prstGeom>
          <a:noFill/>
        </p:spPr>
        <p:txBody>
          <a:bodyPr wrap="square" anchor="t" lIns="0" rIns="0" tIns="0" bIns="0">
            <a:spAutoFit/>
          </a:bodyPr>
          <a:lstStyle/>
          <a:p>
            <a:pPr algn="l">
              <a:lnSpc>
                <a:spcPct val="106000"/>
              </a:lnSpc>
              <a:spcBef>
                <a:spcPts val="0"/>
              </a:spcBef>
              <a:spcAft>
                <a:spcPts val="0"/>
              </a:spcAft>
            </a:pPr>
            <a:r>
              <a:rPr sz="1550" b="1" i="0">
                <a:solidFill>
                  <a:srgbClr val="1B8A4A"/>
                </a:solidFill>
                <a:latin typeface="Calibri"/>
              </a:rPr>
              <a:t>What is statistically resolved</a:t>
            </a:r>
          </a:p>
        </p:txBody>
      </p:sp>
      <p:sp>
        <p:nvSpPr>
          <p:cNvPr id="13" name="TextBox 12"/>
          <p:cNvSpPr txBox="1"/>
          <p:nvPr/>
        </p:nvSpPr>
        <p:spPr>
          <a:xfrm>
            <a:off x="987552" y="4480560"/>
            <a:ext cx="4846320" cy="1554480"/>
          </a:xfrm>
          <a:prstGeom prst="rect">
            <a:avLst/>
          </a:prstGeom>
          <a:noFill/>
        </p:spPr>
        <p:txBody>
          <a:bodyPr wrap="square" lIns="0" rIns="0" tIns="0" bIns="0">
            <a:spAutoFit/>
          </a:bodyPr>
          <a:lstStyle/>
          <a:p>
            <a:pPr>
              <a:lnSpc>
                <a:spcPct val="108000"/>
              </a:lnSpc>
              <a:spcBef>
                <a:spcPts val="0"/>
              </a:spcBef>
              <a:spcAft>
                <a:spcPts val="1000"/>
              </a:spcAft>
            </a:pPr>
            <a:r>
              <a:rPr sz="1380" b="1">
                <a:solidFill>
                  <a:srgbClr val="FFD100"/>
                </a:solidFill>
                <a:latin typeface="Calibri"/>
              </a:rPr>
              <a:t>— </a:t>
            </a:r>
            <a:r>
              <a:rPr sz="1380" b="1">
                <a:solidFill>
                  <a:srgbClr val="555555"/>
                </a:solidFill>
                <a:latin typeface="Calibri"/>
              </a:rPr>
              <a:t>NLL architecture split </a:t>
            </a:r>
            <a:r>
              <a:rPr sz="1380" b="0">
                <a:solidFill>
                  <a:srgbClr val="555555"/>
                </a:solidFill>
                <a:latin typeface="Calibri"/>
              </a:rPr>
              <a:t>— significant: token likelihood tracks success; the FM surrogate does not (now negative on both flow-matching runs).</a:t>
            </a:r>
          </a:p>
          <a:p>
            <a:pPr>
              <a:lnSpc>
                <a:spcPct val="108000"/>
              </a:lnSpc>
              <a:spcBef>
                <a:spcPts val="0"/>
              </a:spcBef>
              <a:spcAft>
                <a:spcPts val="1000"/>
              </a:spcAft>
            </a:pPr>
            <a:r>
              <a:rPr sz="1380" b="1">
                <a:solidFill>
                  <a:srgbClr val="FFD100"/>
                </a:solidFill>
                <a:latin typeface="Calibri"/>
              </a:rPr>
              <a:t>— </a:t>
            </a:r>
            <a:r>
              <a:rPr sz="1380" b="1">
                <a:solidFill>
                  <a:srgbClr val="555555"/>
                </a:solidFill>
                <a:latin typeface="Calibri"/>
              </a:rPr>
              <a:t>Enough evaluations resolve them </a:t>
            </a:r>
            <a:r>
              <a:rPr sz="1380" b="0">
                <a:solidFill>
                  <a:srgbClr val="555555"/>
                </a:solidFill>
                <a:latin typeface="Calibri"/>
              </a:rPr>
              <a:t>— π₀.₅-full (n=33) and now SmolVLA-150 (n=35, densified) lift every trajectory metric’s CI above zero.</a:t>
            </a:r>
          </a:p>
        </p:txBody>
      </p:sp>
      <p:sp>
        <p:nvSpPr>
          <p:cNvPr id="14" name="Rectangle 13"/>
          <p:cNvSpPr/>
          <p:nvPr/>
        </p:nvSpPr>
        <p:spPr>
          <a:xfrm>
            <a:off x="6172200" y="3840480"/>
            <a:ext cx="5303520" cy="2286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3840480"/>
            <a:ext cx="91440" cy="22860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4005072"/>
            <a:ext cx="4754880" cy="365760"/>
          </a:xfrm>
          <a:prstGeom prst="rect">
            <a:avLst/>
          </a:prstGeom>
          <a:noFill/>
        </p:spPr>
        <p:txBody>
          <a:bodyPr wrap="square" anchor="t" lIns="0" rIns="0" tIns="0" bIns="0">
            <a:spAutoFit/>
          </a:bodyPr>
          <a:lstStyle/>
          <a:p>
            <a:pPr algn="l">
              <a:lnSpc>
                <a:spcPct val="106000"/>
              </a:lnSpc>
              <a:spcBef>
                <a:spcPts val="0"/>
              </a:spcBef>
              <a:spcAft>
                <a:spcPts val="0"/>
              </a:spcAft>
            </a:pPr>
            <a:r>
              <a:rPr sz="1550" b="1" i="0">
                <a:solidFill>
                  <a:srgbClr val="C02A2A"/>
                </a:solidFill>
                <a:latin typeface="Calibri"/>
              </a:rPr>
              <a:t>What is NOT resolved</a:t>
            </a:r>
          </a:p>
        </p:txBody>
      </p:sp>
      <p:sp>
        <p:nvSpPr>
          <p:cNvPr id="17" name="TextBox 16"/>
          <p:cNvSpPr txBox="1"/>
          <p:nvPr/>
        </p:nvSpPr>
        <p:spPr>
          <a:xfrm>
            <a:off x="6428232" y="4480560"/>
            <a:ext cx="4846320" cy="1554480"/>
          </a:xfrm>
          <a:prstGeom prst="rect">
            <a:avLst/>
          </a:prstGeom>
          <a:noFill/>
        </p:spPr>
        <p:txBody>
          <a:bodyPr wrap="square" lIns="0" rIns="0" tIns="0" bIns="0">
            <a:spAutoFit/>
          </a:bodyPr>
          <a:lstStyle/>
          <a:p>
            <a:pPr>
              <a:lnSpc>
                <a:spcPct val="108000"/>
              </a:lnSpc>
              <a:spcBef>
                <a:spcPts val="0"/>
              </a:spcBef>
              <a:spcAft>
                <a:spcPts val="1000"/>
              </a:spcAft>
            </a:pPr>
            <a:r>
              <a:rPr sz="1380" b="1">
                <a:solidFill>
                  <a:srgbClr val="FFD100"/>
                </a:solidFill>
                <a:latin typeface="Calibri"/>
              </a:rPr>
              <a:t>— </a:t>
            </a:r>
            <a:r>
              <a:rPr sz="1380" b="1">
                <a:solidFill>
                  <a:srgbClr val="555555"/>
                </a:solidFill>
                <a:latin typeface="Calibri"/>
              </a:rPr>
              <a:t>DTW vs. L1/L2/OT/cosine </a:t>
            </a:r>
            <a:r>
              <a:rPr sz="1380" b="0">
                <a:solidFill>
                  <a:srgbClr val="555555"/>
                </a:solidFill>
                <a:latin typeface="Calibri"/>
              </a:rPr>
              <a:t>— intervals overlap; on OpenVLA-full DTW ≡ L₂ exactly.</a:t>
            </a:r>
          </a:p>
          <a:p>
            <a:pPr>
              <a:lnSpc>
                <a:spcPct val="108000"/>
              </a:lnSpc>
              <a:spcBef>
                <a:spcPts val="0"/>
              </a:spcBef>
              <a:spcAft>
                <a:spcPts val="1000"/>
              </a:spcAft>
            </a:pPr>
            <a:r>
              <a:rPr sz="1380" b="1">
                <a:solidFill>
                  <a:srgbClr val="FFD100"/>
                </a:solidFill>
                <a:latin typeface="Calibri"/>
              </a:rPr>
              <a:t>— </a:t>
            </a:r>
            <a:r>
              <a:rPr sz="1380" b="1">
                <a:solidFill>
                  <a:srgbClr val="555555"/>
                </a:solidFill>
                <a:latin typeface="Calibri"/>
              </a:rPr>
              <a:t>Fine within-family ranking </a:t>
            </a:r>
            <a:r>
              <a:rPr sz="1380" b="0">
                <a:solidFill>
                  <a:srgbClr val="555555"/>
                </a:solidFill>
                <a:latin typeface="Calibri"/>
              </a:rPr>
              <a:t>— even at n=35 DTW isn’t separable from L₁/L₂ (paired P ≈ 0.2–0.7).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SYNTHESIS</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The four questions, answered</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14</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463040"/>
            <a:ext cx="10744200" cy="10515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1280160" cy="105156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755648"/>
            <a:ext cx="1280160" cy="548640"/>
          </a:xfrm>
          <a:prstGeom prst="rect">
            <a:avLst/>
          </a:prstGeom>
          <a:noFill/>
        </p:spPr>
        <p:txBody>
          <a:bodyPr wrap="square" anchor="t" lIns="0" rIns="0" tIns="0" bIns="0">
            <a:spAutoFit/>
          </a:bodyPr>
          <a:lstStyle/>
          <a:p>
            <a:pPr algn="ctr">
              <a:lnSpc>
                <a:spcPct val="106000"/>
              </a:lnSpc>
              <a:spcBef>
                <a:spcPts val="0"/>
              </a:spcBef>
              <a:spcAft>
                <a:spcPts val="0"/>
              </a:spcAft>
            </a:pPr>
            <a:r>
              <a:rPr sz="2400" b="1" i="0">
                <a:solidFill>
                  <a:srgbClr val="FFFFFF"/>
                </a:solidFill>
                <a:latin typeface="Calibri"/>
              </a:rPr>
              <a:t>RQ1</a:t>
            </a:r>
          </a:p>
        </p:txBody>
      </p:sp>
      <p:sp>
        <p:nvSpPr>
          <p:cNvPr id="12" name="TextBox 11"/>
          <p:cNvSpPr txBox="1"/>
          <p:nvPr/>
        </p:nvSpPr>
        <p:spPr>
          <a:xfrm>
            <a:off x="2240280" y="1737360"/>
            <a:ext cx="9052560" cy="640080"/>
          </a:xfrm>
          <a:prstGeom prst="rect">
            <a:avLst/>
          </a:prstGeom>
          <a:noFill/>
        </p:spPr>
        <p:txBody>
          <a:bodyPr wrap="square" anchor="ctr" lIns="0" rIns="0" tIns="0" bIns="0">
            <a:spAutoFit/>
          </a:bodyPr>
          <a:lstStyle/>
          <a:p>
            <a:pPr algn="l">
              <a:lnSpc>
                <a:spcPct val="108000"/>
              </a:lnSpc>
              <a:spcBef>
                <a:spcPts val="0"/>
              </a:spcBef>
              <a:spcAft>
                <a:spcPts val="0"/>
              </a:spcAft>
            </a:pPr>
            <a:r>
              <a:rPr sz="1650" b="0" i="0">
                <a:solidFill>
                  <a:srgbClr val="1A1A1A"/>
                </a:solidFill>
                <a:latin typeface="Calibri"/>
              </a:rPr>
              <a:t>Yes — every metric is task-discriminative (AUROC ≥ 0.90) at the trajectory level.</a:t>
            </a:r>
          </a:p>
        </p:txBody>
      </p:sp>
      <p:sp>
        <p:nvSpPr>
          <p:cNvPr id="13" name="Rectangle 12"/>
          <p:cNvSpPr/>
          <p:nvPr/>
        </p:nvSpPr>
        <p:spPr>
          <a:xfrm>
            <a:off x="731520" y="2642616"/>
            <a:ext cx="10744200" cy="10515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642616"/>
            <a:ext cx="1280160" cy="1051560"/>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35224"/>
            <a:ext cx="1280160" cy="548640"/>
          </a:xfrm>
          <a:prstGeom prst="rect">
            <a:avLst/>
          </a:prstGeom>
          <a:noFill/>
        </p:spPr>
        <p:txBody>
          <a:bodyPr wrap="square" anchor="t" lIns="0" rIns="0" tIns="0" bIns="0">
            <a:spAutoFit/>
          </a:bodyPr>
          <a:lstStyle/>
          <a:p>
            <a:pPr algn="ctr">
              <a:lnSpc>
                <a:spcPct val="106000"/>
              </a:lnSpc>
              <a:spcBef>
                <a:spcPts val="0"/>
              </a:spcBef>
              <a:spcAft>
                <a:spcPts val="0"/>
              </a:spcAft>
            </a:pPr>
            <a:r>
              <a:rPr sz="2400" b="1" i="0">
                <a:solidFill>
                  <a:srgbClr val="FFFFFF"/>
                </a:solidFill>
                <a:latin typeface="Calibri"/>
              </a:rPr>
              <a:t>RQ2</a:t>
            </a:r>
          </a:p>
        </p:txBody>
      </p:sp>
      <p:sp>
        <p:nvSpPr>
          <p:cNvPr id="16" name="TextBox 15"/>
          <p:cNvSpPr txBox="1"/>
          <p:nvPr/>
        </p:nvSpPr>
        <p:spPr>
          <a:xfrm>
            <a:off x="2240280" y="2916936"/>
            <a:ext cx="9052560" cy="640080"/>
          </a:xfrm>
          <a:prstGeom prst="rect">
            <a:avLst/>
          </a:prstGeom>
          <a:noFill/>
        </p:spPr>
        <p:txBody>
          <a:bodyPr wrap="square" anchor="ctr" lIns="0" rIns="0" tIns="0" bIns="0">
            <a:spAutoFit/>
          </a:bodyPr>
          <a:lstStyle/>
          <a:p>
            <a:pPr algn="l">
              <a:lnSpc>
                <a:spcPct val="108000"/>
              </a:lnSpc>
              <a:spcBef>
                <a:spcPts val="0"/>
              </a:spcBef>
              <a:spcAft>
                <a:spcPts val="0"/>
              </a:spcAft>
            </a:pPr>
            <a:r>
              <a:rPr sz="1650" b="0" i="0">
                <a:solidFill>
                  <a:srgbClr val="1A1A1A"/>
                </a:solidFill>
                <a:latin typeface="Calibri"/>
              </a:rPr>
              <a:t>Yes — DTW/OT/cosine (and L1/L2) correlate positively with success in all five runs.</a:t>
            </a:r>
          </a:p>
        </p:txBody>
      </p:sp>
      <p:sp>
        <p:nvSpPr>
          <p:cNvPr id="17" name="Rectangle 16"/>
          <p:cNvSpPr/>
          <p:nvPr/>
        </p:nvSpPr>
        <p:spPr>
          <a:xfrm>
            <a:off x="731520" y="3822192"/>
            <a:ext cx="10744200" cy="10515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22192"/>
            <a:ext cx="1280160" cy="1051560"/>
          </a:xfrm>
          <a:prstGeom prst="rect">
            <a:avLst/>
          </a:prstGeom>
          <a:solidFill>
            <a:srgbClr val="C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14800"/>
            <a:ext cx="1280160" cy="548640"/>
          </a:xfrm>
          <a:prstGeom prst="rect">
            <a:avLst/>
          </a:prstGeom>
          <a:noFill/>
        </p:spPr>
        <p:txBody>
          <a:bodyPr wrap="square" anchor="t" lIns="0" rIns="0" tIns="0" bIns="0">
            <a:spAutoFit/>
          </a:bodyPr>
          <a:lstStyle/>
          <a:p>
            <a:pPr algn="ctr">
              <a:lnSpc>
                <a:spcPct val="106000"/>
              </a:lnSpc>
              <a:spcBef>
                <a:spcPts val="0"/>
              </a:spcBef>
              <a:spcAft>
                <a:spcPts val="0"/>
              </a:spcAft>
            </a:pPr>
            <a:r>
              <a:rPr sz="2400" b="1" i="0">
                <a:solidFill>
                  <a:srgbClr val="FFFFFF"/>
                </a:solidFill>
                <a:latin typeface="Calibri"/>
              </a:rPr>
              <a:t>RQ3</a:t>
            </a:r>
          </a:p>
        </p:txBody>
      </p:sp>
      <p:sp>
        <p:nvSpPr>
          <p:cNvPr id="20" name="TextBox 19"/>
          <p:cNvSpPr txBox="1"/>
          <p:nvPr/>
        </p:nvSpPr>
        <p:spPr>
          <a:xfrm>
            <a:off x="2240280" y="4096512"/>
            <a:ext cx="9052560" cy="640080"/>
          </a:xfrm>
          <a:prstGeom prst="rect">
            <a:avLst/>
          </a:prstGeom>
          <a:noFill/>
        </p:spPr>
        <p:txBody>
          <a:bodyPr wrap="square" anchor="ctr" lIns="0" rIns="0" tIns="0" bIns="0">
            <a:spAutoFit/>
          </a:bodyPr>
          <a:lstStyle/>
          <a:p>
            <a:pPr algn="l">
              <a:lnSpc>
                <a:spcPct val="108000"/>
              </a:lnSpc>
              <a:spcBef>
                <a:spcPts val="0"/>
              </a:spcBef>
              <a:spcAft>
                <a:spcPts val="0"/>
              </a:spcAft>
            </a:pPr>
            <a:r>
              <a:rPr sz="1650" b="0" i="0">
                <a:solidFill>
                  <a:srgbClr val="1A1A1A"/>
                </a:solidFill>
                <a:latin typeface="Calibri"/>
              </a:rPr>
              <a:t>Partly — robust for the coarse “don’t stop early” call; genuine overtraining never occurred.</a:t>
            </a:r>
          </a:p>
        </p:txBody>
      </p:sp>
      <p:sp>
        <p:nvSpPr>
          <p:cNvPr id="21" name="Rectangle 20"/>
          <p:cNvSpPr/>
          <p:nvPr/>
        </p:nvSpPr>
        <p:spPr>
          <a:xfrm>
            <a:off x="731520" y="5001768"/>
            <a:ext cx="10744200" cy="105156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001768"/>
            <a:ext cx="1280160" cy="1051560"/>
          </a:xfrm>
          <a:prstGeom prst="rect">
            <a:avLst/>
          </a:prstGeom>
          <a:solidFill>
            <a:srgbClr val="C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94376"/>
            <a:ext cx="1280160" cy="548640"/>
          </a:xfrm>
          <a:prstGeom prst="rect">
            <a:avLst/>
          </a:prstGeom>
          <a:noFill/>
        </p:spPr>
        <p:txBody>
          <a:bodyPr wrap="square" anchor="t" lIns="0" rIns="0" tIns="0" bIns="0">
            <a:spAutoFit/>
          </a:bodyPr>
          <a:lstStyle/>
          <a:p>
            <a:pPr algn="ctr">
              <a:lnSpc>
                <a:spcPct val="106000"/>
              </a:lnSpc>
              <a:spcBef>
                <a:spcPts val="0"/>
              </a:spcBef>
              <a:spcAft>
                <a:spcPts val="0"/>
              </a:spcAft>
            </a:pPr>
            <a:r>
              <a:rPr sz="2400" b="1" i="0">
                <a:solidFill>
                  <a:srgbClr val="FFFFFF"/>
                </a:solidFill>
                <a:latin typeface="Calibri"/>
              </a:rPr>
              <a:t>RQ4</a:t>
            </a:r>
          </a:p>
        </p:txBody>
      </p:sp>
      <p:sp>
        <p:nvSpPr>
          <p:cNvPr id="24" name="TextBox 23"/>
          <p:cNvSpPr txBox="1"/>
          <p:nvPr/>
        </p:nvSpPr>
        <p:spPr>
          <a:xfrm>
            <a:off x="2240280" y="5276088"/>
            <a:ext cx="9052560" cy="640080"/>
          </a:xfrm>
          <a:prstGeom prst="rect">
            <a:avLst/>
          </a:prstGeom>
          <a:noFill/>
        </p:spPr>
        <p:txBody>
          <a:bodyPr wrap="square" anchor="ctr" lIns="0" rIns="0" tIns="0" bIns="0">
            <a:spAutoFit/>
          </a:bodyPr>
          <a:lstStyle/>
          <a:p>
            <a:pPr algn="l">
              <a:lnSpc>
                <a:spcPct val="108000"/>
              </a:lnSpc>
              <a:spcBef>
                <a:spcPts val="0"/>
              </a:spcBef>
              <a:spcAft>
                <a:spcPts val="0"/>
              </a:spcAft>
            </a:pPr>
            <a:r>
              <a:rPr sz="1650" b="0" i="0">
                <a:solidFill>
                  <a:srgbClr val="1A1A1A"/>
                </a:solidFill>
                <a:latin typeface="Calibri"/>
              </a:rPr>
              <a:t>Qualified — the architecture split is real; finer metric orderings need more evaluations.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TAKEAWAYS</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Practical guidance for VLA practitioners</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15</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50876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08760"/>
            <a:ext cx="5257800" cy="109728"/>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783080"/>
            <a:ext cx="4754880" cy="640080"/>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006FB9"/>
                </a:solidFill>
                <a:latin typeface="Calibri"/>
              </a:rPr>
              <a:t>1   </a:t>
            </a:r>
            <a:r>
              <a:rPr sz="1750" b="1" i="0">
                <a:solidFill>
                  <a:srgbClr val="1A1A1A"/>
                </a:solidFill>
                <a:latin typeface="Calibri"/>
              </a:rPr>
              <a:t>Use a trajectory-similarity metric.</a:t>
            </a:r>
          </a:p>
        </p:txBody>
      </p:sp>
      <p:sp>
        <p:nvSpPr>
          <p:cNvPr id="12" name="TextBox 11"/>
          <p:cNvSpPr txBox="1"/>
          <p:nvPr/>
        </p:nvSpPr>
        <p:spPr>
          <a:xfrm>
            <a:off x="1005840" y="2441448"/>
            <a:ext cx="4754880" cy="868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DTW is a reliable default: positive in all five runs, regret ≤ 0.17.</a:t>
            </a:r>
          </a:p>
        </p:txBody>
      </p:sp>
      <p:sp>
        <p:nvSpPr>
          <p:cNvPr id="13" name="Rectangle 12"/>
          <p:cNvSpPr/>
          <p:nvPr/>
        </p:nvSpPr>
        <p:spPr>
          <a:xfrm>
            <a:off x="6217920" y="150876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508760"/>
            <a:ext cx="5257800" cy="109728"/>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4754880" cy="640080"/>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B8A4A"/>
                </a:solidFill>
                <a:latin typeface="Calibri"/>
              </a:rPr>
              <a:t>2   </a:t>
            </a:r>
            <a:r>
              <a:rPr sz="1750" b="1" i="0">
                <a:solidFill>
                  <a:srgbClr val="1A1A1A"/>
                </a:solidFill>
                <a:latin typeface="Calibri"/>
              </a:rPr>
              <a:t>Trust the coarse decision.</a:t>
            </a:r>
          </a:p>
        </p:txBody>
      </p:sp>
      <p:sp>
        <p:nvSpPr>
          <p:cNvPr id="16" name="TextBox 15"/>
          <p:cNvSpPr txBox="1"/>
          <p:nvPr/>
        </p:nvSpPr>
        <p:spPr>
          <a:xfrm>
            <a:off x="6492240" y="2441448"/>
            <a:ext cx="4754880" cy="868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“Do not stop before the knee” is reliable; fine-ranking a converged plateau is much less so.</a:t>
            </a:r>
          </a:p>
        </p:txBody>
      </p:sp>
      <p:sp>
        <p:nvSpPr>
          <p:cNvPr id="17" name="Rectangle 16"/>
          <p:cNvSpPr/>
          <p:nvPr/>
        </p:nvSpPr>
        <p:spPr>
          <a:xfrm>
            <a:off x="731520" y="370332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03320"/>
            <a:ext cx="5257800" cy="109728"/>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977640"/>
            <a:ext cx="4754880" cy="640080"/>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C02A2A"/>
                </a:solidFill>
                <a:latin typeface="Calibri"/>
              </a:rPr>
              <a:t>3   </a:t>
            </a:r>
            <a:r>
              <a:rPr sz="1750" b="1" i="0">
                <a:solidFill>
                  <a:srgbClr val="1A1A1A"/>
                </a:solidFill>
                <a:latin typeface="Calibri"/>
              </a:rPr>
              <a:t>Match the surrogate to the architecture.</a:t>
            </a:r>
          </a:p>
        </p:txBody>
      </p:sp>
      <p:sp>
        <p:nvSpPr>
          <p:cNvPr id="20" name="TextBox 19"/>
          <p:cNvSpPr txBox="1"/>
          <p:nvPr/>
        </p:nvSpPr>
        <p:spPr>
          <a:xfrm>
            <a:off x="1005840" y="4636008"/>
            <a:ext cx="4754880" cy="868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Token NLL is fine for discrete-token policies; for flow-matching, prefer a trajectory metric over the FM loss.</a:t>
            </a:r>
          </a:p>
        </p:txBody>
      </p:sp>
      <p:sp>
        <p:nvSpPr>
          <p:cNvPr id="21" name="Rectangle 20"/>
          <p:cNvSpPr/>
          <p:nvPr/>
        </p:nvSpPr>
        <p:spPr>
          <a:xfrm>
            <a:off x="6217920" y="3703320"/>
            <a:ext cx="5257800" cy="192024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703320"/>
            <a:ext cx="5257800" cy="109728"/>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977640"/>
            <a:ext cx="4754880" cy="640080"/>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6A3D9A"/>
                </a:solidFill>
                <a:latin typeface="Calibri"/>
              </a:rPr>
              <a:t>4   </a:t>
            </a:r>
            <a:r>
              <a:rPr sz="1750" b="1" i="0">
                <a:solidFill>
                  <a:srgbClr val="1A1A1A"/>
                </a:solidFill>
                <a:latin typeface="Calibri"/>
              </a:rPr>
              <a:t>Report uncertainty, not point ranks.</a:t>
            </a:r>
          </a:p>
        </p:txBody>
      </p:sp>
      <p:sp>
        <p:nvSpPr>
          <p:cNvPr id="24" name="TextBox 23"/>
          <p:cNvSpPr txBox="1"/>
          <p:nvPr/>
        </p:nvSpPr>
        <p:spPr>
          <a:xfrm>
            <a:off x="6492240" y="4636008"/>
            <a:ext cx="4754880" cy="868680"/>
          </a:xfrm>
          <a:prstGeom prst="rect">
            <a:avLst/>
          </a:prstGeom>
          <a:noFill/>
        </p:spPr>
        <p:txBody>
          <a:bodyPr wrap="square" anchor="t" lIns="0" rIns="0" tIns="0" bIns="0">
            <a:spAutoFit/>
          </a:bodyPr>
          <a:lstStyle/>
          <a:p>
            <a:pPr algn="l">
              <a:lnSpc>
                <a:spcPct val="110000"/>
              </a:lnSpc>
              <a:spcBef>
                <a:spcPts val="0"/>
              </a:spcBef>
              <a:spcAft>
                <a:spcPts val="0"/>
              </a:spcAft>
            </a:pPr>
            <a:r>
              <a:rPr sz="1450" b="0" i="0">
                <a:solidFill>
                  <a:srgbClr val="555555"/>
                </a:solidFill>
                <a:latin typeface="Calibri"/>
              </a:rPr>
              <a:t>With 10–30 rollouts, report bootstrap CIs — many single-metric orderings may be noise.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74320"/>
            <a:ext cx="100584" cy="566928"/>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9875520" cy="310896"/>
          </a:xfrm>
          <a:prstGeom prst="rect">
            <a:avLst/>
          </a:prstGeom>
          <a:noFill/>
        </p:spPr>
        <p:txBody>
          <a:bodyPr wrap="square" anchor="t" lIns="0" rIns="0" tIns="0" bIns="0">
            <a:spAutoFit/>
          </a:bodyPr>
          <a:lstStyle/>
          <a:p>
            <a:pPr algn="l">
              <a:lnSpc>
                <a:spcPct val="106000"/>
              </a:lnSpc>
              <a:spcBef>
                <a:spcPts val="0"/>
              </a:spcBef>
              <a:spcAft>
                <a:spcPts val="0"/>
              </a:spcAft>
            </a:pPr>
            <a:r>
              <a:rPr sz="1250" b="1" i="0">
                <a:solidFill>
                  <a:srgbClr val="8A8A8A"/>
                </a:solidFill>
                <a:latin typeface="Calibri"/>
              </a:rPr>
              <a:t>LIMITATIONS &amp; FUTURE WORK</a:t>
            </a:r>
          </a:p>
        </p:txBody>
      </p:sp>
      <p:sp>
        <p:nvSpPr>
          <p:cNvPr id="5" name="TextBox 4"/>
          <p:cNvSpPr txBox="1"/>
          <p:nvPr/>
        </p:nvSpPr>
        <p:spPr>
          <a:xfrm>
            <a:off x="731520" y="457200"/>
            <a:ext cx="10607040" cy="548640"/>
          </a:xfrm>
          <a:prstGeom prst="rect">
            <a:avLst/>
          </a:prstGeom>
          <a:noFill/>
        </p:spPr>
        <p:txBody>
          <a:bodyPr wrap="square" anchor="t" lIns="0" rIns="0" tIns="0" bIns="0">
            <a:spAutoFit/>
          </a:bodyPr>
          <a:lstStyle/>
          <a:p>
            <a:pPr algn="l">
              <a:lnSpc>
                <a:spcPct val="106000"/>
              </a:lnSpc>
              <a:spcBef>
                <a:spcPts val="0"/>
              </a:spcBef>
              <a:spcAft>
                <a:spcPts val="0"/>
              </a:spcAft>
            </a:pPr>
            <a:r>
              <a:rPr sz="2500" b="1" i="0">
                <a:solidFill>
                  <a:srgbClr val="1A1A1A"/>
                </a:solidFill>
                <a:latin typeface="Calibri"/>
              </a:rPr>
              <a:t>What this study cannot yet claim</a:t>
            </a:r>
          </a:p>
        </p:txBody>
      </p:sp>
      <p:sp>
        <p:nvSpPr>
          <p:cNvPr id="6" name="Rectangle 5"/>
          <p:cNvSpPr/>
          <p:nvPr/>
        </p:nvSpPr>
        <p:spPr>
          <a:xfrm>
            <a:off x="0" y="1078992"/>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0" y="6419088"/>
            <a:ext cx="640080" cy="292608"/>
          </a:xfrm>
          <a:prstGeom prst="rect">
            <a:avLst/>
          </a:prstGeom>
          <a:noFill/>
        </p:spPr>
        <p:txBody>
          <a:bodyPr wrap="square" anchor="t" lIns="0" rIns="0" tIns="0" bIns="0">
            <a:spAutoFit/>
          </a:bodyPr>
          <a:lstStyle/>
          <a:p>
            <a:pPr algn="r">
              <a:lnSpc>
                <a:spcPct val="106000"/>
              </a:lnSpc>
              <a:spcBef>
                <a:spcPts val="0"/>
              </a:spcBef>
              <a:spcAft>
                <a:spcPts val="0"/>
              </a:spcAft>
            </a:pPr>
            <a:r>
              <a:rPr sz="1100" b="0" i="0">
                <a:solidFill>
                  <a:srgbClr val="8A8A8A"/>
                </a:solidFill>
                <a:latin typeface="Calibri"/>
              </a:rPr>
              <a:t>16</a:t>
            </a:r>
          </a:p>
        </p:txBody>
      </p:sp>
      <p:sp>
        <p:nvSpPr>
          <p:cNvPr id="8" name="TextBox 7"/>
          <p:cNvSpPr txBox="1"/>
          <p:nvPr/>
        </p:nvSpPr>
        <p:spPr>
          <a:xfrm>
            <a:off x="502920" y="6419088"/>
            <a:ext cx="8229600" cy="292608"/>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8A8A8A"/>
                </a:solidFill>
                <a:latin typeface="Calibri"/>
              </a:rPr>
              <a:t>Yibo Zhang · Offline Trajectory Metrics for Early Stopping in VLA Fine-Tuning</a:t>
            </a:r>
          </a:p>
        </p:txBody>
      </p:sp>
      <p:sp>
        <p:nvSpPr>
          <p:cNvPr id="9" name="Rectangle 8"/>
          <p:cNvSpPr/>
          <p:nvPr/>
        </p:nvSpPr>
        <p:spPr>
          <a:xfrm>
            <a:off x="731520" y="1645920"/>
            <a:ext cx="3529584" cy="3840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3529584" cy="128016"/>
          </a:xfrm>
          <a:prstGeom prst="rect">
            <a:avLst/>
          </a:prstGeom>
          <a:solidFill>
            <a:srgbClr val="006F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11680"/>
            <a:ext cx="3072384" cy="822960"/>
          </a:xfrm>
          <a:prstGeom prst="rect">
            <a:avLst/>
          </a:prstGeom>
          <a:noFill/>
        </p:spPr>
        <p:txBody>
          <a:bodyPr wrap="square" anchor="t" lIns="0" rIns="0" tIns="0" bIns="0">
            <a:spAutoFit/>
          </a:bodyPr>
          <a:lstStyle/>
          <a:p>
            <a:pPr algn="l">
              <a:lnSpc>
                <a:spcPct val="100000"/>
              </a:lnSpc>
              <a:spcBef>
                <a:spcPts val="0"/>
              </a:spcBef>
              <a:spcAft>
                <a:spcPts val="0"/>
              </a:spcAft>
            </a:pPr>
            <a:r>
              <a:rPr sz="1850" b="1" i="0">
                <a:solidFill>
                  <a:srgbClr val="006FB9"/>
                </a:solidFill>
                <a:latin typeface="Calibri"/>
              </a:rPr>
              <a:t>Open-loop only</a:t>
            </a:r>
          </a:p>
        </p:txBody>
      </p:sp>
      <p:sp>
        <p:nvSpPr>
          <p:cNvPr id="12" name="TextBox 11"/>
          <p:cNvSpPr txBox="1"/>
          <p:nvPr/>
        </p:nvSpPr>
        <p:spPr>
          <a:xfrm>
            <a:off x="960120" y="2971800"/>
            <a:ext cx="3072384" cy="2377440"/>
          </a:xfrm>
          <a:prstGeom prst="rect">
            <a:avLst/>
          </a:prstGeom>
          <a:noFill/>
        </p:spPr>
        <p:txBody>
          <a:bodyPr wrap="square" anchor="t" lIns="0" rIns="0" tIns="0" bIns="0">
            <a:spAutoFit/>
          </a:bodyPr>
          <a:lstStyle/>
          <a:p>
            <a:pPr algn="l">
              <a:lnSpc>
                <a:spcPct val="114000"/>
              </a:lnSpc>
              <a:spcBef>
                <a:spcPts val="0"/>
              </a:spcBef>
              <a:spcAft>
                <a:spcPts val="0"/>
              </a:spcAft>
            </a:pPr>
            <a:r>
              <a:rPr sz="1450" b="0" i="0">
                <a:solidFill>
                  <a:srgbClr val="555555"/>
                </a:solidFill>
                <a:latin typeface="Calibri"/>
              </a:rPr>
              <a:t>Metrics score teacher-forced action chunks, not rollouts. A learned world model would test whether they also predict compounding closed-loop error.</a:t>
            </a:r>
          </a:p>
        </p:txBody>
      </p:sp>
      <p:sp>
        <p:nvSpPr>
          <p:cNvPr id="13" name="Rectangle 12"/>
          <p:cNvSpPr/>
          <p:nvPr/>
        </p:nvSpPr>
        <p:spPr>
          <a:xfrm>
            <a:off x="4535424" y="1645920"/>
            <a:ext cx="3529584" cy="3840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35424" y="1645920"/>
            <a:ext cx="3529584" cy="128016"/>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64024" y="2011680"/>
            <a:ext cx="3072384" cy="822960"/>
          </a:xfrm>
          <a:prstGeom prst="rect">
            <a:avLst/>
          </a:prstGeom>
          <a:noFill/>
        </p:spPr>
        <p:txBody>
          <a:bodyPr wrap="square" anchor="t" lIns="0" rIns="0" tIns="0" bIns="0">
            <a:spAutoFit/>
          </a:bodyPr>
          <a:lstStyle/>
          <a:p>
            <a:pPr algn="l">
              <a:lnSpc>
                <a:spcPct val="100000"/>
              </a:lnSpc>
              <a:spcBef>
                <a:spcPts val="0"/>
              </a:spcBef>
              <a:spcAft>
                <a:spcPts val="0"/>
              </a:spcAft>
            </a:pPr>
            <a:r>
              <a:rPr sz="1850" b="1" i="0">
                <a:solidFill>
                  <a:srgbClr val="C02A2A"/>
                </a:solidFill>
                <a:latin typeface="Calibri"/>
              </a:rPr>
              <a:t>No overtraining regime</a:t>
            </a:r>
          </a:p>
        </p:txBody>
      </p:sp>
      <p:sp>
        <p:nvSpPr>
          <p:cNvPr id="16" name="TextBox 15"/>
          <p:cNvSpPr txBox="1"/>
          <p:nvPr/>
        </p:nvSpPr>
        <p:spPr>
          <a:xfrm>
            <a:off x="4764024" y="2971800"/>
            <a:ext cx="3072384" cy="2377440"/>
          </a:xfrm>
          <a:prstGeom prst="rect">
            <a:avLst/>
          </a:prstGeom>
          <a:noFill/>
        </p:spPr>
        <p:txBody>
          <a:bodyPr wrap="square" anchor="t" lIns="0" rIns="0" tIns="0" bIns="0">
            <a:spAutoFit/>
          </a:bodyPr>
          <a:lstStyle/>
          <a:p>
            <a:pPr algn="l">
              <a:lnSpc>
                <a:spcPct val="114000"/>
              </a:lnSpc>
              <a:spcBef>
                <a:spcPts val="0"/>
              </a:spcBef>
              <a:spcAft>
                <a:spcPts val="0"/>
              </a:spcAft>
            </a:pPr>
            <a:r>
              <a:rPr sz="1450" b="0" i="0">
                <a:solidFill>
                  <a:srgbClr val="555555"/>
                </a:solidFill>
                <a:latin typeface="Calibri"/>
              </a:rPr>
              <a:t>No run genuinely degraded, so the preventive value of early stopping is untested. Longer runs at higher LR are needed to force a decline.</a:t>
            </a:r>
          </a:p>
        </p:txBody>
      </p:sp>
      <p:sp>
        <p:nvSpPr>
          <p:cNvPr id="17" name="Rectangle 16"/>
          <p:cNvSpPr/>
          <p:nvPr/>
        </p:nvSpPr>
        <p:spPr>
          <a:xfrm>
            <a:off x="8339328" y="1645920"/>
            <a:ext cx="3529584" cy="384048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39328" y="1645920"/>
            <a:ext cx="3529584" cy="128016"/>
          </a:xfrm>
          <a:prstGeom prst="rect">
            <a:avLst/>
          </a:prstGeom>
          <a:solidFill>
            <a:srgbClr val="1B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7928" y="2011680"/>
            <a:ext cx="3072384" cy="822960"/>
          </a:xfrm>
          <a:prstGeom prst="rect">
            <a:avLst/>
          </a:prstGeom>
          <a:noFill/>
        </p:spPr>
        <p:txBody>
          <a:bodyPr wrap="square" anchor="t" lIns="0" rIns="0" tIns="0" bIns="0">
            <a:spAutoFit/>
          </a:bodyPr>
          <a:lstStyle/>
          <a:p>
            <a:pPr algn="l">
              <a:lnSpc>
                <a:spcPct val="100000"/>
              </a:lnSpc>
              <a:spcBef>
                <a:spcPts val="0"/>
              </a:spcBef>
              <a:spcAft>
                <a:spcPts val="0"/>
              </a:spcAft>
            </a:pPr>
            <a:r>
              <a:rPr sz="1850" b="1" i="0">
                <a:solidFill>
                  <a:srgbClr val="1B8A4A"/>
                </a:solidFill>
                <a:latin typeface="Calibri"/>
              </a:rPr>
              <a:t>Sparse, confounded Q(k)</a:t>
            </a:r>
          </a:p>
        </p:txBody>
      </p:sp>
      <p:sp>
        <p:nvSpPr>
          <p:cNvPr id="20" name="TextBox 19"/>
          <p:cNvSpPr txBox="1"/>
          <p:nvPr/>
        </p:nvSpPr>
        <p:spPr>
          <a:xfrm>
            <a:off x="8567928" y="2971800"/>
            <a:ext cx="3072384" cy="2377440"/>
          </a:xfrm>
          <a:prstGeom prst="rect">
            <a:avLst/>
          </a:prstGeom>
          <a:noFill/>
        </p:spPr>
        <p:txBody>
          <a:bodyPr wrap="square" anchor="t" lIns="0" rIns="0" tIns="0" bIns="0">
            <a:spAutoFit/>
          </a:bodyPr>
          <a:lstStyle/>
          <a:p>
            <a:pPr algn="l">
              <a:lnSpc>
                <a:spcPct val="114000"/>
              </a:lnSpc>
              <a:spcBef>
                <a:spcPts val="0"/>
              </a:spcBef>
              <a:spcAft>
                <a:spcPts val="0"/>
              </a:spcAft>
            </a:pPr>
            <a:r>
              <a:rPr sz="1450" b="0" i="0">
                <a:solidFill>
                  <a:srgbClr val="555555"/>
                </a:solidFill>
                <a:latin typeface="Calibri"/>
              </a:rPr>
              <a:t>11–35 evals per run, and two π₀.₅ runs at mismatched horizons. Densifying SmolVLA-150 (18→35) sharpened its correlations but left DTW and L₁/L₂ statistically tied.</a:t>
            </a:r>
          </a:p>
        </p:txBody>
      </p:sp>
      <p:sp>
        <p:nvSpPr>
          <p:cNvPr id="21" name="TextBox 20"/>
          <p:cNvSpPr txBox="1"/>
          <p:nvPr/>
        </p:nvSpPr>
        <p:spPr>
          <a:xfrm>
            <a:off x="731520" y="5806440"/>
            <a:ext cx="10789920" cy="548640"/>
          </a:xfrm>
          <a:prstGeom prst="rect">
            <a:avLst/>
          </a:prstGeom>
          <a:noFill/>
        </p:spPr>
        <p:txBody>
          <a:bodyPr wrap="square" anchor="t" lIns="0" rIns="0" tIns="0" bIns="0">
            <a:spAutoFit/>
          </a:bodyPr>
          <a:lstStyle/>
          <a:p>
            <a:pPr algn="l">
              <a:lnSpc>
                <a:spcPct val="106000"/>
              </a:lnSpc>
              <a:spcBef>
                <a:spcPts val="0"/>
              </a:spcBef>
              <a:spcAft>
                <a:spcPts val="0"/>
              </a:spcAft>
            </a:pPr>
            <a:r>
              <a:rPr sz="1500" b="1" i="0">
                <a:solidFill>
                  <a:srgbClr val="1A1A1A"/>
                </a:solidFill>
                <a:latin typeface="Calibri"/>
              </a:rPr>
              <a:t>None of these overturns the central finding </a:t>
            </a:r>
            <a:r>
              <a:rPr sz="1500" b="0" i="0">
                <a:solidFill>
                  <a:srgbClr val="555555"/>
                </a:solidFill>
                <a:latin typeface="Calibri"/>
              </a:rPr>
              <a:t>— they mark where the current evidence stops and the next study begins.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 cy="685800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92040"/>
            <a:ext cx="12191695" cy="27940"/>
          </a:xfrm>
          <a:prstGeom prst="rect">
            <a:avLst/>
          </a:prstGeom>
          <a:solidFill>
            <a:srgbClr val="FFD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85800"/>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400" b="1" i="0">
                <a:solidFill>
                  <a:srgbClr val="8A8A8A"/>
                </a:solidFill>
                <a:latin typeface="Calibri"/>
              </a:rPr>
              <a:t>CONCLUSION</a:t>
            </a:r>
          </a:p>
        </p:txBody>
      </p:sp>
      <p:sp>
        <p:nvSpPr>
          <p:cNvPr id="6" name="TextBox 5"/>
          <p:cNvSpPr txBox="1"/>
          <p:nvPr/>
        </p:nvSpPr>
        <p:spPr>
          <a:xfrm>
            <a:off x="822960" y="1234440"/>
            <a:ext cx="10607040" cy="1554480"/>
          </a:xfrm>
          <a:prstGeom prst="rect">
            <a:avLst/>
          </a:prstGeom>
          <a:noFill/>
        </p:spPr>
        <p:txBody>
          <a:bodyPr wrap="square" anchor="t" lIns="0" rIns="0" tIns="0" bIns="0">
            <a:spAutoFit/>
          </a:bodyPr>
          <a:lstStyle/>
          <a:p>
            <a:pPr algn="l">
              <a:lnSpc>
                <a:spcPct val="104000"/>
              </a:lnSpc>
              <a:spcBef>
                <a:spcPts val="0"/>
              </a:spcBef>
              <a:spcAft>
                <a:spcPts val="400"/>
              </a:spcAft>
            </a:pPr>
            <a:r>
              <a:rPr sz="3000" b="1" i="0">
                <a:solidFill>
                  <a:srgbClr val="1A1A1A"/>
                </a:solidFill>
                <a:latin typeface="Calibri"/>
              </a:rPr>
              <a:t>An offline trajectory-similarity metric, computed once</a:t>
            </a:r>
          </a:p>
          <a:p>
            <a:pPr algn="l">
              <a:lnSpc>
                <a:spcPct val="104000"/>
              </a:lnSpc>
              <a:spcBef>
                <a:spcPts val="0"/>
              </a:spcBef>
              <a:spcAft>
                <a:spcPts val="400"/>
              </a:spcAft>
            </a:pPr>
            <a:r>
              <a:rPr sz="3000" b="1" i="0">
                <a:solidFill>
                  <a:srgbClr val="1A1A1A"/>
                </a:solidFill>
                <a:latin typeface="Calibri"/>
              </a:rPr>
              <a:t>per checkpoint, can serve as a practical, largely</a:t>
            </a:r>
          </a:p>
          <a:p>
            <a:pPr algn="l">
              <a:lnSpc>
                <a:spcPct val="104000"/>
              </a:lnSpc>
              <a:spcBef>
                <a:spcPts val="0"/>
              </a:spcBef>
              <a:spcAft>
                <a:spcPts val="400"/>
              </a:spcAft>
            </a:pPr>
            <a:r>
              <a:rPr sz="2600" b="1" i="0">
                <a:solidFill>
                  <a:srgbClr val="1A1A1A"/>
                </a:solidFill>
                <a:latin typeface="Calibri"/>
              </a:rPr>
              <a:t>architecture-agnostic signal for when to stop fine-tuning a VLA.</a:t>
            </a:r>
          </a:p>
        </p:txBody>
      </p:sp>
      <p:sp>
        <p:nvSpPr>
          <p:cNvPr id="7" name="TextBox 6"/>
          <p:cNvSpPr txBox="1"/>
          <p:nvPr/>
        </p:nvSpPr>
        <p:spPr>
          <a:xfrm>
            <a:off x="868680" y="3291840"/>
            <a:ext cx="10424160" cy="1463040"/>
          </a:xfrm>
          <a:prstGeom prst="rect">
            <a:avLst/>
          </a:prstGeom>
          <a:noFill/>
        </p:spPr>
        <p:txBody>
          <a:bodyPr wrap="square" lIns="0" rIns="0" tIns="0" bIns="0">
            <a:spAutoFit/>
          </a:bodyPr>
          <a:lstStyle/>
          <a:p>
            <a:pPr>
              <a:lnSpc>
                <a:spcPct val="108000"/>
              </a:lnSpc>
              <a:spcBef>
                <a:spcPts val="0"/>
              </a:spcBef>
              <a:spcAft>
                <a:spcPts val="1100"/>
              </a:spcAft>
            </a:pPr>
            <a:r>
              <a:rPr sz="1600" b="1">
                <a:solidFill>
                  <a:srgbClr val="FFD100"/>
                </a:solidFill>
                <a:latin typeface="Calibri"/>
              </a:rPr>
              <a:t>— </a:t>
            </a:r>
            <a:r>
              <a:rPr sz="1600" b="1">
                <a:solidFill>
                  <a:srgbClr val="1A1A1A"/>
                </a:solidFill>
                <a:latin typeface="Calibri"/>
              </a:rPr>
              <a:t>Evaluated </a:t>
            </a:r>
            <a:r>
              <a:rPr sz="1600" b="0">
                <a:solidFill>
                  <a:srgbClr val="1A1A1A"/>
                </a:solidFill>
                <a:latin typeface="Calibri"/>
              </a:rPr>
              <a:t>across 3 architectures, 5 runs, and a 10-task benchmark — DTW a reliable default.</a:t>
            </a:r>
          </a:p>
          <a:p>
            <a:pPr>
              <a:lnSpc>
                <a:spcPct val="108000"/>
              </a:lnSpc>
              <a:spcBef>
                <a:spcPts val="0"/>
              </a:spcBef>
              <a:spcAft>
                <a:spcPts val="1100"/>
              </a:spcAft>
            </a:pPr>
            <a:r>
              <a:rPr sz="1600" b="1">
                <a:solidFill>
                  <a:srgbClr val="FFD100"/>
                </a:solidFill>
                <a:latin typeface="Calibri"/>
              </a:rPr>
              <a:t>— </a:t>
            </a:r>
            <a:r>
              <a:rPr sz="1600" b="1">
                <a:solidFill>
                  <a:srgbClr val="1A1A1A"/>
                </a:solidFill>
                <a:latin typeface="Calibri"/>
              </a:rPr>
              <a:t>Honest about scope </a:t>
            </a:r>
            <a:r>
              <a:rPr sz="1600" b="0">
                <a:solidFill>
                  <a:srgbClr val="1A1A1A"/>
                </a:solidFill>
                <a:latin typeface="Calibri"/>
              </a:rPr>
              <a:t>— coarse stopping is well-supported; overtraining and closed-loop rollout remain open.</a:t>
            </a:r>
          </a:p>
        </p:txBody>
      </p:sp>
      <p:sp>
        <p:nvSpPr>
          <p:cNvPr id="8" name="TextBox 7"/>
          <p:cNvSpPr txBox="1"/>
          <p:nvPr/>
        </p:nvSpPr>
        <p:spPr>
          <a:xfrm>
            <a:off x="868680" y="5166360"/>
            <a:ext cx="10424160" cy="1371600"/>
          </a:xfrm>
          <a:prstGeom prst="rect">
            <a:avLst/>
          </a:prstGeom>
          <a:noFill/>
        </p:spPr>
        <p:txBody>
          <a:bodyPr wrap="square" anchor="t" lIns="0" rIns="0" tIns="0" bIns="0">
            <a:spAutoFit/>
          </a:bodyPr>
          <a:lstStyle/>
          <a:p>
            <a:pPr algn="l">
              <a:lnSpc>
                <a:spcPct val="106000"/>
              </a:lnSpc>
              <a:spcBef>
                <a:spcPts val="0"/>
              </a:spcBef>
              <a:spcAft>
                <a:spcPts val="600"/>
              </a:spcAft>
            </a:pPr>
            <a:r>
              <a:rPr sz="2200" b="1" i="0">
                <a:solidFill>
                  <a:srgbClr val="1A1A1A"/>
                </a:solidFill>
                <a:latin typeface="Calibri"/>
              </a:rPr>
              <a:t>Thank you — I welcome your questions.</a:t>
            </a:r>
          </a:p>
          <a:p>
            <a:pPr algn="l">
              <a:lnSpc>
                <a:spcPct val="106000"/>
              </a:lnSpc>
              <a:spcBef>
                <a:spcPts val="0"/>
              </a:spcBef>
              <a:spcAft>
                <a:spcPts val="600"/>
              </a:spcAft>
            </a:pPr>
            <a:r>
              <a:rPr sz="1450" b="0" i="0">
                <a:solidFill>
                  <a:srgbClr val="555555"/>
                </a:solidFill>
                <a:latin typeface="Calibri"/>
              </a:rPr>
              <a:t>Yibo Zhang    ·    yibo.zhang@aalto.fi</a:t>
            </a:r>
          </a:p>
          <a:p>
            <a:pPr algn="l">
              <a:lnSpc>
                <a:spcPct val="106000"/>
              </a:lnSpc>
              <a:spcBef>
                <a:spcPts val="0"/>
              </a:spcBef>
              <a:spcAft>
                <a:spcPts val="600"/>
              </a:spcAft>
            </a:pPr>
            <a:r>
              <a:rPr sz="1250" b="0" i="0">
                <a:solidFill>
                  <a:srgbClr val="8A8A8A"/>
                </a:solidFill>
                <a:latin typeface="Calibri"/>
              </a:rPr>
              <a:t>Supervisor: Prof. Joni Pajarinen    ·    Advisor: Dr. Wenyan Yang    ·    Aalto Robot Learning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